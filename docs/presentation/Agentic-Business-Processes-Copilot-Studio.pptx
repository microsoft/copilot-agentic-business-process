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232" r:id="rId4"/>
  </p:sldMasterIdLst>
  <p:notesMasterIdLst>
    <p:notesMasterId r:id="rId28"/>
  </p:notesMasterIdLst>
  <p:handoutMasterIdLst>
    <p:handoutMasterId r:id="rId29"/>
  </p:handoutMasterIdLst>
  <p:sldIdLst>
    <p:sldId id="2147483605" r:id="rId5"/>
    <p:sldId id="2147483606" r:id="rId6"/>
    <p:sldId id="2147483607" r:id="rId7"/>
    <p:sldId id="2147483608" r:id="rId8"/>
    <p:sldId id="2147483609" r:id="rId9"/>
    <p:sldId id="2147483610" r:id="rId10"/>
    <p:sldId id="2147483611" r:id="rId11"/>
    <p:sldId id="2147483612" r:id="rId12"/>
    <p:sldId id="2147483613" r:id="rId13"/>
    <p:sldId id="2147483614" r:id="rId14"/>
    <p:sldId id="2147483615" r:id="rId15"/>
    <p:sldId id="2147483616" r:id="rId16"/>
    <p:sldId id="2147483617" r:id="rId17"/>
    <p:sldId id="2147483618" r:id="rId18"/>
    <p:sldId id="2147483619" r:id="rId19"/>
    <p:sldId id="2147483620" r:id="rId20"/>
    <p:sldId id="2147483621" r:id="rId21"/>
    <p:sldId id="2147483622" r:id="rId22"/>
    <p:sldId id="2147483623" r:id="rId23"/>
    <p:sldId id="2147483624" r:id="rId24"/>
    <p:sldId id="2147483625" r:id="rId25"/>
    <p:sldId id="2147483626" r:id="rId26"/>
    <p:sldId id="2147483627" r:id="rId27"/>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All" id="{C8DB3B79-0795-3243-93E2-12E704C7BD51}">
          <p14:sldIdLst>
            <p14:sldId id="2147483605"/>
            <p14:sldId id="2147483606"/>
            <p14:sldId id="2147483607"/>
            <p14:sldId id="2147483608"/>
            <p14:sldId id="2147483609"/>
            <p14:sldId id="2147483610"/>
            <p14:sldId id="2147483611"/>
            <p14:sldId id="2147483612"/>
            <p14:sldId id="2147483613"/>
            <p14:sldId id="2147483614"/>
            <p14:sldId id="2147483615"/>
            <p14:sldId id="2147483616"/>
            <p14:sldId id="2147483617"/>
            <p14:sldId id="2147483618"/>
            <p14:sldId id="2147483619"/>
            <p14:sldId id="2147483620"/>
            <p14:sldId id="2147483621"/>
            <p14:sldId id="2147483622"/>
            <p14:sldId id="2147483623"/>
            <p14:sldId id="2147483624"/>
            <p14:sldId id="2147483625"/>
            <p14:sldId id="2147483626"/>
            <p14:sldId id="2147483627"/>
          </p14:sldIdLst>
        </p14:section>
      </p14:sectionLst>
    </p:ext>
    <p:ext uri="{EFAFB233-063F-42B5-8137-9DF3F51BA10A}">
      <p15:sldGuideLst xmlns:p15="http://schemas.microsoft.com/office/powerpoint/2012/main">
        <p15:guide id="1" pos="2400" userDrawn="1">
          <p15:clr>
            <a:srgbClr val="A4A3A4"/>
          </p15:clr>
        </p15:guide>
        <p15:guide id="2" orient="horz" pos="216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6D27F1A-982F-5BEE-7849-327BA1B8490D}" name="Paul Wilcox" initials="" userId="S::paul@diamondsolutionsgroup.com::df6802e0-5b6f-4a31-97b7-76e4cee89eef" providerId="AD"/>
  <p188:author id="{FC63D224-76F0-B5F9-3406-D72585891AF8}" name="Jason Green" initials="" userId="S::jasongre@microsoft.com::15e2af57-dba6-44af-9c40-39daed291f02" providerId="AD"/>
  <p188:author id="{CC35DA2E-060D-260C-4C46-778B4B8E9452}" name="Madeline Brockert (BLOOM CONSULTING GROUP INC)" initials="MI" userId="S::v-mbrockert@microsoft.com::6fcf5af2-7ec4-4f57-bc72-86b06d76472e" providerId="AD"/>
  <p188:author id="{2CC3F851-7A06-903C-0B65-D15FC1678E8E}" name="Tasha Scott" initials="TS" userId="S::tashas@microsoft.com::4708bcb0-3601-4c53-bc5c-4184c711cb54" providerId="AD"/>
  <p188:author id="{2F139556-EE68-A6B5-C075-278C86240E05}" name="Lucia Mosner" initials="LM" userId="S::lumosner@microsoft.com::7174cf70-2263-4499-9d8c-e88390bba829" providerId="AD"/>
  <p188:author id="{C3731462-D169-FC15-17F5-11B419B7CF63}" name="Tiffany Treacy" initials="TT" userId="S::tiffanyt@microsoft.com::5bb3bed8-d2a1-4a7f-b820-2a589f14bf4a" providerId="AD"/>
  <p188:author id="{94378963-7EF5-6288-68DF-887961F41A54}" name="Anne Myers" initials="AM" userId="S::anmyers@microsoft.com::751a1dea-66ae-4f96-9d94-728b274a717f" providerId="AD"/>
  <p188:author id="{B8716E67-53C7-E615-B2C4-4FD3CF9B5EEA}" name="Ulyana Tverskoy (BRIDGE PARTNERS LLC)" initials="UL" userId="S::v-tverskoyu@microsoft.com::3aafe1c0-dee3-46b8-b34a-5278b62efe8e" providerId="AD"/>
  <p188:author id="{3A6A0972-96C8-3289-ABAB-6FFBBC797A5E}" name="Emily Pinkerton" initials="EP" userId="S::empinkerton@microsoft.com::bca1cce1-97da-4abd-9f5f-b5854be6d4a6" providerId="AD"/>
  <p188:author id="{A8442277-617B-DDAF-58D9-297CA7772896}" name="Mario De Ridder" initials="MR" userId="S::maderidd@microsoft.com::fa684f1a-11da-4121-bbe1-4d4b1d5b44eb" providerId="AD"/>
  <p188:author id="{4B096A78-A1C9-FED8-B402-5F2E089BCBAE}" name="Meera Rajagopalan" initials="" userId="S::merajago@microsoft.com::4fcc6f3b-2052-4973-8d6f-794c8840d99c" providerId="AD"/>
  <p188:author id="{AD18D77E-E7EB-6FCB-DA50-0F957C9B1A99}" name="David Bjurman-Birr" initials="DBB" userId="S::davidb@microsoft.com::464a8be3-32a2-436c-817c-53b97f38697d" providerId="AD"/>
  <p188:author id="{E82CFD89-1C5B-219B-CF97-7C9498ED1913}" name="Erik Mertz" initials="EM" userId="S::erikmertz@microsoft.com::8c35dfd1-686f-4e01-9aa4-d95a9234171d" providerId="AD"/>
  <p188:author id="{9EDA308B-1372-8D08-625B-67D8485D83DC}" name="Cindy Batzli" initials="CB" userId="S::cbatzli@microsoft.com::f08a5693-3eeb-40c7-a204-f505cfa6cc0f" providerId="AD"/>
  <p188:author id="{CFF598B1-0F8E-10CC-2EF0-3140D333B5EC}" name="Ryan Argall" initials="RA" userId="S::ryanargall@microsoft.com::5cac08a5-cb60-4437-bf40-4419d5615b19" providerId="AD"/>
  <p188:author id="{589F22B2-282E-A389-3CEB-2A1703CCFE25}" name="Michelle Pribic (Avenue In Consulting)" initials="MP" userId="S::v-micpribic@microsoft.com::e8106b2d-aeff-428e-92f8-faceee082e5c" providerId="AD"/>
  <p188:author id="{76AFD3B4-7E4F-C0F5-8603-E4A2CCFC2B1F}" name="Ginny Hoban" initials="GH" userId="S::gihoban@microsoft.com::ced7ca97-fcde-4164-9163-398b5fe30355" providerId="AD"/>
  <p188:author id="{5BCD18C2-27EE-A7EA-397F-C93CB452113F}" name="Estefanie Alvarez" initials="EA" userId="S::esalvarez@microsoft.com::5d5177f8-70be-4d20-bdd4-7740b765e8a9" providerId="AD"/>
  <p188:author id="{AFE84ED1-1505-78C6-F78C-FD61749EA9C0}" name="Erica Moeser" initials="EM" userId="S::Erica@diamondsolutionsgroup.com::e65f0d9e-562b-4c91-9c32-3ab37c556d33" providerId="AD"/>
  <p188:author id="{B77A95DF-C1DE-3AD6-81DD-8B8561C902A9}" name="Mariana Prudencio" initials="MP" userId="S::paprud@microsoft.com::715a8a23-4085-434c-b09a-5126f5b59931" providerId="AD"/>
  <p188:author id="{254B16E8-B197-0DFE-E46F-5ECE68C887F9}" name="Michael Aschner" initials="MA" userId="S::Michael@diamondsolutionsgroup.com::1a5b7e12-f528-446b-b4e7-1f014334e45a" providerId="AD"/>
  <p188:author id="{E3AC2BE9-7A14-68D2-D3D3-07EAEA634A0B}" name="Courtney Lanza" initials="CL" userId="S::clanza@microsoft.com::11d04006-6d1b-4390-8633-40d27b7a6e34" providerId="AD"/>
  <p188:author id="{B1777DE9-8CBE-FA10-BE50-E67554A570F5}" name="Angie Cooper" initials="AC" userId="S::Angie@diamondsolutionsgroup.com::6ced710a-b699-4906-8bbd-50c181d49572" providerId="AD"/>
  <p188:author id="{321A2AFF-630C-CF43-6CBB-F5C442B511E5}" name="Matt Townsend" initials="MT" userId="S::matow@microsoft.com::d09440c2-c99b-4b12-a23c-df75ae12b9e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466CA"/>
    <a:srgbClr val="6153B8"/>
    <a:srgbClr val="FAFAFA"/>
    <a:srgbClr val="006EC0"/>
    <a:srgbClr val="5647E5"/>
    <a:srgbClr val="664A95"/>
    <a:srgbClr val="5AA0EE"/>
    <a:srgbClr val="DDDAFA"/>
    <a:srgbClr val="B9E0FF"/>
    <a:srgbClr val="2745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7" autoAdjust="0"/>
    <p:restoredTop sz="96192" autoAdjust="0"/>
  </p:normalViewPr>
  <p:slideViewPr>
    <p:cSldViewPr snapToGrid="0">
      <p:cViewPr varScale="1">
        <p:scale>
          <a:sx n="109" d="100"/>
          <a:sy n="109" d="100"/>
        </p:scale>
        <p:origin x="588" y="126"/>
      </p:cViewPr>
      <p:guideLst>
        <p:guide pos="2400"/>
        <p:guide orient="horz" pos="2160"/>
      </p:guideLst>
    </p:cSldViewPr>
  </p:slideViewPr>
  <p:outlineViewPr>
    <p:cViewPr>
      <p:scale>
        <a:sx n="33" d="100"/>
        <a:sy n="33" d="100"/>
      </p:scale>
      <p:origin x="0" y="-2316"/>
    </p:cViewPr>
  </p:outlin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8/10/relationships/authors" Target="author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mn-lt"/>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mn-lt"/>
              </a:rPr>
              <a:t>10/5/2026 11:02 AM</a:t>
            </a:fld>
            <a:endParaRPr lang="en-US">
              <a:latin typeface="+mn-lt"/>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mn-lt"/>
              </a:rPr>
              <a:t>‹N›</a:t>
            </a:fld>
            <a:endParaRPr lang="en-US">
              <a:latin typeface="+mn-lt"/>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mn-lt"/>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mn-lt"/>
              </a:defRPr>
            </a:lvl1pPr>
          </a:lstStyle>
          <a:p>
            <a:fld id="{386CE63F-9E7F-4C04-9D0D-FCA25A8E9E86}" type="datetime8">
              <a:rPr lang="en-US" smtClean="0"/>
              <a:t>10/5/2026 11:01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mn-lt"/>
              </a:defRPr>
            </a:lvl1pPr>
          </a:lstStyle>
          <a:p>
            <a:fld id="{B4008EB6-D09E-4580-8CD6-DDB14511944F}" type="slidenum">
              <a:rPr lang="en-US" smtClean="0"/>
              <a:pPr/>
              <a:t>‹N›</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mn-lt"/>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mn-lt"/>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mn-lt"/>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mn-lt"/>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mn-lt"/>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AAA67-7973-2897-64DD-9AF3C0D53C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F7DA28-76F6-ABC4-90CC-A1288CA9581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C6F3C6-5FB3-3069-5F2F-59577C06C387}"/>
              </a:ext>
            </a:extLst>
          </p:cNvPr>
          <p:cNvSpPr>
            <a:spLocks noGrp="1"/>
          </p:cNvSpPr>
          <p:nvPr>
            <p:ph type="body" idx="1"/>
          </p:nvPr>
        </p:nvSpPr>
        <p:spPr/>
        <p:txBody>
          <a:bodyPr/>
          <a:lstStyle/>
          <a:p>
            <a:r>
              <a:rPr lang="en-US"/>
              <a:t>Open with the gap between building an agent and operating a business process. This repository supplies a reusable process foundation plus an email-to-SAP-payload reference implementation. It is a reference accelerator, not a separate commercially supported product. The two READMEs are the main narrative sources.
Sources:
Repository overview - reusable Core, architecture, deployment and licensing
../../README.md
Order Processing - process, agents, human gates and sample limitations
../../business-processes/order-processing/README.md</a:t>
            </a:r>
          </a:p>
        </p:txBody>
      </p:sp>
      <p:sp>
        <p:nvSpPr>
          <p:cNvPr id="4" name="Header Placeholder 3">
            <a:extLst>
              <a:ext uri="{FF2B5EF4-FFF2-40B4-BE49-F238E27FC236}">
                <a16:creationId xmlns:a16="http://schemas.microsoft.com/office/drawing/2014/main" id="{D1BAC2A0-04AE-32C7-30ED-E193B632EEC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B95616E8-7878-6A16-5787-E21B78D9266C}"/>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mn-lt"/>
                <a:ea typeface="+mn-ea"/>
                <a:cs typeface="+mn-cs"/>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A486A48-603F-2A97-92D7-E15E29E9561D}"/>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mn-lt"/>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10/5/2026 11:01 AM</a:t>
            </a:fld>
            <a:endParaRPr kumimoji="0" lang="en-US" sz="1200" b="0" i="0" u="none" strike="noStrike" kern="1200" cap="none" spc="0" normalizeH="0" baseline="0" noProof="0">
              <a:ln>
                <a:noFill/>
              </a:ln>
              <a:solidFill>
                <a:prstClr val="black"/>
              </a:solidFill>
              <a:effectLst/>
              <a:uLnTx/>
              <a:uFillTx/>
              <a:latin typeface="+mn-lt"/>
              <a:ea typeface="+mn-ea"/>
              <a:cs typeface="+mn-cs"/>
            </a:endParaRPr>
          </a:p>
        </p:txBody>
      </p:sp>
      <p:sp>
        <p:nvSpPr>
          <p:cNvPr id="7" name="Slide Number Placeholder 6">
            <a:extLst>
              <a:ext uri="{FF2B5EF4-FFF2-40B4-BE49-F238E27FC236}">
                <a16:creationId xmlns:a16="http://schemas.microsoft.com/office/drawing/2014/main" id="{B54BCDAC-B36E-71A1-5063-DA0749C7D17F}"/>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mn-lt"/>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2771472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Position this as agentic business process automation rather than a generic chatbot or pure document OCR. The four patterns apply across scenarios: interpret mixed evidence, apply business rules, preserve accountable decisions, and integrate systems of record. Examples include claim evidence and coverage, loan documents and eligibility, deal context and commercial terms, RFQ requirements, contract obligations and order details. These are opportunities, not delivered scenarios. The best fit is event-triggered, long-running work spanning systems, teams and human decisions, with persisted state maintaining traceability. Order Processing is the reference implementation; the README describes car insurance claims as work in progress. Systems-of-record integration is a solution requirement, not a claim that this sample performs ERP write-back: Order Processing generates a SAP-ready JSON payload, and production posting requires additional integration.
Sources:
Repository overview - reusable Core, architecture, deployment and licensing
../../README.md
Order Processing - process, agents, human gates and sample limitations
../../business-processes/order-processing/README.md</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10/5/2026 11:01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3261739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 Point to BUSINESS PROCESS CORE: an agent is not yet a business process.Copilot Studio makes it easy to build an agent. It does not, on its own, give you a business process: a long-running, resumable, auditable unit of work that spans multiple agents and flows, pauses for days waiting on a human decision, and can still answer "where is this case, who is sitting on it, and what did the agent actually decide?" three weeks later. The case may be an order, a claim, a loan application, a deal, an onboarding request - the mechanics are the same every time.Stay on the Core layer and point across its shared capabilities.Every maker who tries to build one ends up reinventing the same plumbing - a state table, a task queue, a review UI, a notification fan-out, and a way to resume the process after a human clicks Approve. This repository provides that plumbing as a reusable agentic business process building block that you can deploy as a solution in your environment. The Core is installed once; process stages advance through persisted state rather than a single flow waiting for days.2 / Move up to REFERENCE PROCESS and its connection to the Core.The repository also comes with a business-specific scenario, Order Processing, that serves as a reference implementation for using the Core building blocks in real-world processes. Each process adds its domain workflows, skills, review widgets and roles while reusing the shared process and task contracts. Claims, loans, deals and onboarding illustrate where the same mechanics could be applied; they are not all delivered implementations.3 / Point to the GitHub Copilot harness card.It is built on the most capable engine Copilot Studio offers, the GitHub Copilot harness - the reasoning-heavy runtime designed for this class of multi-step work. The harness runs inside Copilot Studio; it is not the GitHub Copilot service. Developer-side GitHub Copilot in VS Code can separately assist with deployment.4 / Point to the Agent skills = business logic card, then close on the bottom takeaway.The harness also unlocks what this solution treats as its unit of business logic: agent skills - portable Markdown packages of instructions, references and scripts that each hand an agent one body of business rules, loaded into context only when a task actually calls for them. Business logic becomes reviewable, versionable content a domain expert can correct. Loading focused rules helps avoid an ever-longer prompt as the rule base grows; accuracy still needs to be evaluated rather than assumed. Close with the visual summary: deploy the reusable building block, tailor the process, and version the business rules.
Sources:
Repository overview - reusable Core, architecture, deployment and licensing
../../README.md
Order Processing - process, agents, human gates and sample limitations
../../business-processes/order-processing/README.md
Microsoft Learn - Harnesses in Copilot Studio
https://learn.microsoft.com/microsoft-copilot-studio/harnesses-overview
Microsoft Learn - Agent skills: portable instructions, scripts and resources
https://learn.microsoft.com/microsoft-copilot-studio/agents-experience/skills-overview</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10/5/2026 11:01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3261739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Transition from the reusable foundation to the customer story. Introduce Order Processing as the reference implementation, then walk through the benefits, process stages and human-review experience.
Sources:
Order Processing - process, agents, human gates and sample limitations
../../business-processes/order-processing/README.md</a:t>
            </a:r>
          </a:p>
        </p:txBody>
      </p:sp>
      <p:sp>
        <p:nvSpPr>
          <p:cNvPr id="4" name="Slide Number Placeholder 3"/>
          <p:cNvSpPr>
            <a:spLocks noGrp="1"/>
          </p:cNvSpPr>
          <p:nvPr>
            <p:ph type="sldNum" sz="quarter" idx="10"/>
          </p:nvPr>
        </p:nvSpPr>
        <p:spPr/>
        <p:txBody>
          <a:bodyPr/>
          <a:lstStyle/>
          <a:p>
            <a:fld id="{5F2D3714-B553-A044-BA72-366907BA36B5}" type="slidenum">
              <a:rPr lang="en-US" smtClean="0"/>
              <a:t>4</a:t>
            </a:fld>
            <a:endParaRPr lang="en-US"/>
          </a:p>
        </p:txBody>
      </p:sp>
    </p:spTree>
    <p:extLst>
      <p:ext uri="{BB962C8B-B14F-4D97-AF65-F5344CB8AC3E}">
        <p14:creationId xmlns:p14="http://schemas.microsoft.com/office/powerpoint/2010/main" val="3626735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Sell the opportunity, not an invented percentage. The reference implementation demonstrates capabilities; the repository does not provide measured ROI. Both human gates are part of the normal path, so do not describe this as unattended or exception-only processing. Suggested pilot measures need a customer-specific baseline and observed results.
Sources:
Order Processing - process, agents, human gates and sample limitations
../../business-processes/order-processing/README.md
Repository overview - reusable Core, architecture, deployment and licensing
../../README.md</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10/5/2026 11:01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3261739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the approval path from left to right. Extraction review precedes business validation; evaluation approval precedes SAP payload generation. Both rejection paths close the process. Each stage persists state in Dataverse. The final artifact is a JSON file; ERP posting and its operational safeguards are additional integration work.
Sources:
Order Processing - process, agents, human gates and sample limitations
../../business-processes/order-processing/README.md</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10/5/2026 11:01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32617393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The supplied extracted-data-review.png shows the Workflow Console's Extracted Order Data Review task, with the source purchase order preview above editable order summary, supplier and buyer fields. Use these as visual cues for comparing evidence and correcting extracted values. Line items and approval/rejection controls are outside this capture; describe those capabilities without implying they are visible here. Extraction confidence is agent-provided, not a calibrated accuracy guarantee. Confirm that the displayed business information is approved for the intended audience before external distribution.
Sources:
Order Processing - process, agents, human gates and sample limitations
../../business-processes/order-processing/README.md</a:t>
            </a:r>
            <a:endParaRPr lang="en-US"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0CDCFF-B750-40A2-9E58-647967D74EFA}" type="slidenum">
              <a:rPr kumimoji="0" lang="en-US" sz="1200" b="0" i="0" u="none" strike="noStrike" kern="1200" cap="none" spc="0" normalizeH="0" baseline="0" noProof="0" smtClean="0">
                <a:ln>
                  <a:noFill/>
                </a:ln>
                <a:solidFill>
                  <a:prstClr val="black"/>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2099874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The supplied validating-order.png shows results from the three ordered skills, pricing and line adjustments, reviewer notes, and decision controls. Point from each skill result to the corresponding business-rule explanation. In this capture all three skills pass and no discount is applied. The validation agent uses catalog.json, inventory.json and promotions.json: fictional demo knowledge, not live ERP data. Availability assumes one warehouse and immediate fulfillment, with no backorders or partial fulfillment. Promotion findings remain visible but do not change the verdict; the human still approves or rejects the evaluation.
Sources:
Order Processing - process, agents, human gates and sample limitations
../../business-processes/order-processing/README.md</a:t>
            </a:r>
            <a:endParaRPr lang="en-US"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0CDCFF-B750-40A2-9E58-647967D74EFA}" type="slidenum">
              <a:rPr kumimoji="0" lang="en-US" sz="1200" b="0" i="0" u="none" strike="noStrike" kern="1200" cap="none" spc="0" normalizeH="0" baseline="0" noProof="0" smtClean="0">
                <a:ln>
                  <a:noFill/>
                </a:ln>
                <a:solidFill>
                  <a:prstClr val="black"/>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2099874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The supplied task-queue.png shows My tasks filters, an extraction-review task assigned to the current user, and an evaluation-review task waiting for the Order Approver role. Point to the Status, Assigned, Required role and Actions columns. Teams notifications are a related capability, not shown in this screenshot. Role-based routing does not grant row access: Dataverse privileges and app sharing are separate requirements. Claims use row-version checks and completion writes the outcome, outputs and step closure transactionally.
Sources:
Repository overview - reusable Core, architecture, deployment and licensing
../../README.md
Order Processing - process, agents, human gates and sample limitations
../../business-processes/order-processing/README.md</a:t>
            </a:r>
            <a:endParaRPr lang="en-US"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0CDCFF-B750-40A2-9E58-647967D74EFA}" type="slidenum">
              <a:rPr kumimoji="0" lang="en-US" sz="1200" b="0" i="0" u="none" strike="noStrike" kern="1200" cap="none" spc="0" normalizeH="0" baseline="0" noProof="0" smtClean="0">
                <a:ln>
                  <a:noFill/>
                </a:ln>
                <a:solidFill>
                  <a:prstClr val="black"/>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20998746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The supplied business-process-monitoring-agent.png shows the agent in Microsoft 365 Copilot, rather than Teams. The user asks what is holding the Namshi order; the response identifies the blocking Extracted Order Data Review task and shows process status, assignee and required role. Point from the question to the blocking-task explanation and task table. Treat the timing and statuses as details of this captured example, not general performance claims. The agent is for process and task enquiry; do not imply autonomous remediation or automatic SLA escalation. Caller-scoped Dataverse security remains authoritative. This capture contains an email address and business identifiers; confirm audience authorization or use a redacted copy before external distribution.
Sources:
Repository overview - reusable Core, architecture, deployment and licensing
../../README.md</a:t>
            </a:r>
            <a:endParaRPr lang="en-US"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0CDCFF-B750-40A2-9E58-647967D74EFA}" type="slidenum">
              <a:rPr kumimoji="0" lang="en-US" sz="1200" b="0" i="0" u="none" strike="noStrike" kern="1200" cap="none" spc="0" normalizeH="0" baseline="0" noProof="0" smtClean="0">
                <a:ln>
                  <a:noFill/>
                </a:ln>
                <a:solidFill>
                  <a:prstClr val="black"/>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2099874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Transition from the customer experience to the architecture. Explain what the Core provides once, what belongs to the business process, and which reference patterns can be reused for the next scenario.
Sources:
Repository overview - reusable Core, architecture, deployment and licensing
../../README.md
Order Processing - process, agents, human gates and sample limitations
../../business-processes/order-processing/README.md</a:t>
            </a:r>
          </a:p>
        </p:txBody>
      </p:sp>
      <p:sp>
        <p:nvSpPr>
          <p:cNvPr id="4" name="Slide Number Placeholder 3"/>
          <p:cNvSpPr>
            <a:spLocks noGrp="1"/>
          </p:cNvSpPr>
          <p:nvPr>
            <p:ph type="sldNum" sz="quarter" idx="10"/>
          </p:nvPr>
        </p:nvSpPr>
        <p:spPr/>
        <p:txBody>
          <a:bodyPr/>
          <a:lstStyle/>
          <a:p>
            <a:fld id="{5F2D3714-B553-A044-BA72-366907BA36B5}" type="slidenum">
              <a:rPr lang="en-US" smtClean="0"/>
              <a:t>11</a:t>
            </a:fld>
            <a:endParaRPr lang="en-US"/>
          </a:p>
        </p:txBody>
      </p:sp>
    </p:spTree>
    <p:extLst>
      <p:ext uri="{BB962C8B-B14F-4D97-AF65-F5344CB8AC3E}">
        <p14:creationId xmlns:p14="http://schemas.microsoft.com/office/powerpoint/2010/main" val="36267355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Use the repository architecture diagram to trace the order from a supplier email through intake, extraction, validation and SAP payload generation. Point out the two human review gates in the Workflow Console, Teams notifications and the monitoring agent. Dataverse holds durable process state; step-row events start the next workflow. The Core provides the shared state, API and human-task capabilities while Order Processing supplies the domain workflows and reasoning. The SAP payload is generated, not posted to an ERP. The image is shown in full without cropping; open the detailed diagram source below when a closer view of its labels is needed.
Sources:
Repository overview - reusable Core, architecture, deployment and licensing
../../README.md
Order Processing - process, agents, human gates and sample limitations
../../business-processes/order-processing/README.md
Repository detailed solution architecture
../agentic-business-process-architecture.png</a:t>
            </a:r>
            <a:endParaRPr lang="en-US"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0CDCFF-B750-40A2-9E58-647967D74EFA}" type="slidenum">
              <a:rPr kumimoji="0" lang="en-US" sz="1200" b="0" i="0" u="none" strike="noStrike" kern="1200" cap="none" spc="0" normalizeH="0" baseline="0" noProof="0" smtClean="0">
                <a:ln>
                  <a:noFill/>
                </a:ln>
                <a:solidFill>
                  <a:prstClr val="black"/>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20998746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simplified logical view of the README architecture, not a deployment/network boundary diagram. Core provides the API, state model, console, monitoring, security and configuration. Workflows write state and raise tasks in Dataverse; step-row events trigger the next stage. Console and monitoring consume the shared APIs. Teams carries notifications and conversations. Refer to the detailed repository diagram for the full interaction map.
Sources:
Repository overview - reusable Core, architecture, deployment and licensing
../../README.md
Order Processing - process, agents, human gates and sample limitations
../../business-processes/order-processing/README.md
Repository detailed solution architecture
../agentic-business-process-architecture.png</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10/5/2026 11:01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32617393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Group the reusable features around what a delivery team avoids rebuilding. Do not claim this provides regulatory certification, immutable records or all production controls out of the box. The repository's core includes Dataverse tables, a C# plug-in API, a React code app, a monitoring agent and security/configuration. Role-based routing does not replace row privileges.
Sources:
Repository overview - reusable Core, architecture, deployment and licensing
../../README.md</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10/5/2026 11:01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32617393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patterns demonstrated by the reference, not a claim that the sample solves every reliability problem. Persisted state supports long waits and explicit recovery; it is not an exactly-once delivery or automatic retry guarantee. Skills are reviewable, versionable Markdown packages. Schema instructions guide generation but do not make model output infallible. Test business rules, output validation and recovery behavior before production.
Sources:
Repository overview - reusable Core, architecture, deployment and licensing
../../README.md
Order Processing - process, agents, human gates and sample limitations
../../business-processes/order-processing/README.md
Microsoft Learn - Harnesses in Copilot Studio
https://learn.microsoft.com/microsoft-copilot-studio/harnesses-overview</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10/5/2026 11:01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15</a:t>
            </a:fld>
            <a:endParaRPr lang="en-US"/>
          </a:p>
        </p:txBody>
      </p:sp>
    </p:spTree>
    <p:extLst>
      <p:ext uri="{BB962C8B-B14F-4D97-AF65-F5344CB8AC3E}">
        <p14:creationId xmlns:p14="http://schemas.microsoft.com/office/powerpoint/2010/main" val="32617393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reference contributes four workflows, two standalone agents (plus an extraction agent node), five agent skills, two review widgets, two roles and a mailbox environment variable. A new process follows this approach; it is not a one-click conversion of any process. Claims, loans and onboarding are possibilities and need their own domain controls and evaluation.
Sources:
Repository overview - reusable Core, architecture, deployment and licensing
../../README.md
Order Processing - process, agents, human gates and sample limitations
../../business-processes/order-processing/README.md</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10/5/2026 11:01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32617393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Switch to the live demonstration of Agentic Order Intake Processing. Return to Getting Started afterward to cover deployment and prerequisites.
Sources:
Order Processing - process, agents, human gates and sample limitations
../../business-processes/order-processing/README.md</a:t>
            </a:r>
          </a:p>
        </p:txBody>
      </p:sp>
      <p:sp>
        <p:nvSpPr>
          <p:cNvPr id="4" name="Slide Number Placeholder 3"/>
          <p:cNvSpPr>
            <a:spLocks noGrp="1"/>
          </p:cNvSpPr>
          <p:nvPr>
            <p:ph type="sldNum" sz="quarter" idx="10"/>
          </p:nvPr>
        </p:nvSpPr>
        <p:spPr/>
        <p:txBody>
          <a:bodyPr/>
          <a:lstStyle/>
          <a:p>
            <a:fld id="{5F2D3714-B553-A044-BA72-366907BA36B5}" type="slidenum">
              <a:rPr lang="en-US" smtClean="0"/>
              <a:t>17</a:t>
            </a:fld>
            <a:endParaRPr lang="en-US"/>
          </a:p>
        </p:txBody>
      </p:sp>
    </p:spTree>
    <p:extLst>
      <p:ext uri="{BB962C8B-B14F-4D97-AF65-F5344CB8AC3E}">
        <p14:creationId xmlns:p14="http://schemas.microsoft.com/office/powerpoint/2010/main" val="36267355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demo team: Aadi is the Global Order Reviewer, Alan is the Global Order Approver, Carlos is Backoffice Customer Support, and Davide is the Contoso Retail Store Manager. The reviewer verifies extracted order data; the approver reviews the business-rule evaluation and makes the decision. Global describes their demo responsibilities; the solution-owned Dataverse security roles remain Order Reviewer and Order Approver. Backoffice Customer Support and Contoso Retail Store Manager are demo persona labels, not additional solution-owned Dataverse security roles.
Sources:
Order Processing - process, agents, human gates and sample limitations
../../business-processes/order-processing/README.md</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10/5/2026 11:01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18</a:t>
            </a:fld>
            <a:endParaRPr lang="en-US"/>
          </a:p>
        </p:txBody>
      </p:sp>
    </p:spTree>
    <p:extLst>
      <p:ext uri="{BB962C8B-B14F-4D97-AF65-F5344CB8AC3E}">
        <p14:creationId xmlns:p14="http://schemas.microsoft.com/office/powerpoint/2010/main" val="32617393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Transition from solution design to adoption. Cover deployment skills, readiness checks, licensing and the changes needed to turn the reference into a customer-specific pilot. The official repository link uses a dummy URL; replace it with the official URL before sharing.
Sources:
BusinessProcessCore deployment guide
../../core/solution/DEPLOYMENT.md
OrderProcessing deployment guide
../../business-processes/order-processing/solution/DEPLOYMENT.md</a:t>
            </a:r>
          </a:p>
        </p:txBody>
      </p:sp>
      <p:sp>
        <p:nvSpPr>
          <p:cNvPr id="4" name="Slide Number Placeholder 3"/>
          <p:cNvSpPr>
            <a:spLocks noGrp="1"/>
          </p:cNvSpPr>
          <p:nvPr>
            <p:ph type="sldNum" sz="quarter" idx="10"/>
          </p:nvPr>
        </p:nvSpPr>
        <p:spPr/>
        <p:txBody>
          <a:bodyPr/>
          <a:lstStyle/>
          <a:p>
            <a:fld id="{5F2D3714-B553-A044-BA72-366907BA36B5}" type="slidenum">
              <a:rPr lang="en-US" smtClean="0"/>
              <a:t>19</a:t>
            </a:fld>
            <a:endParaRPr lang="en-US"/>
          </a:p>
        </p:txBody>
      </p:sp>
    </p:spTree>
    <p:extLst>
      <p:ext uri="{BB962C8B-B14F-4D97-AF65-F5344CB8AC3E}">
        <p14:creationId xmlns:p14="http://schemas.microsoft.com/office/powerpoint/2010/main" val="36267355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95D5B-38C3-69A9-BAB4-97CE86365A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6E1D73-8472-0EEB-C655-ABFF8BAA0F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CC770-0841-ABDC-D19D-DD0BD3DB6CBC}"/>
              </a:ext>
            </a:extLst>
          </p:cNvPr>
          <p:cNvSpPr>
            <a:spLocks noGrp="1"/>
          </p:cNvSpPr>
          <p:nvPr>
            <p:ph type="body" idx="1"/>
          </p:nvPr>
        </p:nvSpPr>
        <p:spPr/>
        <p:txBody>
          <a:bodyPr/>
          <a:lstStyle/>
          <a:p>
            <a:pPr marL="0" indent="0" algn="l">
              <a:spcAft>
                <a:spcPts val="810"/>
              </a:spcAft>
              <a:buNone/>
            </a:pPr>
            <a:r>
              <a:rPr lang="en-US" sz="1200"/>
              <a:t>The skills install or verify tooling and perform readiness checks before making changes. Core requires Dataverse administrator access and Entra app-registration rights; provisioning an environment adds Power Platform administrator access. Order Processing adds user/license and Exchange administration requirements, a dedicated automation user and a shared mailbox with delegated access. The manual guides are available for the same operations. Developer-side GitHub Copilot access is distinct from runtime Copilot Studio licensing.
Sources:
Repository overview - reusable Core, architecture, deployment and licensing
../../README.md
Order Processing - process, agents, human gates and sample limitations
../../business-processes/order-processing/README.md
BusinessProcessCore deployment guide
../../core/solution/DEPLOYMENT.md
OrderProcessing deployment guide
../../business-processes/order-processing/solution/DEPLOYMENT.md</a:t>
            </a:r>
            <a:endParaRPr lang="en-US" sz="1200" dirty="0"/>
          </a:p>
        </p:txBody>
      </p:sp>
      <p:sp>
        <p:nvSpPr>
          <p:cNvPr id="4" name="Slide Number Placeholder 3">
            <a:extLst>
              <a:ext uri="{FF2B5EF4-FFF2-40B4-BE49-F238E27FC236}">
                <a16:creationId xmlns:a16="http://schemas.microsoft.com/office/drawing/2014/main" id="{EF00F63C-52C3-D456-5DAD-5DA33D414C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49CF7B-BD0C-46FB-8116-689BEB057B88}" type="slidenum">
              <a:rPr kumimoji="0" lang="en-US" sz="1200" b="0" i="0" u="none" strike="noStrike" kern="1200" cap="none" spc="0" normalizeH="0" baseline="0" noProof="0" smtClean="0">
                <a:ln>
                  <a:noFill/>
                </a:ln>
                <a:solidFill>
                  <a:prstClr val="black"/>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40623092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95D5B-38C3-69A9-BAB4-97CE86365A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6E1D73-8472-0EEB-C655-ABFF8BAA0F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CC770-0841-ABDC-D19D-DD0BD3DB6CBC}"/>
              </a:ext>
            </a:extLst>
          </p:cNvPr>
          <p:cNvSpPr>
            <a:spLocks noGrp="1"/>
          </p:cNvSpPr>
          <p:nvPr>
            <p:ph type="body" idx="1"/>
          </p:nvPr>
        </p:nvSpPr>
        <p:spPr/>
        <p:txBody>
          <a:bodyPr/>
          <a:lstStyle/>
          <a:p>
            <a:pPr marL="0" indent="0" algn="l">
              <a:spcAft>
                <a:spcPts val="810"/>
              </a:spcAft>
              <a:buNone/>
            </a:pPr>
            <a:r>
              <a:rPr lang="en-US" sz="1200"/>
              <a:t>This is a planning checklist, not a binding licensing assessment. User-license entries are sourced from the two READMEs. Microsoft Learn confirms Power Apps Premium for code app end users and Copilot Credit consumption from authoring through runtime for the GitHub Copilot harness. Reconfirm current user entitlements, tenant capacity, environment features, admin rights and commercial terms before deployment. The MIT repository license does not grant Microsoft service licenses. Production work also includes testing, access controls, reliable integration and monitoring. Shared-mailbox licensing depends on configuration; the listed Exchange requirement is for the automation account.
Sources:
Repository overview - reusable Core, architecture, deployment and licensing
../../README.md
Order Processing - process, agents, human gates and sample limitations
../../business-processes/order-processing/README.md
Microsoft Learn - Usage-based billing for the GitHub Copilot harness
https://learn.microsoft.com/microsoft-copilot-studio/agents-experience/billing-credit-overview
Microsoft Learn - Power Apps code apps prerequisites and licensing
https://learn.microsoft.com/power-apps/developer/code-apps/overview
BusinessProcessCore deployment guide
../../core/solution/DEPLOYMENT.md
OrderProcessing deployment guide
../../business-processes/order-processing/solution/DEPLOYMENT.md</a:t>
            </a:r>
            <a:endParaRPr lang="en-US" sz="1200" dirty="0"/>
          </a:p>
        </p:txBody>
      </p:sp>
      <p:sp>
        <p:nvSpPr>
          <p:cNvPr id="4" name="Slide Number Placeholder 3">
            <a:extLst>
              <a:ext uri="{FF2B5EF4-FFF2-40B4-BE49-F238E27FC236}">
                <a16:creationId xmlns:a16="http://schemas.microsoft.com/office/drawing/2014/main" id="{EF00F63C-52C3-D456-5DAD-5DA33D414C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49CF7B-BD0C-46FB-8116-689BEB057B88}" type="slidenum">
              <a:rPr kumimoji="0" lang="en-US" sz="1200" b="0" i="0" u="none" strike="noStrike" kern="1200" cap="none" spc="0" normalizeH="0" baseline="0" noProof="0" smtClean="0">
                <a:ln>
                  <a:noFill/>
                </a:ln>
                <a:solidFill>
                  <a:prstClr val="black"/>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40623092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with a bounded business process and agree its inputs, stages, human decisions, exception paths, system-of-record integrations and measurable acceptance criteria. Follow Order Processing as the reference rather than rebuilding the shared runtime. The process contributes stage workflows, Copilot Studio agents and focused skills, review widgets, security roles and environment variables. Use the Core contracts for durable state, typed outputs and human tasks; stage continuation is driven by persisted Dataverse step events. Test domain rules, output schemas, access, concurrency, recovery and integrations before deploying the process as its own solution on the installed Core. The right-hand section presents the proposed Agent Forge approach requested for this presentation: Analyst Agent clarifies requirements; Product Owner Agent shapes the approved specification into implementable backlog items and acceptance criteria; GitHub Copilot assists with implementation and tests. These responsibilities describe an intended workflow, not a verified integration in this repository. Explicitly call it work in progress. Faster delivery is an aim, not a measured claim. Human approval, code review, evaluation and deployment controls remain necessary. Developer-side GitHub Copilot is distinct from the Copilot Studio GitHub Copilot harness used at runtime.
Sources:
Repository overview - reusable Core, architecture, deployment and licensing
../../README.md
Order Processing - process, agents, human gates and sample limitations
../../business-processes/order-processing/README.md</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10/5/2026 11:01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22</a:t>
            </a:fld>
            <a:endParaRPr lang="en-US"/>
          </a:p>
        </p:txBody>
      </p:sp>
    </p:spTree>
    <p:extLst>
      <p:ext uri="{BB962C8B-B14F-4D97-AF65-F5344CB8AC3E}">
        <p14:creationId xmlns:p14="http://schemas.microsoft.com/office/powerpoint/2010/main" val="32617393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Close with discussion and questions. Return to Getting Started for the official repository link; replace its placeholder URL before sharing externally.
Sources:
Repository overview - reusable Core, architecture, deployment and licensing
../../README.md
Order Processing - process, agents, human gates and sample limitations
../../business-processes/order-processing/README.md</a:t>
            </a:r>
          </a:p>
        </p:txBody>
      </p:sp>
      <p:sp>
        <p:nvSpPr>
          <p:cNvPr id="4" name="Slide Number Placeholder 3"/>
          <p:cNvSpPr>
            <a:spLocks noGrp="1"/>
          </p:cNvSpPr>
          <p:nvPr>
            <p:ph type="sldNum" sz="quarter" idx="10"/>
          </p:nvPr>
        </p:nvSpPr>
        <p:spPr/>
        <p:txBody>
          <a:bodyPr/>
          <a:lstStyle/>
          <a:p>
            <a:fld id="{5F2D3714-B553-A044-BA72-366907BA36B5}" type="slidenum">
              <a:rPr lang="en-US" smtClean="0"/>
              <a:t>23</a:t>
            </a:fld>
            <a:endParaRPr lang="en-US"/>
          </a:p>
        </p:txBody>
      </p:sp>
    </p:spTree>
    <p:extLst>
      <p:ext uri="{BB962C8B-B14F-4D97-AF65-F5344CB8AC3E}">
        <p14:creationId xmlns:p14="http://schemas.microsoft.com/office/powerpoint/2010/main" val="36267355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4.png"/><Relationship Id="rId4" Type="http://schemas.microsoft.com/office/2007/relationships/hdphoto" Target="../media/hdphoto2.wdp"/></Relationships>
</file>

<file path=ppt/slideLayouts/_rels/slideLayout49.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4.png"/><Relationship Id="rId4" Type="http://schemas.microsoft.com/office/2007/relationships/hdphoto" Target="../media/hdphoto2.wdp"/></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FC45A88D-2237-5F72-D640-DD96E9379B72}"/>
              </a:ext>
            </a:extLst>
          </p:cNvPr>
          <p:cNvPicPr>
            <a:picLocks noChangeAspect="1"/>
          </p:cNvPicPr>
          <p:nvPr userDrawn="1"/>
        </p:nvPicPr>
        <p:blipFill>
          <a:blip r:embed="rId3"/>
          <a:stretch>
            <a:fillRect/>
          </a:stretch>
        </p:blipFill>
        <p:spPr>
          <a:xfrm>
            <a:off x="-1" y="-1"/>
            <a:ext cx="12192001" cy="6858001"/>
          </a:xfrm>
          <a:prstGeom prst="rect">
            <a:avLst/>
          </a:prstGeom>
        </p:spPr>
      </p:pic>
      <p:cxnSp>
        <p:nvCxnSpPr>
          <p:cNvPr id="32" name="Straight Connector 31">
            <a:extLst>
              <a:ext uri="{FF2B5EF4-FFF2-40B4-BE49-F238E27FC236}">
                <a16:creationId xmlns:a16="http://schemas.microsoft.com/office/drawing/2014/main" id="{D72A3B0E-B737-A500-56E1-BB102F7841D3}"/>
              </a:ext>
            </a:extLst>
          </p:cNvPr>
          <p:cNvCxnSpPr>
            <a:cxnSpLocks/>
          </p:cNvCxnSpPr>
          <p:nvPr userDrawn="1"/>
        </p:nvCxnSpPr>
        <p:spPr>
          <a:xfrm>
            <a:off x="9681029" y="0"/>
            <a:ext cx="2510971" cy="2302670"/>
          </a:xfrm>
          <a:prstGeom prst="line">
            <a:avLst/>
          </a:prstGeom>
          <a:noFill/>
          <a:ln w="28575" cap="flat" cmpd="sng" algn="ctr">
            <a:solidFill>
              <a:srgbClr val="00FFFF"/>
            </a:solidFill>
            <a:prstDash val="solid"/>
            <a:headEnd type="none" w="lg" len="med"/>
            <a:tailEnd type="none" w="lg" len="med"/>
          </a:ln>
          <a:effectLst/>
        </p:spPr>
      </p:cxnSp>
      <p:sp>
        <p:nvSpPr>
          <p:cNvPr id="36" name="Rectangle 35">
            <a:extLst>
              <a:ext uri="{FF2B5EF4-FFF2-40B4-BE49-F238E27FC236}">
                <a16:creationId xmlns:a16="http://schemas.microsoft.com/office/drawing/2014/main" id="{405DEDD5-9E87-ABEE-F132-4A1D625842E2}"/>
              </a:ext>
            </a:extLst>
          </p:cNvPr>
          <p:cNvSpPr/>
          <p:nvPr userDrawn="1"/>
        </p:nvSpPr>
        <p:spPr bwMode="auto">
          <a:xfrm>
            <a:off x="10988901" y="285748"/>
            <a:ext cx="431574" cy="431574"/>
          </a:xfrm>
          <a:prstGeom prst="rect">
            <a:avLst/>
          </a:prstGeom>
          <a:solidFill>
            <a:srgbClr val="FFFFFF">
              <a:alpha val="55000"/>
            </a:srgbClr>
          </a:solidFill>
          <a:ln w="9525" cap="flat" cmpd="sng" algn="ctr">
            <a:noFill/>
            <a:prstDash val="solid"/>
            <a:headEnd type="none" w="med" len="med"/>
            <a:tailEnd type="none" w="med" len="med"/>
          </a:ln>
          <a:effectLst>
            <a:softEdge rad="381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sp>
        <p:nvSpPr>
          <p:cNvPr id="38" name="Rectangle 37">
            <a:extLst>
              <a:ext uri="{FF2B5EF4-FFF2-40B4-BE49-F238E27FC236}">
                <a16:creationId xmlns:a16="http://schemas.microsoft.com/office/drawing/2014/main" id="{4D9313B8-1A47-F36A-6A34-DB04A8B26E4B}"/>
              </a:ext>
            </a:extLst>
          </p:cNvPr>
          <p:cNvSpPr/>
          <p:nvPr userDrawn="1"/>
        </p:nvSpPr>
        <p:spPr bwMode="auto">
          <a:xfrm>
            <a:off x="6895011" y="4773999"/>
            <a:ext cx="832608" cy="832608"/>
          </a:xfrm>
          <a:prstGeom prst="rect">
            <a:avLst/>
          </a:prstGeom>
          <a:solidFill>
            <a:srgbClr val="FFFFFF">
              <a:alpha val="10000"/>
            </a:srgbClr>
          </a:solidFill>
          <a:ln w="9525" cap="flat" cmpd="sng" algn="ctr">
            <a:noFill/>
            <a:prstDash val="solid"/>
            <a:headEnd type="none" w="med" len="med"/>
            <a:tailEnd type="none" w="med" len="med"/>
          </a:ln>
          <a:effectLst>
            <a:softEdge rad="1270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sp>
        <p:nvSpPr>
          <p:cNvPr id="39" name="Rectangle 38">
            <a:extLst>
              <a:ext uri="{FF2B5EF4-FFF2-40B4-BE49-F238E27FC236}">
                <a16:creationId xmlns:a16="http://schemas.microsoft.com/office/drawing/2014/main" id="{A6024A2A-9ACB-3C38-4C71-5C4C5CB7D4DF}"/>
              </a:ext>
            </a:extLst>
          </p:cNvPr>
          <p:cNvSpPr/>
          <p:nvPr userDrawn="1"/>
        </p:nvSpPr>
        <p:spPr bwMode="auto">
          <a:xfrm>
            <a:off x="6850303" y="1522914"/>
            <a:ext cx="535941" cy="535941"/>
          </a:xfrm>
          <a:prstGeom prst="rect">
            <a:avLst/>
          </a:prstGeom>
          <a:solidFill>
            <a:srgbClr val="FFFFFF">
              <a:alpha val="10000"/>
            </a:srgbClr>
          </a:solidFill>
          <a:ln w="9525" cap="flat" cmpd="sng" algn="ctr">
            <a:noFill/>
            <a:prstDash val="solid"/>
            <a:headEnd type="none" w="med" len="med"/>
            <a:tailEnd type="none" w="med" len="med"/>
          </a:ln>
          <a:effectLst>
            <a:softEdge rad="889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sp>
        <p:nvSpPr>
          <p:cNvPr id="40" name="Rectangle 39">
            <a:extLst>
              <a:ext uri="{FF2B5EF4-FFF2-40B4-BE49-F238E27FC236}">
                <a16:creationId xmlns:a16="http://schemas.microsoft.com/office/drawing/2014/main" id="{1BDDD574-F604-ED7D-3E1C-28BABEC64D79}"/>
              </a:ext>
            </a:extLst>
          </p:cNvPr>
          <p:cNvSpPr/>
          <p:nvPr userDrawn="1"/>
        </p:nvSpPr>
        <p:spPr bwMode="auto">
          <a:xfrm>
            <a:off x="5634169" y="6255563"/>
            <a:ext cx="411031" cy="411031"/>
          </a:xfrm>
          <a:prstGeom prst="rect">
            <a:avLst/>
          </a:prstGeom>
          <a:solidFill>
            <a:srgbClr val="FFFFFF">
              <a:alpha val="10000"/>
            </a:srgbClr>
          </a:solidFill>
          <a:ln w="9525" cap="flat" cmpd="sng" algn="ctr">
            <a:noFill/>
            <a:prstDash val="solid"/>
            <a:headEnd type="none" w="med" len="med"/>
            <a:tailEnd type="none" w="med" len="med"/>
          </a:ln>
          <a:effectLst>
            <a:softEdge rad="889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sp>
        <p:nvSpPr>
          <p:cNvPr id="41" name="Rectangle 40">
            <a:extLst>
              <a:ext uri="{FF2B5EF4-FFF2-40B4-BE49-F238E27FC236}">
                <a16:creationId xmlns:a16="http://schemas.microsoft.com/office/drawing/2014/main" id="{D38E2529-9B7D-EEE2-9C42-16859B2D4811}"/>
              </a:ext>
            </a:extLst>
          </p:cNvPr>
          <p:cNvSpPr/>
          <p:nvPr userDrawn="1"/>
        </p:nvSpPr>
        <p:spPr bwMode="auto">
          <a:xfrm>
            <a:off x="7462444" y="6011947"/>
            <a:ext cx="290829" cy="290829"/>
          </a:xfrm>
          <a:prstGeom prst="rect">
            <a:avLst/>
          </a:prstGeom>
          <a:solidFill>
            <a:srgbClr val="FFFFFF">
              <a:alpha val="10000"/>
            </a:srgbClr>
          </a:solidFill>
          <a:ln w="9525" cap="flat" cmpd="sng" algn="ctr">
            <a:noFill/>
            <a:prstDash val="solid"/>
            <a:headEnd type="none" w="med" len="med"/>
            <a:tailEnd type="none" w="med" len="med"/>
          </a:ln>
          <a:effectLst>
            <a:softEdge rad="762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sp>
        <p:nvSpPr>
          <p:cNvPr id="42" name="Rectangle 41">
            <a:extLst>
              <a:ext uri="{FF2B5EF4-FFF2-40B4-BE49-F238E27FC236}">
                <a16:creationId xmlns:a16="http://schemas.microsoft.com/office/drawing/2014/main" id="{2F607437-E0F9-BE79-6117-F93A11694C89}"/>
              </a:ext>
            </a:extLst>
          </p:cNvPr>
          <p:cNvSpPr/>
          <p:nvPr userDrawn="1"/>
        </p:nvSpPr>
        <p:spPr bwMode="auto">
          <a:xfrm>
            <a:off x="11478986" y="6170061"/>
            <a:ext cx="257627" cy="257627"/>
          </a:xfrm>
          <a:prstGeom prst="rect">
            <a:avLst/>
          </a:prstGeom>
          <a:solidFill>
            <a:srgbClr val="FFFFFF">
              <a:alpha val="10000"/>
            </a:srgbClr>
          </a:solidFill>
          <a:ln w="9525" cap="flat" cmpd="sng" algn="ctr">
            <a:noFill/>
            <a:prstDash val="solid"/>
            <a:headEnd type="none" w="med" len="med"/>
            <a:tailEnd type="none" w="med" len="med"/>
          </a:ln>
          <a:effectLst>
            <a:softEdge rad="762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pic>
        <p:nvPicPr>
          <p:cNvPr id="44" name="MS logo white - EMF" descr="Microsoft logo white text version">
            <a:extLst>
              <a:ext uri="{FF2B5EF4-FFF2-40B4-BE49-F238E27FC236}">
                <a16:creationId xmlns:a16="http://schemas.microsoft.com/office/drawing/2014/main" id="{B964C9F0-F1CC-B31A-F3D4-D18C23520436}"/>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56" name="Picture 55">
            <a:extLst>
              <a:ext uri="{FF2B5EF4-FFF2-40B4-BE49-F238E27FC236}">
                <a16:creationId xmlns:a16="http://schemas.microsoft.com/office/drawing/2014/main" id="{22403768-F6E1-A5DA-027A-4FCB916EECDA}"/>
              </a:ext>
            </a:extLst>
          </p:cNvPr>
          <p:cNvPicPr>
            <a:picLocks noChangeAspect="1"/>
          </p:cNvPicPr>
          <p:nvPr/>
        </p:nvPicPr>
        <p:blipFill>
          <a:blip r:embed="rId5">
            <a:alphaModFix amt="71000"/>
            <a:extLst>
              <a:ext uri="{BEBA8EAE-BF5A-486C-A8C5-ECC9F3942E4B}">
                <a14:imgProps xmlns:a14="http://schemas.microsoft.com/office/drawing/2010/main">
                  <a14:imgLayer r:embed="rId6">
                    <a14:imgEffect>
                      <a14:artisticBlur radius="22"/>
                    </a14:imgEffect>
                  </a14:imgLayer>
                </a14:imgProps>
              </a:ext>
            </a:extLst>
          </a:blip>
          <a:srcRect l="9259" r="7231" b="253"/>
          <a:stretch>
            <a:fillRect/>
          </a:stretch>
        </p:blipFill>
        <p:spPr>
          <a:xfrm rot="5400000">
            <a:off x="7745236" y="1896026"/>
            <a:ext cx="2277106" cy="1133856"/>
          </a:xfrm>
          <a:prstGeom prst="triangle">
            <a:avLst>
              <a:gd name="adj" fmla="val 50152"/>
            </a:avLst>
          </a:prstGeom>
          <a:effectLst>
            <a:softEdge rad="88900"/>
          </a:effectLst>
        </p:spPr>
      </p:pic>
      <p:pic>
        <p:nvPicPr>
          <p:cNvPr id="57" name="Picture 56">
            <a:extLst>
              <a:ext uri="{FF2B5EF4-FFF2-40B4-BE49-F238E27FC236}">
                <a16:creationId xmlns:a16="http://schemas.microsoft.com/office/drawing/2014/main" id="{04C039E3-6D52-2091-0E0C-A01F6F2EBFC6}"/>
              </a:ext>
            </a:extLst>
          </p:cNvPr>
          <p:cNvPicPr>
            <a:picLocks noChangeAspect="1"/>
          </p:cNvPicPr>
          <p:nvPr/>
        </p:nvPicPr>
        <p:blipFill>
          <a:blip r:embed="rId7">
            <a:alphaModFix amt="71000"/>
          </a:blip>
          <a:srcRect l="9259" r="7231" b="253"/>
          <a:stretch>
            <a:fillRect/>
          </a:stretch>
        </p:blipFill>
        <p:spPr>
          <a:xfrm rot="5400000">
            <a:off x="7303745" y="2055448"/>
            <a:ext cx="1636776" cy="815013"/>
          </a:xfrm>
          <a:prstGeom prst="triangle">
            <a:avLst>
              <a:gd name="adj" fmla="val 50152"/>
            </a:avLst>
          </a:prstGeom>
          <a:effectLst>
            <a:softEdge rad="76200"/>
          </a:effectLst>
        </p:spPr>
      </p:pic>
      <p:pic>
        <p:nvPicPr>
          <p:cNvPr id="58" name="Picture 57">
            <a:extLst>
              <a:ext uri="{FF2B5EF4-FFF2-40B4-BE49-F238E27FC236}">
                <a16:creationId xmlns:a16="http://schemas.microsoft.com/office/drawing/2014/main" id="{410424AC-A71A-266E-BFA4-D25D22C82C95}"/>
              </a:ext>
            </a:extLst>
          </p:cNvPr>
          <p:cNvPicPr>
            <a:picLocks noChangeAspect="1"/>
          </p:cNvPicPr>
          <p:nvPr/>
        </p:nvPicPr>
        <p:blipFill>
          <a:blip r:embed="rId7">
            <a:alphaModFix amt="71000"/>
          </a:blip>
          <a:srcRect l="9259" r="7231" b="253"/>
          <a:stretch>
            <a:fillRect/>
          </a:stretch>
        </p:blipFill>
        <p:spPr>
          <a:xfrm rot="5400000">
            <a:off x="7057237" y="2189766"/>
            <a:ext cx="1097280" cy="546377"/>
          </a:xfrm>
          <a:prstGeom prst="triangle">
            <a:avLst>
              <a:gd name="adj" fmla="val 50152"/>
            </a:avLst>
          </a:prstGeom>
          <a:effectLst>
            <a:softEdge rad="63500"/>
          </a:effectLst>
        </p:spPr>
      </p:pic>
      <p:sp>
        <p:nvSpPr>
          <p:cNvPr id="59" name="Rectangle 58">
            <a:extLst>
              <a:ext uri="{FF2B5EF4-FFF2-40B4-BE49-F238E27FC236}">
                <a16:creationId xmlns:a16="http://schemas.microsoft.com/office/drawing/2014/main" id="{28B635F0-981F-37E2-F500-D0265F848C3B}"/>
              </a:ext>
            </a:extLst>
          </p:cNvPr>
          <p:cNvSpPr>
            <a:spLocks noChangeAspect="1"/>
          </p:cNvSpPr>
          <p:nvPr userDrawn="1"/>
        </p:nvSpPr>
        <p:spPr bwMode="auto">
          <a:xfrm>
            <a:off x="10215904" y="438038"/>
            <a:ext cx="356616" cy="356616"/>
          </a:xfrm>
          <a:prstGeom prst="rect">
            <a:avLst/>
          </a:prstGeom>
          <a:solidFill>
            <a:srgbClr val="288FDA"/>
          </a:solidFill>
          <a:ln w="9525" cap="flat" cmpd="sng" algn="ctr">
            <a:noFill/>
            <a:prstDash val="solid"/>
            <a:headEnd type="none" w="med" len="med"/>
            <a:tailEnd type="none" w="med" len="med"/>
          </a:ln>
          <a:effectLst>
            <a:softEdge rad="127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cxnSp>
        <p:nvCxnSpPr>
          <p:cNvPr id="62" name="Straight Connector 61">
            <a:extLst>
              <a:ext uri="{FF2B5EF4-FFF2-40B4-BE49-F238E27FC236}">
                <a16:creationId xmlns:a16="http://schemas.microsoft.com/office/drawing/2014/main" id="{9CE9258A-00CA-108B-15D9-BFC97C5A9EB3}"/>
              </a:ext>
            </a:extLst>
          </p:cNvPr>
          <p:cNvCxnSpPr>
            <a:cxnSpLocks/>
          </p:cNvCxnSpPr>
          <p:nvPr userDrawn="1"/>
        </p:nvCxnSpPr>
        <p:spPr>
          <a:xfrm>
            <a:off x="7460342" y="-1"/>
            <a:ext cx="4731658" cy="2970880"/>
          </a:xfrm>
          <a:prstGeom prst="line">
            <a:avLst/>
          </a:prstGeom>
          <a:noFill/>
          <a:ln w="38100" cap="flat" cmpd="sng" algn="ctr">
            <a:solidFill>
              <a:srgbClr val="FFFFFF"/>
            </a:solidFill>
            <a:prstDash val="solid"/>
            <a:headEnd type="none" w="lg" len="med"/>
            <a:tailEnd type="none" w="lg" len="med"/>
          </a:ln>
          <a:effectLst/>
        </p:spPr>
      </p:cxnSp>
      <p:sp>
        <p:nvSpPr>
          <p:cNvPr id="60" name="Rectangle 59">
            <a:extLst>
              <a:ext uri="{FF2B5EF4-FFF2-40B4-BE49-F238E27FC236}">
                <a16:creationId xmlns:a16="http://schemas.microsoft.com/office/drawing/2014/main" id="{5A45202F-DB7F-1BC0-04E6-097FA4A3B538}"/>
              </a:ext>
            </a:extLst>
          </p:cNvPr>
          <p:cNvSpPr/>
          <p:nvPr userDrawn="1"/>
        </p:nvSpPr>
        <p:spPr bwMode="auto">
          <a:xfrm>
            <a:off x="9681029" y="1324400"/>
            <a:ext cx="372864" cy="372864"/>
          </a:xfrm>
          <a:prstGeom prst="rect">
            <a:avLst/>
          </a:prstGeom>
          <a:solidFill>
            <a:srgbClr val="379BDC"/>
          </a:solidFill>
          <a:ln w="9525" cap="flat" cmpd="sng" algn="ctr">
            <a:noFill/>
            <a:prstDash val="solid"/>
            <a:headEnd type="none" w="med" len="med"/>
            <a:tailEnd type="none" w="med" len="med"/>
          </a:ln>
          <a:effectLst>
            <a:softEdge rad="127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sp>
        <p:nvSpPr>
          <p:cNvPr id="61" name="Rectangle 60">
            <a:extLst>
              <a:ext uri="{FF2B5EF4-FFF2-40B4-BE49-F238E27FC236}">
                <a16:creationId xmlns:a16="http://schemas.microsoft.com/office/drawing/2014/main" id="{B6F19083-C54B-654D-DBB1-D9EA43108BFB}"/>
              </a:ext>
            </a:extLst>
          </p:cNvPr>
          <p:cNvSpPr>
            <a:spLocks noChangeAspect="1"/>
          </p:cNvSpPr>
          <p:nvPr userDrawn="1"/>
        </p:nvSpPr>
        <p:spPr bwMode="auto">
          <a:xfrm>
            <a:off x="11476604" y="2535237"/>
            <a:ext cx="274320" cy="274320"/>
          </a:xfrm>
          <a:prstGeom prst="rect">
            <a:avLst/>
          </a:prstGeom>
          <a:solidFill>
            <a:srgbClr val="ABD3DF"/>
          </a:solidFill>
          <a:ln w="9525" cap="flat" cmpd="sng" algn="ctr">
            <a:noFill/>
            <a:prstDash val="solid"/>
            <a:headEnd type="none" w="med" len="med"/>
            <a:tailEnd type="none" w="med" len="med"/>
          </a:ln>
          <a:effectLst>
            <a:softEdge rad="127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sp>
        <p:nvSpPr>
          <p:cNvPr id="67" name="Rectangle 66">
            <a:extLst>
              <a:ext uri="{FF2B5EF4-FFF2-40B4-BE49-F238E27FC236}">
                <a16:creationId xmlns:a16="http://schemas.microsoft.com/office/drawing/2014/main" id="{C69C7279-CADF-E4E6-9F24-7C9EF9A659E4}"/>
              </a:ext>
            </a:extLst>
          </p:cNvPr>
          <p:cNvSpPr>
            <a:spLocks noChangeAspect="1"/>
          </p:cNvSpPr>
          <p:nvPr userDrawn="1"/>
        </p:nvSpPr>
        <p:spPr bwMode="auto">
          <a:xfrm>
            <a:off x="10943417" y="3503631"/>
            <a:ext cx="822960" cy="822960"/>
          </a:xfrm>
          <a:prstGeom prst="rect">
            <a:avLst/>
          </a:prstGeom>
          <a:solidFill>
            <a:srgbClr val="FFFFFF">
              <a:alpha val="29000"/>
            </a:srgbClr>
          </a:solidFill>
          <a:ln w="9525" cap="flat" cmpd="sng" algn="ctr">
            <a:noFill/>
            <a:prstDash val="solid"/>
            <a:headEnd type="none" w="med" len="med"/>
            <a:tailEnd type="none" w="med" len="med"/>
          </a:ln>
          <a:effectLst>
            <a:softEdge rad="889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grpSp>
        <p:nvGrpSpPr>
          <p:cNvPr id="63" name="Group 62">
            <a:extLst>
              <a:ext uri="{FF2B5EF4-FFF2-40B4-BE49-F238E27FC236}">
                <a16:creationId xmlns:a16="http://schemas.microsoft.com/office/drawing/2014/main" id="{7B2FD9C1-1588-1CCC-9FF6-5F267E94154C}"/>
              </a:ext>
            </a:extLst>
          </p:cNvPr>
          <p:cNvGrpSpPr/>
          <p:nvPr userDrawn="1"/>
        </p:nvGrpSpPr>
        <p:grpSpPr>
          <a:xfrm>
            <a:off x="8385790" y="3356974"/>
            <a:ext cx="3730752" cy="3501026"/>
            <a:chOff x="6272163" y="715983"/>
            <a:chExt cx="6214133" cy="5848011"/>
          </a:xfrm>
          <a:noFill/>
        </p:grpSpPr>
        <p:pic>
          <p:nvPicPr>
            <p:cNvPr id="64" name="Picture 63">
              <a:extLst>
                <a:ext uri="{FF2B5EF4-FFF2-40B4-BE49-F238E27FC236}">
                  <a16:creationId xmlns:a16="http://schemas.microsoft.com/office/drawing/2014/main" id="{147E2B21-4C1A-E2A0-54F2-CD7B2A6097A7}"/>
                </a:ext>
              </a:extLst>
            </p:cNvPr>
            <p:cNvPicPr>
              <a:picLocks noChangeAspect="1"/>
            </p:cNvPicPr>
            <p:nvPr/>
          </p:nvPicPr>
          <p:blipFill>
            <a:blip r:embed="rId7">
              <a:alphaModFix amt="85000"/>
            </a:blip>
            <a:srcRect l="9259" r="7231" b="253"/>
            <a:stretch>
              <a:fillRect/>
            </a:stretch>
          </p:blipFill>
          <p:spPr>
            <a:xfrm rot="5400000">
              <a:off x="8118910" y="2196608"/>
              <a:ext cx="5848011" cy="2886761"/>
            </a:xfrm>
            <a:prstGeom prst="triangle">
              <a:avLst>
                <a:gd name="adj" fmla="val 50152"/>
              </a:avLst>
            </a:prstGeom>
            <a:grpFill/>
          </p:spPr>
        </p:pic>
        <p:pic>
          <p:nvPicPr>
            <p:cNvPr id="65" name="Picture 64">
              <a:extLst>
                <a:ext uri="{FF2B5EF4-FFF2-40B4-BE49-F238E27FC236}">
                  <a16:creationId xmlns:a16="http://schemas.microsoft.com/office/drawing/2014/main" id="{D5F7AA50-36FB-15AF-B291-E811588D4763}"/>
                </a:ext>
              </a:extLst>
            </p:cNvPr>
            <p:cNvPicPr>
              <a:picLocks noChangeAspect="1"/>
            </p:cNvPicPr>
            <p:nvPr/>
          </p:nvPicPr>
          <p:blipFill>
            <a:blip r:embed="rId7">
              <a:alphaModFix amt="85000"/>
            </a:blip>
            <a:srcRect l="9259" r="7231" b="253"/>
            <a:stretch>
              <a:fillRect/>
            </a:stretch>
          </p:blipFill>
          <p:spPr>
            <a:xfrm rot="5400000">
              <a:off x="6570223" y="2641972"/>
              <a:ext cx="4079676" cy="2031425"/>
            </a:xfrm>
            <a:prstGeom prst="triangle">
              <a:avLst>
                <a:gd name="adj" fmla="val 50152"/>
              </a:avLst>
            </a:prstGeom>
            <a:grpFill/>
          </p:spPr>
        </p:pic>
        <p:pic>
          <p:nvPicPr>
            <p:cNvPr id="66" name="Picture 65">
              <a:extLst>
                <a:ext uri="{FF2B5EF4-FFF2-40B4-BE49-F238E27FC236}">
                  <a16:creationId xmlns:a16="http://schemas.microsoft.com/office/drawing/2014/main" id="{C09EE8F4-C49D-B778-EBE6-024FAAA759A2}"/>
                </a:ext>
              </a:extLst>
            </p:cNvPr>
            <p:cNvPicPr>
              <a:picLocks noChangeAspect="1"/>
            </p:cNvPicPr>
            <p:nvPr/>
          </p:nvPicPr>
          <p:blipFill>
            <a:blip r:embed="rId7">
              <a:alphaModFix amt="85000"/>
            </a:blip>
            <a:srcRect l="9259" r="7231" b="253"/>
            <a:stretch>
              <a:fillRect/>
            </a:stretch>
          </p:blipFill>
          <p:spPr>
            <a:xfrm rot="5400000">
              <a:off x="5594547" y="2996692"/>
              <a:ext cx="2699334" cy="1344101"/>
            </a:xfrm>
            <a:prstGeom prst="triangle">
              <a:avLst>
                <a:gd name="adj" fmla="val 50152"/>
              </a:avLst>
            </a:prstGeom>
            <a:grpFill/>
          </p:spPr>
        </p:pic>
      </p:grpSp>
    </p:spTree>
    <p:extLst>
      <p:ext uri="{BB962C8B-B14F-4D97-AF65-F5344CB8AC3E}">
        <p14:creationId xmlns:p14="http://schemas.microsoft.com/office/powerpoint/2010/main" val="35479434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p15="http://schemas.microsoft.com/office/powerpoint/2012/main"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FC45A88D-2237-5F72-D640-DD96E9379B72}"/>
              </a:ext>
            </a:extLst>
          </p:cNvPr>
          <p:cNvPicPr>
            <a:picLocks noChangeAspect="1"/>
          </p:cNvPicPr>
          <p:nvPr userDrawn="1"/>
        </p:nvPicPr>
        <p:blipFill>
          <a:blip r:embed="rId3"/>
          <a:stretch>
            <a:fillRect/>
          </a:stretch>
        </p:blipFill>
        <p:spPr>
          <a:xfrm>
            <a:off x="-1" y="-1"/>
            <a:ext cx="12192001" cy="6858001"/>
          </a:xfrm>
          <a:prstGeom prst="rect">
            <a:avLst/>
          </a:prstGeom>
        </p:spPr>
      </p:pic>
      <p:cxnSp>
        <p:nvCxnSpPr>
          <p:cNvPr id="32" name="Straight Connector 31">
            <a:extLst>
              <a:ext uri="{FF2B5EF4-FFF2-40B4-BE49-F238E27FC236}">
                <a16:creationId xmlns:a16="http://schemas.microsoft.com/office/drawing/2014/main" id="{D72A3B0E-B737-A500-56E1-BB102F7841D3}"/>
              </a:ext>
            </a:extLst>
          </p:cNvPr>
          <p:cNvCxnSpPr>
            <a:cxnSpLocks/>
          </p:cNvCxnSpPr>
          <p:nvPr userDrawn="1"/>
        </p:nvCxnSpPr>
        <p:spPr>
          <a:xfrm>
            <a:off x="9681029" y="0"/>
            <a:ext cx="2510971" cy="2302670"/>
          </a:xfrm>
          <a:prstGeom prst="line">
            <a:avLst/>
          </a:prstGeom>
          <a:noFill/>
          <a:ln w="28575" cap="flat" cmpd="sng" algn="ctr">
            <a:solidFill>
              <a:srgbClr val="00FFFF"/>
            </a:solidFill>
            <a:prstDash val="solid"/>
            <a:headEnd type="none" w="lg" len="med"/>
            <a:tailEnd type="none" w="lg" len="med"/>
          </a:ln>
          <a:effectLst/>
        </p:spPr>
      </p:cxnSp>
      <p:sp>
        <p:nvSpPr>
          <p:cNvPr id="36" name="Rectangle 35">
            <a:extLst>
              <a:ext uri="{FF2B5EF4-FFF2-40B4-BE49-F238E27FC236}">
                <a16:creationId xmlns:a16="http://schemas.microsoft.com/office/drawing/2014/main" id="{405DEDD5-9E87-ABEE-F132-4A1D625842E2}"/>
              </a:ext>
            </a:extLst>
          </p:cNvPr>
          <p:cNvSpPr/>
          <p:nvPr userDrawn="1"/>
        </p:nvSpPr>
        <p:spPr bwMode="auto">
          <a:xfrm>
            <a:off x="10988901" y="285748"/>
            <a:ext cx="431574" cy="431574"/>
          </a:xfrm>
          <a:prstGeom prst="rect">
            <a:avLst/>
          </a:prstGeom>
          <a:solidFill>
            <a:srgbClr val="FFFFFF">
              <a:alpha val="55000"/>
            </a:srgbClr>
          </a:solidFill>
          <a:ln w="9525" cap="flat" cmpd="sng" algn="ctr">
            <a:noFill/>
            <a:prstDash val="solid"/>
            <a:headEnd type="none" w="med" len="med"/>
            <a:tailEnd type="none" w="med" len="med"/>
          </a:ln>
          <a:effectLst>
            <a:softEdge rad="381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sp>
        <p:nvSpPr>
          <p:cNvPr id="38" name="Rectangle 37">
            <a:extLst>
              <a:ext uri="{FF2B5EF4-FFF2-40B4-BE49-F238E27FC236}">
                <a16:creationId xmlns:a16="http://schemas.microsoft.com/office/drawing/2014/main" id="{4D9313B8-1A47-F36A-6A34-DB04A8B26E4B}"/>
              </a:ext>
            </a:extLst>
          </p:cNvPr>
          <p:cNvSpPr/>
          <p:nvPr userDrawn="1"/>
        </p:nvSpPr>
        <p:spPr bwMode="auto">
          <a:xfrm>
            <a:off x="6895011" y="4773999"/>
            <a:ext cx="832608" cy="832608"/>
          </a:xfrm>
          <a:prstGeom prst="rect">
            <a:avLst/>
          </a:prstGeom>
          <a:solidFill>
            <a:srgbClr val="FFFFFF">
              <a:alpha val="10000"/>
            </a:srgbClr>
          </a:solidFill>
          <a:ln w="9525" cap="flat" cmpd="sng" algn="ctr">
            <a:noFill/>
            <a:prstDash val="solid"/>
            <a:headEnd type="none" w="med" len="med"/>
            <a:tailEnd type="none" w="med" len="med"/>
          </a:ln>
          <a:effectLst>
            <a:softEdge rad="1270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sp>
        <p:nvSpPr>
          <p:cNvPr id="39" name="Rectangle 38">
            <a:extLst>
              <a:ext uri="{FF2B5EF4-FFF2-40B4-BE49-F238E27FC236}">
                <a16:creationId xmlns:a16="http://schemas.microsoft.com/office/drawing/2014/main" id="{A6024A2A-9ACB-3C38-4C71-5C4C5CB7D4DF}"/>
              </a:ext>
            </a:extLst>
          </p:cNvPr>
          <p:cNvSpPr/>
          <p:nvPr userDrawn="1"/>
        </p:nvSpPr>
        <p:spPr bwMode="auto">
          <a:xfrm>
            <a:off x="6850303" y="1522914"/>
            <a:ext cx="535941" cy="535941"/>
          </a:xfrm>
          <a:prstGeom prst="rect">
            <a:avLst/>
          </a:prstGeom>
          <a:solidFill>
            <a:srgbClr val="FFFFFF">
              <a:alpha val="10000"/>
            </a:srgbClr>
          </a:solidFill>
          <a:ln w="9525" cap="flat" cmpd="sng" algn="ctr">
            <a:noFill/>
            <a:prstDash val="solid"/>
            <a:headEnd type="none" w="med" len="med"/>
            <a:tailEnd type="none" w="med" len="med"/>
          </a:ln>
          <a:effectLst>
            <a:softEdge rad="889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sp>
        <p:nvSpPr>
          <p:cNvPr id="40" name="Rectangle 39">
            <a:extLst>
              <a:ext uri="{FF2B5EF4-FFF2-40B4-BE49-F238E27FC236}">
                <a16:creationId xmlns:a16="http://schemas.microsoft.com/office/drawing/2014/main" id="{1BDDD574-F604-ED7D-3E1C-28BABEC64D79}"/>
              </a:ext>
            </a:extLst>
          </p:cNvPr>
          <p:cNvSpPr/>
          <p:nvPr userDrawn="1"/>
        </p:nvSpPr>
        <p:spPr bwMode="auto">
          <a:xfrm>
            <a:off x="5634169" y="6255563"/>
            <a:ext cx="411031" cy="411031"/>
          </a:xfrm>
          <a:prstGeom prst="rect">
            <a:avLst/>
          </a:prstGeom>
          <a:solidFill>
            <a:srgbClr val="FFFFFF">
              <a:alpha val="10000"/>
            </a:srgbClr>
          </a:solidFill>
          <a:ln w="9525" cap="flat" cmpd="sng" algn="ctr">
            <a:noFill/>
            <a:prstDash val="solid"/>
            <a:headEnd type="none" w="med" len="med"/>
            <a:tailEnd type="none" w="med" len="med"/>
          </a:ln>
          <a:effectLst>
            <a:softEdge rad="889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sp>
        <p:nvSpPr>
          <p:cNvPr id="41" name="Rectangle 40">
            <a:extLst>
              <a:ext uri="{FF2B5EF4-FFF2-40B4-BE49-F238E27FC236}">
                <a16:creationId xmlns:a16="http://schemas.microsoft.com/office/drawing/2014/main" id="{D38E2529-9B7D-EEE2-9C42-16859B2D4811}"/>
              </a:ext>
            </a:extLst>
          </p:cNvPr>
          <p:cNvSpPr/>
          <p:nvPr userDrawn="1"/>
        </p:nvSpPr>
        <p:spPr bwMode="auto">
          <a:xfrm>
            <a:off x="7462444" y="6011947"/>
            <a:ext cx="290829" cy="290829"/>
          </a:xfrm>
          <a:prstGeom prst="rect">
            <a:avLst/>
          </a:prstGeom>
          <a:solidFill>
            <a:srgbClr val="FFFFFF">
              <a:alpha val="10000"/>
            </a:srgbClr>
          </a:solidFill>
          <a:ln w="9525" cap="flat" cmpd="sng" algn="ctr">
            <a:noFill/>
            <a:prstDash val="solid"/>
            <a:headEnd type="none" w="med" len="med"/>
            <a:tailEnd type="none" w="med" len="med"/>
          </a:ln>
          <a:effectLst>
            <a:softEdge rad="762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sp>
        <p:nvSpPr>
          <p:cNvPr id="42" name="Rectangle 41">
            <a:extLst>
              <a:ext uri="{FF2B5EF4-FFF2-40B4-BE49-F238E27FC236}">
                <a16:creationId xmlns:a16="http://schemas.microsoft.com/office/drawing/2014/main" id="{2F607437-E0F9-BE79-6117-F93A11694C89}"/>
              </a:ext>
            </a:extLst>
          </p:cNvPr>
          <p:cNvSpPr/>
          <p:nvPr userDrawn="1"/>
        </p:nvSpPr>
        <p:spPr bwMode="auto">
          <a:xfrm>
            <a:off x="11478986" y="6170061"/>
            <a:ext cx="257627" cy="257627"/>
          </a:xfrm>
          <a:prstGeom prst="rect">
            <a:avLst/>
          </a:prstGeom>
          <a:solidFill>
            <a:srgbClr val="FFFFFF">
              <a:alpha val="10000"/>
            </a:srgbClr>
          </a:solidFill>
          <a:ln w="9525" cap="flat" cmpd="sng" algn="ctr">
            <a:noFill/>
            <a:prstDash val="solid"/>
            <a:headEnd type="none" w="med" len="med"/>
            <a:tailEnd type="none" w="med" len="med"/>
          </a:ln>
          <a:effectLst>
            <a:softEdge rad="762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pic>
        <p:nvPicPr>
          <p:cNvPr id="44" name="MS logo white - EMF" descr="Microsoft logo white text version">
            <a:extLst>
              <a:ext uri="{FF2B5EF4-FFF2-40B4-BE49-F238E27FC236}">
                <a16:creationId xmlns:a16="http://schemas.microsoft.com/office/drawing/2014/main" id="{B964C9F0-F1CC-B31A-F3D4-D18C23520436}"/>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56" name="Picture 55">
            <a:extLst>
              <a:ext uri="{FF2B5EF4-FFF2-40B4-BE49-F238E27FC236}">
                <a16:creationId xmlns:a16="http://schemas.microsoft.com/office/drawing/2014/main" id="{22403768-F6E1-A5DA-027A-4FCB916EECDA}"/>
              </a:ext>
            </a:extLst>
          </p:cNvPr>
          <p:cNvPicPr>
            <a:picLocks noChangeAspect="1"/>
          </p:cNvPicPr>
          <p:nvPr/>
        </p:nvPicPr>
        <p:blipFill>
          <a:blip r:embed="rId5">
            <a:alphaModFix amt="71000"/>
            <a:extLst>
              <a:ext uri="{BEBA8EAE-BF5A-486C-A8C5-ECC9F3942E4B}">
                <a14:imgProps xmlns:a14="http://schemas.microsoft.com/office/drawing/2010/main">
                  <a14:imgLayer r:embed="rId6">
                    <a14:imgEffect>
                      <a14:artisticBlur radius="22"/>
                    </a14:imgEffect>
                  </a14:imgLayer>
                </a14:imgProps>
              </a:ext>
            </a:extLst>
          </a:blip>
          <a:srcRect l="9259" r="7231" b="253"/>
          <a:stretch>
            <a:fillRect/>
          </a:stretch>
        </p:blipFill>
        <p:spPr>
          <a:xfrm rot="5400000">
            <a:off x="7745236" y="1896026"/>
            <a:ext cx="2277106" cy="1133856"/>
          </a:xfrm>
          <a:prstGeom prst="triangle">
            <a:avLst>
              <a:gd name="adj" fmla="val 50152"/>
            </a:avLst>
          </a:prstGeom>
          <a:effectLst>
            <a:softEdge rad="88900"/>
          </a:effectLst>
        </p:spPr>
      </p:pic>
      <p:pic>
        <p:nvPicPr>
          <p:cNvPr id="57" name="Picture 56">
            <a:extLst>
              <a:ext uri="{FF2B5EF4-FFF2-40B4-BE49-F238E27FC236}">
                <a16:creationId xmlns:a16="http://schemas.microsoft.com/office/drawing/2014/main" id="{04C039E3-6D52-2091-0E0C-A01F6F2EBFC6}"/>
              </a:ext>
            </a:extLst>
          </p:cNvPr>
          <p:cNvPicPr>
            <a:picLocks noChangeAspect="1"/>
          </p:cNvPicPr>
          <p:nvPr/>
        </p:nvPicPr>
        <p:blipFill>
          <a:blip r:embed="rId7">
            <a:alphaModFix amt="71000"/>
          </a:blip>
          <a:srcRect l="9259" r="7231" b="253"/>
          <a:stretch>
            <a:fillRect/>
          </a:stretch>
        </p:blipFill>
        <p:spPr>
          <a:xfrm rot="5400000">
            <a:off x="7303745" y="2055448"/>
            <a:ext cx="1636776" cy="815013"/>
          </a:xfrm>
          <a:prstGeom prst="triangle">
            <a:avLst>
              <a:gd name="adj" fmla="val 50152"/>
            </a:avLst>
          </a:prstGeom>
          <a:effectLst>
            <a:softEdge rad="76200"/>
          </a:effectLst>
        </p:spPr>
      </p:pic>
      <p:pic>
        <p:nvPicPr>
          <p:cNvPr id="58" name="Picture 57">
            <a:extLst>
              <a:ext uri="{FF2B5EF4-FFF2-40B4-BE49-F238E27FC236}">
                <a16:creationId xmlns:a16="http://schemas.microsoft.com/office/drawing/2014/main" id="{410424AC-A71A-266E-BFA4-D25D22C82C95}"/>
              </a:ext>
            </a:extLst>
          </p:cNvPr>
          <p:cNvPicPr>
            <a:picLocks noChangeAspect="1"/>
          </p:cNvPicPr>
          <p:nvPr/>
        </p:nvPicPr>
        <p:blipFill>
          <a:blip r:embed="rId7">
            <a:alphaModFix amt="71000"/>
          </a:blip>
          <a:srcRect l="9259" r="7231" b="253"/>
          <a:stretch>
            <a:fillRect/>
          </a:stretch>
        </p:blipFill>
        <p:spPr>
          <a:xfrm rot="5400000">
            <a:off x="7057237" y="2189766"/>
            <a:ext cx="1097280" cy="546377"/>
          </a:xfrm>
          <a:prstGeom prst="triangle">
            <a:avLst>
              <a:gd name="adj" fmla="val 50152"/>
            </a:avLst>
          </a:prstGeom>
          <a:effectLst>
            <a:softEdge rad="63500"/>
          </a:effectLst>
        </p:spPr>
      </p:pic>
      <p:sp>
        <p:nvSpPr>
          <p:cNvPr id="59" name="Rectangle 58">
            <a:extLst>
              <a:ext uri="{FF2B5EF4-FFF2-40B4-BE49-F238E27FC236}">
                <a16:creationId xmlns:a16="http://schemas.microsoft.com/office/drawing/2014/main" id="{28B635F0-981F-37E2-F500-D0265F848C3B}"/>
              </a:ext>
            </a:extLst>
          </p:cNvPr>
          <p:cNvSpPr>
            <a:spLocks noChangeAspect="1"/>
          </p:cNvSpPr>
          <p:nvPr userDrawn="1"/>
        </p:nvSpPr>
        <p:spPr bwMode="auto">
          <a:xfrm>
            <a:off x="10215904" y="438038"/>
            <a:ext cx="356616" cy="356616"/>
          </a:xfrm>
          <a:prstGeom prst="rect">
            <a:avLst/>
          </a:prstGeom>
          <a:solidFill>
            <a:srgbClr val="288FDA"/>
          </a:solidFill>
          <a:ln w="9525" cap="flat" cmpd="sng" algn="ctr">
            <a:noFill/>
            <a:prstDash val="solid"/>
            <a:headEnd type="none" w="med" len="med"/>
            <a:tailEnd type="none" w="med" len="med"/>
          </a:ln>
          <a:effectLst>
            <a:softEdge rad="127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cxnSp>
        <p:nvCxnSpPr>
          <p:cNvPr id="62" name="Straight Connector 61">
            <a:extLst>
              <a:ext uri="{FF2B5EF4-FFF2-40B4-BE49-F238E27FC236}">
                <a16:creationId xmlns:a16="http://schemas.microsoft.com/office/drawing/2014/main" id="{9CE9258A-00CA-108B-15D9-BFC97C5A9EB3}"/>
              </a:ext>
            </a:extLst>
          </p:cNvPr>
          <p:cNvCxnSpPr>
            <a:cxnSpLocks/>
          </p:cNvCxnSpPr>
          <p:nvPr userDrawn="1"/>
        </p:nvCxnSpPr>
        <p:spPr>
          <a:xfrm>
            <a:off x="7460342" y="-1"/>
            <a:ext cx="4731658" cy="2970880"/>
          </a:xfrm>
          <a:prstGeom prst="line">
            <a:avLst/>
          </a:prstGeom>
          <a:noFill/>
          <a:ln w="38100" cap="flat" cmpd="sng" algn="ctr">
            <a:solidFill>
              <a:srgbClr val="FFFFFF"/>
            </a:solidFill>
            <a:prstDash val="solid"/>
            <a:headEnd type="none" w="lg" len="med"/>
            <a:tailEnd type="none" w="lg" len="med"/>
          </a:ln>
          <a:effectLst/>
        </p:spPr>
      </p:cxnSp>
      <p:sp>
        <p:nvSpPr>
          <p:cNvPr id="60" name="Rectangle 59">
            <a:extLst>
              <a:ext uri="{FF2B5EF4-FFF2-40B4-BE49-F238E27FC236}">
                <a16:creationId xmlns:a16="http://schemas.microsoft.com/office/drawing/2014/main" id="{5A45202F-DB7F-1BC0-04E6-097FA4A3B538}"/>
              </a:ext>
            </a:extLst>
          </p:cNvPr>
          <p:cNvSpPr/>
          <p:nvPr userDrawn="1"/>
        </p:nvSpPr>
        <p:spPr bwMode="auto">
          <a:xfrm>
            <a:off x="9681029" y="1324400"/>
            <a:ext cx="372864" cy="372864"/>
          </a:xfrm>
          <a:prstGeom prst="rect">
            <a:avLst/>
          </a:prstGeom>
          <a:solidFill>
            <a:srgbClr val="379BDC"/>
          </a:solidFill>
          <a:ln w="9525" cap="flat" cmpd="sng" algn="ctr">
            <a:noFill/>
            <a:prstDash val="solid"/>
            <a:headEnd type="none" w="med" len="med"/>
            <a:tailEnd type="none" w="med" len="med"/>
          </a:ln>
          <a:effectLst>
            <a:softEdge rad="127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sp>
        <p:nvSpPr>
          <p:cNvPr id="61" name="Rectangle 60">
            <a:extLst>
              <a:ext uri="{FF2B5EF4-FFF2-40B4-BE49-F238E27FC236}">
                <a16:creationId xmlns:a16="http://schemas.microsoft.com/office/drawing/2014/main" id="{B6F19083-C54B-654D-DBB1-D9EA43108BFB}"/>
              </a:ext>
            </a:extLst>
          </p:cNvPr>
          <p:cNvSpPr>
            <a:spLocks noChangeAspect="1"/>
          </p:cNvSpPr>
          <p:nvPr userDrawn="1"/>
        </p:nvSpPr>
        <p:spPr bwMode="auto">
          <a:xfrm>
            <a:off x="11476604" y="2535237"/>
            <a:ext cx="274320" cy="274320"/>
          </a:xfrm>
          <a:prstGeom prst="rect">
            <a:avLst/>
          </a:prstGeom>
          <a:solidFill>
            <a:srgbClr val="ABD3DF"/>
          </a:solidFill>
          <a:ln w="9525" cap="flat" cmpd="sng" algn="ctr">
            <a:noFill/>
            <a:prstDash val="solid"/>
            <a:headEnd type="none" w="med" len="med"/>
            <a:tailEnd type="none" w="med" len="med"/>
          </a:ln>
          <a:effectLst>
            <a:softEdge rad="127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sp>
        <p:nvSpPr>
          <p:cNvPr id="67" name="Rectangle 66">
            <a:extLst>
              <a:ext uri="{FF2B5EF4-FFF2-40B4-BE49-F238E27FC236}">
                <a16:creationId xmlns:a16="http://schemas.microsoft.com/office/drawing/2014/main" id="{C69C7279-CADF-E4E6-9F24-7C9EF9A659E4}"/>
              </a:ext>
            </a:extLst>
          </p:cNvPr>
          <p:cNvSpPr>
            <a:spLocks noChangeAspect="1"/>
          </p:cNvSpPr>
          <p:nvPr userDrawn="1"/>
        </p:nvSpPr>
        <p:spPr bwMode="auto">
          <a:xfrm>
            <a:off x="10943417" y="3503631"/>
            <a:ext cx="822960" cy="822960"/>
          </a:xfrm>
          <a:prstGeom prst="rect">
            <a:avLst/>
          </a:prstGeom>
          <a:solidFill>
            <a:srgbClr val="FFFFFF">
              <a:alpha val="29000"/>
            </a:srgbClr>
          </a:solidFill>
          <a:ln w="9525" cap="flat" cmpd="sng" algn="ctr">
            <a:noFill/>
            <a:prstDash val="solid"/>
            <a:headEnd type="none" w="med" len="med"/>
            <a:tailEnd type="none" w="med" len="med"/>
          </a:ln>
          <a:effectLst>
            <a:softEdge rad="889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grpSp>
        <p:nvGrpSpPr>
          <p:cNvPr id="63" name="Group 62">
            <a:extLst>
              <a:ext uri="{FF2B5EF4-FFF2-40B4-BE49-F238E27FC236}">
                <a16:creationId xmlns:a16="http://schemas.microsoft.com/office/drawing/2014/main" id="{7B2FD9C1-1588-1CCC-9FF6-5F267E94154C}"/>
              </a:ext>
            </a:extLst>
          </p:cNvPr>
          <p:cNvGrpSpPr/>
          <p:nvPr userDrawn="1"/>
        </p:nvGrpSpPr>
        <p:grpSpPr>
          <a:xfrm>
            <a:off x="8385790" y="3356974"/>
            <a:ext cx="3730752" cy="3501026"/>
            <a:chOff x="6272163" y="715983"/>
            <a:chExt cx="6214133" cy="5848011"/>
          </a:xfrm>
          <a:noFill/>
        </p:grpSpPr>
        <p:pic>
          <p:nvPicPr>
            <p:cNvPr id="64" name="Picture 63">
              <a:extLst>
                <a:ext uri="{FF2B5EF4-FFF2-40B4-BE49-F238E27FC236}">
                  <a16:creationId xmlns:a16="http://schemas.microsoft.com/office/drawing/2014/main" id="{147E2B21-4C1A-E2A0-54F2-CD7B2A6097A7}"/>
                </a:ext>
              </a:extLst>
            </p:cNvPr>
            <p:cNvPicPr>
              <a:picLocks noChangeAspect="1"/>
            </p:cNvPicPr>
            <p:nvPr/>
          </p:nvPicPr>
          <p:blipFill>
            <a:blip r:embed="rId7">
              <a:alphaModFix amt="85000"/>
            </a:blip>
            <a:srcRect l="9259" r="7231" b="253"/>
            <a:stretch>
              <a:fillRect/>
            </a:stretch>
          </p:blipFill>
          <p:spPr>
            <a:xfrm rot="5400000">
              <a:off x="8118910" y="2196608"/>
              <a:ext cx="5848011" cy="2886761"/>
            </a:xfrm>
            <a:prstGeom prst="triangle">
              <a:avLst>
                <a:gd name="adj" fmla="val 50152"/>
              </a:avLst>
            </a:prstGeom>
            <a:grpFill/>
          </p:spPr>
        </p:pic>
        <p:pic>
          <p:nvPicPr>
            <p:cNvPr id="65" name="Picture 64">
              <a:extLst>
                <a:ext uri="{FF2B5EF4-FFF2-40B4-BE49-F238E27FC236}">
                  <a16:creationId xmlns:a16="http://schemas.microsoft.com/office/drawing/2014/main" id="{D5F7AA50-36FB-15AF-B291-E811588D4763}"/>
                </a:ext>
              </a:extLst>
            </p:cNvPr>
            <p:cNvPicPr>
              <a:picLocks noChangeAspect="1"/>
            </p:cNvPicPr>
            <p:nvPr/>
          </p:nvPicPr>
          <p:blipFill>
            <a:blip r:embed="rId7">
              <a:alphaModFix amt="85000"/>
            </a:blip>
            <a:srcRect l="9259" r="7231" b="253"/>
            <a:stretch>
              <a:fillRect/>
            </a:stretch>
          </p:blipFill>
          <p:spPr>
            <a:xfrm rot="5400000">
              <a:off x="6570223" y="2641972"/>
              <a:ext cx="4079676" cy="2031425"/>
            </a:xfrm>
            <a:prstGeom prst="triangle">
              <a:avLst>
                <a:gd name="adj" fmla="val 50152"/>
              </a:avLst>
            </a:prstGeom>
            <a:grpFill/>
          </p:spPr>
        </p:pic>
        <p:pic>
          <p:nvPicPr>
            <p:cNvPr id="66" name="Picture 65">
              <a:extLst>
                <a:ext uri="{FF2B5EF4-FFF2-40B4-BE49-F238E27FC236}">
                  <a16:creationId xmlns:a16="http://schemas.microsoft.com/office/drawing/2014/main" id="{C09EE8F4-C49D-B778-EBE6-024FAAA759A2}"/>
                </a:ext>
              </a:extLst>
            </p:cNvPr>
            <p:cNvPicPr>
              <a:picLocks noChangeAspect="1"/>
            </p:cNvPicPr>
            <p:nvPr/>
          </p:nvPicPr>
          <p:blipFill>
            <a:blip r:embed="rId7">
              <a:alphaModFix amt="85000"/>
            </a:blip>
            <a:srcRect l="9259" r="7231" b="253"/>
            <a:stretch>
              <a:fillRect/>
            </a:stretch>
          </p:blipFill>
          <p:spPr>
            <a:xfrm rot="5400000">
              <a:off x="5594547" y="2996692"/>
              <a:ext cx="2699334" cy="1344101"/>
            </a:xfrm>
            <a:prstGeom prst="triangle">
              <a:avLst>
                <a:gd name="adj" fmla="val 50152"/>
              </a:avLst>
            </a:prstGeom>
            <a:grpFill/>
          </p:spPr>
        </p:pic>
      </p:grpSp>
    </p:spTree>
    <p:extLst>
      <p:ext uri="{BB962C8B-B14F-4D97-AF65-F5344CB8AC3E}">
        <p14:creationId xmlns:p14="http://schemas.microsoft.com/office/powerpoint/2010/main" val="17557922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p15="http://schemas.microsoft.com/office/powerpoint/2012/main"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Agenda">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1F9D254-1741-FF23-86F2-28EFE04C026C}"/>
              </a:ext>
              <a:ext uri="{C183D7F6-B498-43B3-948B-1728B52AA6E4}">
                <adec:decorative xmlns:adec="http://schemas.microsoft.com/office/drawing/2017/decorative" val="1"/>
              </a:ext>
            </a:extLst>
          </p:cNvPr>
          <p:cNvCxnSpPr>
            <a:cxnSpLocks/>
          </p:cNvCxnSpPr>
          <p:nvPr userDrawn="1"/>
        </p:nvCxnSpPr>
        <p:spPr>
          <a:xfrm>
            <a:off x="585216" y="1615352"/>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01F6BE7-4508-F83A-F8B0-686CB2068EB5}"/>
              </a:ext>
              <a:ext uri="{C183D7F6-B498-43B3-948B-1728B52AA6E4}">
                <adec:decorative xmlns:adec="http://schemas.microsoft.com/office/drawing/2017/decorative" val="1"/>
              </a:ext>
            </a:extLst>
          </p:cNvPr>
          <p:cNvCxnSpPr>
            <a:cxnSpLocks/>
          </p:cNvCxnSpPr>
          <p:nvPr userDrawn="1"/>
        </p:nvCxnSpPr>
        <p:spPr>
          <a:xfrm>
            <a:off x="4354523" y="1615352"/>
            <a:ext cx="7254865" cy="0"/>
          </a:xfrm>
          <a:prstGeom prst="line">
            <a:avLst/>
          </a:prstGeom>
          <a:ln w="190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05078651-ED0B-66F9-B1D3-81627E528F74}"/>
              </a:ext>
              <a:ext uri="{C183D7F6-B498-43B3-948B-1728B52AA6E4}">
                <adec:decorative xmlns:adec="http://schemas.microsoft.com/office/drawing/2017/decorative" val="1"/>
              </a:ext>
            </a:extLst>
          </p:cNvPr>
          <p:cNvPicPr>
            <a:picLocks noChangeAspect="1"/>
          </p:cNvPicPr>
          <p:nvPr userDrawn="1"/>
        </p:nvPicPr>
        <p:blipFill>
          <a:blip r:embed="rId2"/>
          <a:srcRect t="12129" b="60862"/>
          <a:stretch>
            <a:fillRect/>
          </a:stretch>
        </p:blipFill>
        <p:spPr>
          <a:xfrm>
            <a:off x="0" y="5010150"/>
            <a:ext cx="12230100" cy="1859138"/>
          </a:xfrm>
          <a:prstGeom prst="rect">
            <a:avLst/>
          </a:prstGeom>
        </p:spPr>
      </p:pic>
      <p:pic>
        <p:nvPicPr>
          <p:cNvPr id="3" name="Picture 2">
            <a:extLst>
              <a:ext uri="{FF2B5EF4-FFF2-40B4-BE49-F238E27FC236}">
                <a16:creationId xmlns:a16="http://schemas.microsoft.com/office/drawing/2014/main" id="{C5979807-E957-CED1-14ED-896F2CD5A2CB}"/>
              </a:ext>
              <a:ext uri="{C183D7F6-B498-43B3-948B-1728B52AA6E4}">
                <adec:decorative xmlns:adec="http://schemas.microsoft.com/office/drawing/2017/decorative" val="1"/>
              </a:ext>
            </a:extLst>
          </p:cNvPr>
          <p:cNvPicPr>
            <a:picLocks noChangeAspect="1"/>
          </p:cNvPicPr>
          <p:nvPr userDrawn="1"/>
        </p:nvPicPr>
        <p:blipFill>
          <a:blip r:embed="rId3"/>
          <a:srcRect l="888" t="-7662" r="-888" b="33968"/>
          <a:stretch>
            <a:fillRect/>
          </a:stretch>
        </p:blipFill>
        <p:spPr>
          <a:xfrm>
            <a:off x="438150" y="5021437"/>
            <a:ext cx="2689831" cy="1859139"/>
          </a:xfrm>
          <a:prstGeom prst="rect">
            <a:avLst/>
          </a:prstGeom>
        </p:spPr>
      </p:pic>
    </p:spTree>
    <p:extLst>
      <p:ext uri="{BB962C8B-B14F-4D97-AF65-F5344CB8AC3E}">
        <p14:creationId xmlns:p14="http://schemas.microsoft.com/office/powerpoint/2010/main" val="3922147229"/>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196710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Eyebrow">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5226606"/>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72941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92">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1">
          <p15:clr>
            <a:srgbClr val="5ACBF0"/>
          </p15:clr>
        </p15:guide>
        <p15:guide id="30" orient="horz" pos="288">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Eyebrow,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568460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042915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660770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12">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24743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sub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654663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257554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lumn, sub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89296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hree column, sub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506A92A-B3F9-0AB0-B70D-34D76A768B00}"/>
              </a:ext>
            </a:extLst>
          </p:cNvPr>
          <p:cNvSpPr/>
          <p:nvPr userDrawn="1"/>
        </p:nvSpPr>
        <p:spPr bwMode="auto">
          <a:xfrm>
            <a:off x="0" y="0"/>
            <a:ext cx="3074670" cy="6858000"/>
          </a:xfrm>
          <a:prstGeom prst="rect">
            <a:avLst/>
          </a:prstGeom>
          <a:gradFill>
            <a:gsLst>
              <a:gs pos="78000">
                <a:schemeClr val="accent1"/>
              </a:gs>
              <a:gs pos="11000">
                <a:srgbClr val="5647E5"/>
              </a:gs>
            </a:gsLst>
            <a:path path="circle">
              <a:fillToRect r="100000" b="10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600" err="1">
              <a:gradFill>
                <a:gsLst>
                  <a:gs pos="0">
                    <a:srgbClr val="FFFFFF"/>
                  </a:gs>
                  <a:gs pos="100000">
                    <a:srgbClr val="FFFFFF"/>
                  </a:gs>
                </a:gsLst>
                <a:lin ang="5400000" scaled="0"/>
              </a:gradFill>
              <a:ea typeface="+mn-ea"/>
              <a:cs typeface="+mn-cs"/>
            </a:endParaRPr>
          </a:p>
        </p:txBody>
      </p:sp>
      <p:grpSp>
        <p:nvGrpSpPr>
          <p:cNvPr id="20" name="Group 19">
            <a:extLst>
              <a:ext uri="{FF2B5EF4-FFF2-40B4-BE49-F238E27FC236}">
                <a16:creationId xmlns:a16="http://schemas.microsoft.com/office/drawing/2014/main" id="{2A29CA76-5D10-2B2D-E76B-C8D270AD60FC}"/>
              </a:ext>
            </a:extLst>
          </p:cNvPr>
          <p:cNvGrpSpPr/>
          <p:nvPr userDrawn="1"/>
        </p:nvGrpSpPr>
        <p:grpSpPr>
          <a:xfrm rot="18900000">
            <a:off x="1392259" y="5014967"/>
            <a:ext cx="1625644" cy="1485481"/>
            <a:chOff x="6243616" y="764731"/>
            <a:chExt cx="6268137" cy="5727701"/>
          </a:xfrm>
        </p:grpSpPr>
        <p:pic>
          <p:nvPicPr>
            <p:cNvPr id="21" name="Picture 20">
              <a:extLst>
                <a:ext uri="{FF2B5EF4-FFF2-40B4-BE49-F238E27FC236}">
                  <a16:creationId xmlns:a16="http://schemas.microsoft.com/office/drawing/2014/main" id="{9FC23B3B-8780-BE64-6CBF-57FF5A11C14B}"/>
                </a:ext>
              </a:extLst>
            </p:cNvPr>
            <p:cNvPicPr>
              <a:picLocks noChangeAspect="1"/>
            </p:cNvPicPr>
            <p:nvPr/>
          </p:nvPicPr>
          <p:blipFill>
            <a:blip r:embed="rId2">
              <a:alphaModFix amt="85000"/>
            </a:blip>
            <a:srcRect l="9259" r="7231" b="253"/>
            <a:stretch>
              <a:fillRect/>
            </a:stretch>
          </p:blipFill>
          <p:spPr>
            <a:xfrm rot="5400000">
              <a:off x="8221884" y="2202564"/>
              <a:ext cx="5727701" cy="2852036"/>
            </a:xfrm>
            <a:prstGeom prst="triangle">
              <a:avLst>
                <a:gd name="adj" fmla="val 50152"/>
              </a:avLst>
            </a:prstGeom>
          </p:spPr>
        </p:pic>
        <p:pic>
          <p:nvPicPr>
            <p:cNvPr id="22" name="Picture 21">
              <a:extLst>
                <a:ext uri="{FF2B5EF4-FFF2-40B4-BE49-F238E27FC236}">
                  <a16:creationId xmlns:a16="http://schemas.microsoft.com/office/drawing/2014/main" id="{4573CE65-85AA-2C39-1B8D-21F9EAD6A9F5}"/>
                </a:ext>
              </a:extLst>
            </p:cNvPr>
            <p:cNvPicPr>
              <a:picLocks noChangeAspect="1"/>
            </p:cNvPicPr>
            <p:nvPr/>
          </p:nvPicPr>
          <p:blipFill>
            <a:blip r:embed="rId2">
              <a:alphaModFix amt="85000"/>
            </a:blip>
            <a:srcRect l="9259" r="7231" b="253"/>
            <a:stretch>
              <a:fillRect/>
            </a:stretch>
          </p:blipFill>
          <p:spPr>
            <a:xfrm rot="5400000">
              <a:off x="6573312" y="2602614"/>
              <a:ext cx="4120872" cy="2051936"/>
            </a:xfrm>
            <a:prstGeom prst="triangle">
              <a:avLst>
                <a:gd name="adj" fmla="val 50152"/>
              </a:avLst>
            </a:prstGeom>
          </p:spPr>
        </p:pic>
        <p:pic>
          <p:nvPicPr>
            <p:cNvPr id="23" name="Picture 22">
              <a:extLst>
                <a:ext uri="{FF2B5EF4-FFF2-40B4-BE49-F238E27FC236}">
                  <a16:creationId xmlns:a16="http://schemas.microsoft.com/office/drawing/2014/main" id="{3CC3ADEE-7536-C279-9AE1-71D1BB17CCE6}"/>
                </a:ext>
              </a:extLst>
            </p:cNvPr>
            <p:cNvPicPr>
              <a:picLocks noChangeAspect="1"/>
            </p:cNvPicPr>
            <p:nvPr/>
          </p:nvPicPr>
          <p:blipFill>
            <a:blip r:embed="rId2">
              <a:alphaModFix amt="85000"/>
            </a:blip>
            <a:srcRect l="9259" r="7231" b="253"/>
            <a:stretch>
              <a:fillRect/>
            </a:stretch>
          </p:blipFill>
          <p:spPr>
            <a:xfrm rot="5400000">
              <a:off x="5555883" y="2946500"/>
              <a:ext cx="2739630" cy="1364164"/>
            </a:xfrm>
            <a:prstGeom prst="triangle">
              <a:avLst>
                <a:gd name="adj" fmla="val 50152"/>
              </a:avLst>
            </a:prstGeom>
          </p:spPr>
        </p:pic>
      </p:grpSp>
      <p:pic>
        <p:nvPicPr>
          <p:cNvPr id="33" name="Picture 32">
            <a:extLst>
              <a:ext uri="{FF2B5EF4-FFF2-40B4-BE49-F238E27FC236}">
                <a16:creationId xmlns:a16="http://schemas.microsoft.com/office/drawing/2014/main" id="{0C0F0A07-E0B2-52C1-D2F0-0822A44E1C08}"/>
              </a:ext>
            </a:extLst>
          </p:cNvPr>
          <p:cNvPicPr>
            <a:picLocks noChangeAspect="1"/>
          </p:cNvPicPr>
          <p:nvPr userDrawn="1"/>
        </p:nvPicPr>
        <p:blipFill>
          <a:blip r:embed="rId3"/>
          <a:stretch>
            <a:fillRect/>
          </a:stretch>
        </p:blipFill>
        <p:spPr>
          <a:xfrm>
            <a:off x="-230362" y="5796158"/>
            <a:ext cx="804741" cy="804741"/>
          </a:xfrm>
          <a:prstGeom prst="rect">
            <a:avLst/>
          </a:prstGeom>
        </p:spPr>
      </p:pic>
      <p:pic>
        <p:nvPicPr>
          <p:cNvPr id="34" name="Picture 33">
            <a:extLst>
              <a:ext uri="{FF2B5EF4-FFF2-40B4-BE49-F238E27FC236}">
                <a16:creationId xmlns:a16="http://schemas.microsoft.com/office/drawing/2014/main" id="{37917D20-AA86-B0AD-4689-8E3B9818D22B}"/>
              </a:ext>
            </a:extLst>
          </p:cNvPr>
          <p:cNvPicPr>
            <a:picLocks noChangeAspect="1"/>
          </p:cNvPicPr>
          <p:nvPr userDrawn="1"/>
        </p:nvPicPr>
        <p:blipFill>
          <a:blip r:embed="rId4">
            <a:alphaModFix amt="42000"/>
            <a:extLst>
              <a:ext uri="{BEBA8EAE-BF5A-486C-A8C5-ECC9F3942E4B}">
                <a14:imgProps xmlns:a14="http://schemas.microsoft.com/office/drawing/2010/main">
                  <a14:imgLayer r:embed="rId5">
                    <a14:imgEffect>
                      <a14:artisticBlur radius="14"/>
                    </a14:imgEffect>
                  </a14:imgLayer>
                </a14:imgProps>
              </a:ext>
            </a:extLst>
          </a:blip>
          <a:srcRect l="5472" t="3940"/>
          <a:stretch>
            <a:fillRect/>
          </a:stretch>
        </p:blipFill>
        <p:spPr>
          <a:xfrm>
            <a:off x="-1" y="0"/>
            <a:ext cx="1731607" cy="1450371"/>
          </a:xfrm>
          <a:prstGeom prst="rect">
            <a:avLst/>
          </a:prstGeom>
        </p:spPr>
      </p:pic>
      <p:sp>
        <p:nvSpPr>
          <p:cNvPr id="36" name="Rectangle 35">
            <a:extLst>
              <a:ext uri="{FF2B5EF4-FFF2-40B4-BE49-F238E27FC236}">
                <a16:creationId xmlns:a16="http://schemas.microsoft.com/office/drawing/2014/main" id="{6AA1D94F-D026-03F7-F60A-65F66C8A1550}"/>
              </a:ext>
            </a:extLst>
          </p:cNvPr>
          <p:cNvSpPr/>
          <p:nvPr userDrawn="1"/>
        </p:nvSpPr>
        <p:spPr bwMode="auto">
          <a:xfrm>
            <a:off x="1903975" y="3039654"/>
            <a:ext cx="885761" cy="885761"/>
          </a:xfrm>
          <a:prstGeom prst="rect">
            <a:avLst/>
          </a:prstGeom>
          <a:solidFill>
            <a:srgbClr val="00FFFF">
              <a:alpha val="10196"/>
            </a:srgbClr>
          </a:solidFill>
          <a:ln w="9525" cap="flat" cmpd="sng" algn="ctr">
            <a:noFill/>
            <a:prstDash val="solid"/>
            <a:headEnd type="none" w="med" len="med"/>
            <a:tailEnd type="none" w="med" len="med"/>
          </a:ln>
          <a:effectLst>
            <a:softEdge rad="1270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sp>
        <p:nvSpPr>
          <p:cNvPr id="37" name="Rectangle 36">
            <a:extLst>
              <a:ext uri="{FF2B5EF4-FFF2-40B4-BE49-F238E27FC236}">
                <a16:creationId xmlns:a16="http://schemas.microsoft.com/office/drawing/2014/main" id="{E68048D9-0FB2-C6BB-6453-3C3003B5EC05}"/>
              </a:ext>
            </a:extLst>
          </p:cNvPr>
          <p:cNvSpPr/>
          <p:nvPr userDrawn="1"/>
        </p:nvSpPr>
        <p:spPr bwMode="auto">
          <a:xfrm>
            <a:off x="717255" y="4497987"/>
            <a:ext cx="599447" cy="599447"/>
          </a:xfrm>
          <a:prstGeom prst="rect">
            <a:avLst/>
          </a:prstGeom>
          <a:solidFill>
            <a:srgbClr val="00FFFF">
              <a:alpha val="10196"/>
            </a:srgbClr>
          </a:solidFill>
          <a:ln w="9525" cap="flat" cmpd="sng" algn="ctr">
            <a:noFill/>
            <a:prstDash val="solid"/>
            <a:headEnd type="none" w="med" len="med"/>
            <a:tailEnd type="none" w="med" len="med"/>
          </a:ln>
          <a:effectLst>
            <a:softEdge rad="1270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spTree>
    <p:extLst>
      <p:ext uri="{BB962C8B-B14F-4D97-AF65-F5344CB8AC3E}">
        <p14:creationId xmlns:p14="http://schemas.microsoft.com/office/powerpoint/2010/main" val="4258539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our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548149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ur column, sub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67396756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yebrow, title, content, photo">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6039546"/>
      </p:ext>
    </p:extLst>
  </p:cSld>
  <p:clrMapOvr>
    <a:masterClrMapping/>
  </p:clrMapOvr>
  <p:transition>
    <p:fade/>
  </p:transition>
  <p:extLst>
    <p:ext uri="{DCECCB84-F9BA-43D5-87BE-67443E8EF086}">
      <p15:sldGuideLst xmlns:p15="http://schemas.microsoft.com/office/powerpoint/2012/main">
        <p15:guide id="6" pos="768">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6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1">
          <p15:clr>
            <a:srgbClr val="5ACBF0"/>
          </p15:clr>
        </p15:guide>
        <p15:guide id="30"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content, photo">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447872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12">
          <p15:clr>
            <a:srgbClr val="5ACBF0"/>
          </p15:clr>
        </p15:guide>
        <p15:guide id="7" orient="horz" pos="1276">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photo">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17382"/>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12">
          <p15:clr>
            <a:srgbClr val="5ACBF0"/>
          </p15:clr>
        </p15:guide>
        <p15:guide id="7" orient="horz" pos="1276">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3 Eyebrow, title,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29A12C-296F-CE07-4162-3AB818D87BF8}"/>
              </a:ext>
              <a:ext uri="{C183D7F6-B498-43B3-948B-1728B52AA6E4}">
                <adec:decorative xmlns:adec="http://schemas.microsoft.com/office/drawing/2017/decorative" val="1"/>
              </a:ext>
            </a:extLst>
          </p:cNvPr>
          <p:cNvSpPr/>
          <p:nvPr userDrawn="1"/>
        </p:nvSpPr>
        <p:spPr>
          <a:xfrm>
            <a:off x="0" y="0"/>
            <a:ext cx="483235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829787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3 Title, subtitle,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29A12C-296F-CE07-4162-3AB818D87BF8}"/>
              </a:ext>
              <a:ext uri="{C183D7F6-B498-43B3-948B-1728B52AA6E4}">
                <adec:decorative xmlns:adec="http://schemas.microsoft.com/office/drawing/2017/decorative" val="1"/>
              </a:ext>
            </a:extLst>
          </p:cNvPr>
          <p:cNvSpPr/>
          <p:nvPr userDrawn="1"/>
        </p:nvSpPr>
        <p:spPr>
          <a:xfrm>
            <a:off x="0" y="0"/>
            <a:ext cx="483235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7732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alf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3B2449-29BC-FA3D-8E8C-DCCEE8B99D26}"/>
              </a:ext>
              <a:ext uri="{C183D7F6-B498-43B3-948B-1728B52AA6E4}">
                <adec:decorative xmlns:adec="http://schemas.microsoft.com/office/drawing/2017/decorative" val="1"/>
              </a:ext>
            </a:extLst>
          </p:cNvPr>
          <p:cNvSpPr/>
          <p:nvPr userDrawn="1"/>
        </p:nvSpPr>
        <p:spPr>
          <a:xfrm>
            <a:off x="0" y="0"/>
            <a:ext cx="5883367"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982419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photo">
    <p:spTree>
      <p:nvGrpSpPr>
        <p:cNvPr id="1" name=""/>
        <p:cNvGrpSpPr/>
        <p:nvPr/>
      </p:nvGrpSpPr>
      <p:grpSpPr>
        <a:xfrm>
          <a:off x="0" y="0"/>
          <a:ext cx="0" cy="0"/>
          <a:chOff x="0" y="0"/>
          <a:chExt cx="0" cy="0"/>
        </a:xfrm>
      </p:grpSpPr>
    </p:spTree>
    <p:extLst>
      <p:ext uri="{BB962C8B-B14F-4D97-AF65-F5344CB8AC3E}">
        <p14:creationId xmlns:p14="http://schemas.microsoft.com/office/powerpoint/2010/main" val="851253692"/>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photo">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81075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81366148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868094857"/>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725821670"/>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92799447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32583555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7011292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92539427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70009354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91896186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ustom 1">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5625DDDD-BCEA-980C-0DD6-4498255CDDCE}"/>
              </a:ext>
            </a:extLst>
          </p:cNvPr>
          <p:cNvSpPr/>
          <p:nvPr userDrawn="1"/>
        </p:nvSpPr>
        <p:spPr bwMode="auto">
          <a:xfrm>
            <a:off x="380999" y="384891"/>
            <a:ext cx="11451772" cy="6086968"/>
          </a:xfrm>
          <a:prstGeom prst="roundRect">
            <a:avLst>
              <a:gd name="adj" fmla="val 5937"/>
            </a:avLst>
          </a:prstGeom>
          <a:solidFill>
            <a:schemeClr val="tx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mn-ea"/>
              <a:cs typeface="+mn-cs"/>
            </a:endParaRPr>
          </a:p>
        </p:txBody>
      </p:sp>
    </p:spTree>
    <p:extLst>
      <p:ext uri="{BB962C8B-B14F-4D97-AF65-F5344CB8AC3E}">
        <p14:creationId xmlns:p14="http://schemas.microsoft.com/office/powerpoint/2010/main" val="356411763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p15="http://schemas.microsoft.com/office/powerpoint/2012/main">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Y27 Approved Content Panel">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5625DDDD-BCEA-980C-0DD6-4498255CDDCE}"/>
              </a:ext>
            </a:extLst>
          </p:cNvPr>
          <p:cNvSpPr/>
          <p:nvPr userDrawn="1"/>
        </p:nvSpPr>
        <p:spPr bwMode="auto">
          <a:xfrm>
            <a:off x="259080" y="213360"/>
            <a:ext cx="11673840" cy="6461760"/>
          </a:xfrm>
          <a:prstGeom prst="roundRect">
            <a:avLst>
              <a:gd name="adj" fmla="val 5937"/>
            </a:avLst>
          </a:prstGeom>
          <a:solidFill>
            <a:schemeClr val="tx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mn-ea"/>
              <a:cs typeface="+mn-cs"/>
            </a:endParaRPr>
          </a:p>
        </p:txBody>
      </p:sp>
    </p:spTree>
    <p:extLst>
      <p:ext uri="{BB962C8B-B14F-4D97-AF65-F5344CB8AC3E}">
        <p14:creationId xmlns:p14="http://schemas.microsoft.com/office/powerpoint/2010/main" val="1400615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p15="http://schemas.microsoft.com/office/powerpoint/2012/main">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ustom 2">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D7069F5-ECAE-A945-0844-15DC30A1FF4F}"/>
              </a:ext>
            </a:extLst>
          </p:cNvPr>
          <p:cNvSpPr/>
          <p:nvPr userDrawn="1"/>
        </p:nvSpPr>
        <p:spPr bwMode="auto">
          <a:xfrm>
            <a:off x="380999" y="384891"/>
            <a:ext cx="11451772" cy="6086968"/>
          </a:xfrm>
          <a:prstGeom prst="roundRect">
            <a:avLst>
              <a:gd name="adj" fmla="val 5937"/>
            </a:avLst>
          </a:prstGeom>
          <a:solidFill>
            <a:schemeClr val="tx1">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mn-ea"/>
              <a:cs typeface="+mn-cs"/>
            </a:endParaRPr>
          </a:p>
        </p:txBody>
      </p:sp>
    </p:spTree>
    <p:extLst>
      <p:ext uri="{BB962C8B-B14F-4D97-AF65-F5344CB8AC3E}">
        <p14:creationId xmlns:p14="http://schemas.microsoft.com/office/powerpoint/2010/main" val="26113211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p15="http://schemas.microsoft.com/office/powerpoint/2012/main">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only, custom b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707946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custom bg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C339814-B73C-BD21-0761-7D5B97DB3FD2}"/>
              </a:ext>
            </a:extLst>
          </p:cNvPr>
          <p:cNvSpPr/>
          <p:nvPr userDrawn="1"/>
        </p:nvSpPr>
        <p:spPr bwMode="auto">
          <a:xfrm>
            <a:off x="0" y="0"/>
            <a:ext cx="12192000" cy="6858000"/>
          </a:xfrm>
          <a:prstGeom prst="rect">
            <a:avLst/>
          </a:prstGeom>
          <a:solidFill>
            <a:schemeClr val="bg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mn-ea"/>
              <a:cs typeface="+mn-cs"/>
            </a:endParaRPr>
          </a:p>
        </p:txBody>
      </p:sp>
    </p:spTree>
    <p:extLst>
      <p:ext uri="{BB962C8B-B14F-4D97-AF65-F5344CB8AC3E}">
        <p14:creationId xmlns:p14="http://schemas.microsoft.com/office/powerpoint/2010/main" val="96711756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Demo slide">
    <p:bg>
      <p:bgPr>
        <a:solidFill>
          <a:schemeClr val="bg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931306B-38D6-3BE0-BFA7-C1750168CE05}"/>
              </a:ext>
            </a:extLst>
          </p:cNvPr>
          <p:cNvPicPr>
            <a:picLocks noChangeAspect="1"/>
          </p:cNvPicPr>
          <p:nvPr userDrawn="1"/>
        </p:nvPicPr>
        <p:blipFill>
          <a:blip r:embed="rId2"/>
          <a:srcRect r="14423"/>
          <a:stretch>
            <a:fillRect/>
          </a:stretch>
        </p:blipFill>
        <p:spPr>
          <a:xfrm>
            <a:off x="-1" y="12699"/>
            <a:ext cx="12192001" cy="6874669"/>
          </a:xfrm>
          <a:prstGeom prst="rect">
            <a:avLst/>
          </a:prstGeom>
        </p:spPr>
      </p:pic>
    </p:spTree>
    <p:extLst>
      <p:ext uri="{BB962C8B-B14F-4D97-AF65-F5344CB8AC3E}">
        <p14:creationId xmlns:p14="http://schemas.microsoft.com/office/powerpoint/2010/main" val="26690600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Section Title">
    <p:bg>
      <p:bgPr>
        <a:solidFill>
          <a:schemeClr val="bg2"/>
        </a:solidFill>
        <a:effectLst/>
      </p:bgPr>
    </p:bg>
    <p:spTree>
      <p:nvGrpSpPr>
        <p:cNvPr id="1" name=""/>
        <p:cNvGrpSpPr/>
        <p:nvPr/>
      </p:nvGrpSpPr>
      <p:grpSpPr>
        <a:xfrm>
          <a:off x="0" y="0"/>
          <a:ext cx="0" cy="0"/>
          <a:chOff x="0" y="0"/>
          <a:chExt cx="0" cy="0"/>
        </a:xfrm>
      </p:grpSpPr>
      <p:pic>
        <p:nvPicPr>
          <p:cNvPr id="45" name="Picture 44">
            <a:extLst>
              <a:ext uri="{FF2B5EF4-FFF2-40B4-BE49-F238E27FC236}">
                <a16:creationId xmlns:a16="http://schemas.microsoft.com/office/drawing/2014/main" id="{B09A9A5C-3C97-AB54-69BB-A118E4E1B6C8}"/>
              </a:ext>
            </a:extLst>
          </p:cNvPr>
          <p:cNvPicPr>
            <a:picLocks noChangeAspect="1"/>
          </p:cNvPicPr>
          <p:nvPr userDrawn="1"/>
        </p:nvPicPr>
        <p:blipFill>
          <a:blip r:embed="rId2"/>
          <a:srcRect r="11193"/>
          <a:stretch>
            <a:fillRect/>
          </a:stretch>
        </p:blipFill>
        <p:spPr>
          <a:xfrm>
            <a:off x="0" y="-1"/>
            <a:ext cx="12192000" cy="6858001"/>
          </a:xfrm>
          <a:prstGeom prst="rect">
            <a:avLst/>
          </a:prstGeom>
        </p:spPr>
      </p:pic>
    </p:spTree>
    <p:extLst>
      <p:ext uri="{BB962C8B-B14F-4D97-AF65-F5344CB8AC3E}">
        <p14:creationId xmlns:p14="http://schemas.microsoft.com/office/powerpoint/2010/main" val="7410626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emo slide">
    <p:bg>
      <p:bgPr>
        <a:gradFill>
          <a:gsLst>
            <a:gs pos="100000">
              <a:schemeClr val="accent1"/>
            </a:gs>
            <a:gs pos="23000">
              <a:srgbClr val="5647E5"/>
            </a:gs>
          </a:gsLst>
          <a:path path="circle">
            <a:fillToRect r="100000" b="100000"/>
          </a:path>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38741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7604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ideo slide">
    <p:bg>
      <p:bgPr>
        <a:gradFill>
          <a:gsLst>
            <a:gs pos="100000">
              <a:schemeClr val="accent1"/>
            </a:gs>
            <a:gs pos="23000">
              <a:srgbClr val="5647E5"/>
            </a:gs>
          </a:gsLst>
          <a:path path="circle">
            <a:fillToRect r="100000" b="100000"/>
          </a:path>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49053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ideo slide 2">
    <p:spTree>
      <p:nvGrpSpPr>
        <p:cNvPr id="1" name=""/>
        <p:cNvGrpSpPr/>
        <p:nvPr/>
      </p:nvGrpSpPr>
      <p:grpSpPr>
        <a:xfrm>
          <a:off x="0" y="0"/>
          <a:ext cx="0" cy="0"/>
          <a:chOff x="0" y="0"/>
          <a:chExt cx="0" cy="0"/>
        </a:xfrm>
      </p:grpSpPr>
    </p:spTree>
    <p:extLst>
      <p:ext uri="{BB962C8B-B14F-4D97-AF65-F5344CB8AC3E}">
        <p14:creationId xmlns:p14="http://schemas.microsoft.com/office/powerpoint/2010/main" val="904397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a:gsLst>
            <a:gs pos="100000">
              <a:schemeClr val="accent1"/>
            </a:gs>
            <a:gs pos="23000">
              <a:srgbClr val="5647E5"/>
            </a:gs>
          </a:gsLst>
          <a:path path="circle">
            <a:fillToRect r="100000" b="100000"/>
          </a:path>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940CC3-E072-98C5-E6EC-C5E59D20F33F}"/>
              </a:ext>
            </a:extLst>
          </p:cNvPr>
          <p:cNvPicPr>
            <a:picLocks noChangeAspect="1"/>
          </p:cNvPicPr>
          <p:nvPr userDrawn="1"/>
        </p:nvPicPr>
        <p:blipFill>
          <a:blip r:embed="rId2"/>
          <a:stretch>
            <a:fillRect/>
          </a:stretch>
        </p:blipFill>
        <p:spPr>
          <a:xfrm>
            <a:off x="6558085" y="431800"/>
            <a:ext cx="5908430" cy="6858000"/>
          </a:xfrm>
          <a:prstGeom prst="rect">
            <a:avLst/>
          </a:prstGeom>
        </p:spPr>
      </p:pic>
    </p:spTree>
    <p:extLst>
      <p:ext uri="{BB962C8B-B14F-4D97-AF65-F5344CB8AC3E}">
        <p14:creationId xmlns:p14="http://schemas.microsoft.com/office/powerpoint/2010/main" val="15979907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p15="http://schemas.microsoft.com/office/powerpoint/2012/main">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Tree>
    <p:extLst>
      <p:ext uri="{BB962C8B-B14F-4D97-AF65-F5344CB8AC3E}">
        <p14:creationId xmlns:p14="http://schemas.microsoft.com/office/powerpoint/2010/main" val="680112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6277860"/>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hank you">
    <p:bg>
      <p:bgPr>
        <a:gradFill>
          <a:gsLst>
            <a:gs pos="100000">
              <a:schemeClr val="accent1"/>
            </a:gs>
            <a:gs pos="23000">
              <a:srgbClr val="5647E5"/>
            </a:gs>
          </a:gsLst>
          <a:path path="circle">
            <a:fillToRect r="100000" b="100000"/>
          </a:path>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39E7FAA-3651-075E-81AE-0B0FDA3FE2D9}"/>
              </a:ext>
            </a:extLst>
          </p:cNvPr>
          <p:cNvPicPr>
            <a:picLocks noChangeAspect="1"/>
          </p:cNvPicPr>
          <p:nvPr userDrawn="1"/>
        </p:nvPicPr>
        <p:blipFill>
          <a:blip r:embed="rId2"/>
          <a:stretch>
            <a:fillRect/>
          </a:stretch>
        </p:blipFill>
        <p:spPr>
          <a:xfrm>
            <a:off x="-1" y="-1"/>
            <a:ext cx="12192001" cy="6858001"/>
          </a:xfrm>
          <a:prstGeom prst="rect">
            <a:avLst/>
          </a:prstGeom>
        </p:spPr>
      </p:pic>
      <p:pic>
        <p:nvPicPr>
          <p:cNvPr id="24" name="Picture 23">
            <a:extLst>
              <a:ext uri="{FF2B5EF4-FFF2-40B4-BE49-F238E27FC236}">
                <a16:creationId xmlns:a16="http://schemas.microsoft.com/office/drawing/2014/main" id="{8B5FB171-660E-2507-F148-DB6D974BE053}"/>
              </a:ext>
            </a:extLst>
          </p:cNvPr>
          <p:cNvPicPr>
            <a:picLocks noChangeAspect="1"/>
          </p:cNvPicPr>
          <p:nvPr userDrawn="1"/>
        </p:nvPicPr>
        <p:blipFill>
          <a:blip r:embed="rId3">
            <a:alphaModFix amt="42000"/>
            <a:extLst>
              <a:ext uri="{BEBA8EAE-BF5A-486C-A8C5-ECC9F3942E4B}">
                <a14:imgProps xmlns:a14="http://schemas.microsoft.com/office/drawing/2010/main">
                  <a14:imgLayer r:embed="rId4">
                    <a14:imgEffect>
                      <a14:artisticBlur radius="14"/>
                    </a14:imgEffect>
                  </a14:imgLayer>
                </a14:imgProps>
              </a:ext>
            </a:extLst>
          </a:blip>
          <a:srcRect l="5472" t="3940"/>
          <a:stretch>
            <a:fillRect/>
          </a:stretch>
        </p:blipFill>
        <p:spPr>
          <a:xfrm>
            <a:off x="-88901" y="14820"/>
            <a:ext cx="6343012" cy="5312823"/>
          </a:xfrm>
          <a:prstGeom prst="rect">
            <a:avLst/>
          </a:prstGeom>
        </p:spPr>
      </p:pic>
      <p:cxnSp>
        <p:nvCxnSpPr>
          <p:cNvPr id="3" name="Straight Connector 2">
            <a:extLst>
              <a:ext uri="{FF2B5EF4-FFF2-40B4-BE49-F238E27FC236}">
                <a16:creationId xmlns:a16="http://schemas.microsoft.com/office/drawing/2014/main" id="{A2A8C9FB-DA50-4A8F-8640-7549B88AD9DC}"/>
              </a:ext>
            </a:extLst>
          </p:cNvPr>
          <p:cNvCxnSpPr>
            <a:cxnSpLocks/>
          </p:cNvCxnSpPr>
          <p:nvPr userDrawn="1"/>
        </p:nvCxnSpPr>
        <p:spPr>
          <a:xfrm flipH="1">
            <a:off x="4470400" y="1219200"/>
            <a:ext cx="7810500" cy="5638800"/>
          </a:xfrm>
          <a:prstGeom prst="line">
            <a:avLst/>
          </a:prstGeom>
          <a:ln w="19050">
            <a:solidFill>
              <a:srgbClr val="00FFFF">
                <a:alpha val="90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CAC11E6-2753-ADAC-DED2-750961DCEA80}"/>
              </a:ext>
            </a:extLst>
          </p:cNvPr>
          <p:cNvCxnSpPr>
            <a:cxnSpLocks/>
          </p:cNvCxnSpPr>
          <p:nvPr userDrawn="1"/>
        </p:nvCxnSpPr>
        <p:spPr>
          <a:xfrm flipH="1">
            <a:off x="7073900" y="1536700"/>
            <a:ext cx="5118100" cy="5321300"/>
          </a:xfrm>
          <a:prstGeom prst="line">
            <a:avLst/>
          </a:prstGeom>
          <a:ln w="19050">
            <a:solidFill>
              <a:schemeClr val="accent2">
                <a:lumMod val="20000"/>
                <a:lumOff val="80000"/>
                <a:alpha val="9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6B03FF8D-D667-39CC-0A46-C5103521DBEA}"/>
              </a:ext>
            </a:extLst>
          </p:cNvPr>
          <p:cNvGrpSpPr/>
          <p:nvPr userDrawn="1"/>
        </p:nvGrpSpPr>
        <p:grpSpPr>
          <a:xfrm rot="18900000">
            <a:off x="418991" y="5156372"/>
            <a:ext cx="1756171" cy="1912522"/>
            <a:chOff x="7695586" y="1599440"/>
            <a:chExt cx="1653337" cy="1800532"/>
          </a:xfrm>
        </p:grpSpPr>
        <p:pic>
          <p:nvPicPr>
            <p:cNvPr id="6" name="Picture 5">
              <a:extLst>
                <a:ext uri="{FF2B5EF4-FFF2-40B4-BE49-F238E27FC236}">
                  <a16:creationId xmlns:a16="http://schemas.microsoft.com/office/drawing/2014/main" id="{714BA0E2-98A4-9621-31E5-456EFDE213A7}"/>
                </a:ext>
              </a:extLst>
            </p:cNvPr>
            <p:cNvPicPr>
              <a:picLocks noChangeAspect="1"/>
            </p:cNvPicPr>
            <p:nvPr/>
          </p:nvPicPr>
          <p:blipFill>
            <a:blip r:embed="rId5">
              <a:alphaModFix amt="53000"/>
              <a:extLst>
                <a:ext uri="{BEBA8EAE-BF5A-486C-A8C5-ECC9F3942E4B}">
                  <a14:imgProps xmlns:a14="http://schemas.microsoft.com/office/drawing/2010/main">
                    <a14:imgLayer r:embed="rId6">
                      <a14:imgEffect>
                        <a14:artisticBlur radius="22"/>
                      </a14:imgEffect>
                    </a14:imgLayer>
                  </a14:imgProps>
                </a:ext>
              </a:extLst>
            </a:blip>
            <a:srcRect l="9259" r="7231" b="253"/>
            <a:stretch>
              <a:fillRect/>
            </a:stretch>
          </p:blipFill>
          <p:spPr>
            <a:xfrm rot="5400000">
              <a:off x="8000381" y="2051430"/>
              <a:ext cx="1800532" cy="896552"/>
            </a:xfrm>
            <a:prstGeom prst="triangle">
              <a:avLst>
                <a:gd name="adj" fmla="val 50152"/>
              </a:avLst>
            </a:prstGeom>
            <a:effectLst>
              <a:softEdge rad="101600"/>
            </a:effectLst>
          </p:spPr>
        </p:pic>
        <p:pic>
          <p:nvPicPr>
            <p:cNvPr id="8" name="Picture 7">
              <a:extLst>
                <a:ext uri="{FF2B5EF4-FFF2-40B4-BE49-F238E27FC236}">
                  <a16:creationId xmlns:a16="http://schemas.microsoft.com/office/drawing/2014/main" id="{0E965D8C-7502-ABDE-D9EE-3755076AFAA0}"/>
                </a:ext>
              </a:extLst>
            </p:cNvPr>
            <p:cNvPicPr>
              <a:picLocks noChangeAspect="1"/>
            </p:cNvPicPr>
            <p:nvPr/>
          </p:nvPicPr>
          <p:blipFill>
            <a:blip r:embed="rId7">
              <a:alphaModFix amt="53000"/>
            </a:blip>
            <a:srcRect l="9259" r="7231" b="253"/>
            <a:stretch>
              <a:fillRect/>
            </a:stretch>
          </p:blipFill>
          <p:spPr>
            <a:xfrm rot="5400000">
              <a:off x="7673966" y="2177188"/>
              <a:ext cx="1295417" cy="645037"/>
            </a:xfrm>
            <a:prstGeom prst="triangle">
              <a:avLst>
                <a:gd name="adj" fmla="val 50152"/>
              </a:avLst>
            </a:prstGeom>
            <a:effectLst>
              <a:softEdge rad="88900"/>
            </a:effectLst>
          </p:spPr>
        </p:pic>
        <p:pic>
          <p:nvPicPr>
            <p:cNvPr id="9" name="Picture 8">
              <a:extLst>
                <a:ext uri="{FF2B5EF4-FFF2-40B4-BE49-F238E27FC236}">
                  <a16:creationId xmlns:a16="http://schemas.microsoft.com/office/drawing/2014/main" id="{992B04EA-1366-3ABB-A933-5E914AD8C3B0}"/>
                </a:ext>
              </a:extLst>
            </p:cNvPr>
            <p:cNvPicPr>
              <a:picLocks noChangeAspect="1"/>
            </p:cNvPicPr>
            <p:nvPr/>
          </p:nvPicPr>
          <p:blipFill>
            <a:blip r:embed="rId7">
              <a:alphaModFix amt="53000"/>
            </a:blip>
            <a:srcRect l="9259" r="7231" b="253"/>
            <a:stretch>
              <a:fillRect/>
            </a:stretch>
          </p:blipFill>
          <p:spPr>
            <a:xfrm rot="5400000">
              <a:off x="7457774" y="2263850"/>
              <a:ext cx="947338" cy="471714"/>
            </a:xfrm>
            <a:prstGeom prst="triangle">
              <a:avLst>
                <a:gd name="adj" fmla="val 50152"/>
              </a:avLst>
            </a:prstGeom>
            <a:effectLst>
              <a:softEdge rad="76200"/>
            </a:effectLst>
          </p:spPr>
        </p:pic>
      </p:grpSp>
      <p:grpSp>
        <p:nvGrpSpPr>
          <p:cNvPr id="10" name="Group 9">
            <a:extLst>
              <a:ext uri="{FF2B5EF4-FFF2-40B4-BE49-F238E27FC236}">
                <a16:creationId xmlns:a16="http://schemas.microsoft.com/office/drawing/2014/main" id="{AD559C5D-9D79-9B75-3659-F3649A88E248}"/>
              </a:ext>
            </a:extLst>
          </p:cNvPr>
          <p:cNvGrpSpPr/>
          <p:nvPr userDrawn="1"/>
        </p:nvGrpSpPr>
        <p:grpSpPr>
          <a:xfrm rot="18900000">
            <a:off x="5306991" y="569401"/>
            <a:ext cx="3643978" cy="3329794"/>
            <a:chOff x="-4217559" y="-1588402"/>
            <a:chExt cx="6268137" cy="5727701"/>
          </a:xfrm>
        </p:grpSpPr>
        <p:pic>
          <p:nvPicPr>
            <p:cNvPr id="11" name="Picture 10">
              <a:extLst>
                <a:ext uri="{FF2B5EF4-FFF2-40B4-BE49-F238E27FC236}">
                  <a16:creationId xmlns:a16="http://schemas.microsoft.com/office/drawing/2014/main" id="{320078AF-992F-5A13-2D2B-DC47EE5FB17D}"/>
                </a:ext>
              </a:extLst>
            </p:cNvPr>
            <p:cNvPicPr>
              <a:picLocks noChangeAspect="1"/>
            </p:cNvPicPr>
            <p:nvPr/>
          </p:nvPicPr>
          <p:blipFill>
            <a:blip r:embed="rId7">
              <a:alphaModFix amt="85000"/>
            </a:blip>
            <a:srcRect l="9259" r="7231" b="253"/>
            <a:stretch>
              <a:fillRect/>
            </a:stretch>
          </p:blipFill>
          <p:spPr>
            <a:xfrm rot="5400000">
              <a:off x="-2239291" y="-150569"/>
              <a:ext cx="5727701" cy="2852036"/>
            </a:xfrm>
            <a:prstGeom prst="triangle">
              <a:avLst>
                <a:gd name="adj" fmla="val 50152"/>
              </a:avLst>
            </a:prstGeom>
          </p:spPr>
        </p:pic>
        <p:pic>
          <p:nvPicPr>
            <p:cNvPr id="12" name="Picture 11">
              <a:extLst>
                <a:ext uri="{FF2B5EF4-FFF2-40B4-BE49-F238E27FC236}">
                  <a16:creationId xmlns:a16="http://schemas.microsoft.com/office/drawing/2014/main" id="{68E34292-020B-03FC-777F-3B2B357351FD}"/>
                </a:ext>
              </a:extLst>
            </p:cNvPr>
            <p:cNvPicPr>
              <a:picLocks noChangeAspect="1"/>
            </p:cNvPicPr>
            <p:nvPr/>
          </p:nvPicPr>
          <p:blipFill>
            <a:blip r:embed="rId7">
              <a:alphaModFix amt="85000"/>
            </a:blip>
            <a:srcRect l="9259" r="7231" b="253"/>
            <a:stretch>
              <a:fillRect/>
            </a:stretch>
          </p:blipFill>
          <p:spPr>
            <a:xfrm rot="5400000">
              <a:off x="-3887865" y="249480"/>
              <a:ext cx="4120873" cy="2051937"/>
            </a:xfrm>
            <a:prstGeom prst="triangle">
              <a:avLst>
                <a:gd name="adj" fmla="val 50152"/>
              </a:avLst>
            </a:prstGeom>
          </p:spPr>
        </p:pic>
        <p:pic>
          <p:nvPicPr>
            <p:cNvPr id="13" name="Picture 12">
              <a:extLst>
                <a:ext uri="{FF2B5EF4-FFF2-40B4-BE49-F238E27FC236}">
                  <a16:creationId xmlns:a16="http://schemas.microsoft.com/office/drawing/2014/main" id="{5B9EC31B-91A6-88B0-DE2C-A2E5FFDD901F}"/>
                </a:ext>
              </a:extLst>
            </p:cNvPr>
            <p:cNvPicPr>
              <a:picLocks noChangeAspect="1"/>
            </p:cNvPicPr>
            <p:nvPr/>
          </p:nvPicPr>
          <p:blipFill>
            <a:blip r:embed="rId7">
              <a:alphaModFix amt="85000"/>
            </a:blip>
            <a:srcRect l="9259" r="7231" b="253"/>
            <a:stretch>
              <a:fillRect/>
            </a:stretch>
          </p:blipFill>
          <p:spPr>
            <a:xfrm rot="5400000">
              <a:off x="-4905292" y="593367"/>
              <a:ext cx="2739629" cy="1364164"/>
            </a:xfrm>
            <a:prstGeom prst="triangle">
              <a:avLst>
                <a:gd name="adj" fmla="val 50152"/>
              </a:avLst>
            </a:prstGeom>
          </p:spPr>
        </p:pic>
      </p:grpSp>
      <p:sp>
        <p:nvSpPr>
          <p:cNvPr id="14" name="Rectangle 13">
            <a:extLst>
              <a:ext uri="{FF2B5EF4-FFF2-40B4-BE49-F238E27FC236}">
                <a16:creationId xmlns:a16="http://schemas.microsoft.com/office/drawing/2014/main" id="{EF6DFBF6-361C-5A5F-F864-D0B552D295DD}"/>
              </a:ext>
            </a:extLst>
          </p:cNvPr>
          <p:cNvSpPr/>
          <p:nvPr userDrawn="1"/>
        </p:nvSpPr>
        <p:spPr bwMode="auto">
          <a:xfrm>
            <a:off x="6175309" y="5419114"/>
            <a:ext cx="271211" cy="271211"/>
          </a:xfrm>
          <a:prstGeom prst="rect">
            <a:avLst/>
          </a:prstGeom>
          <a:solidFill>
            <a:srgbClr val="379BDC"/>
          </a:solidFill>
          <a:ln>
            <a:noFill/>
            <a:headEnd type="none" w="med" len="med"/>
            <a:tailEnd type="none" w="med" len="med"/>
          </a:ln>
          <a:effectLst>
            <a:softEdge rad="1270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mn-ea"/>
              <a:cs typeface="+mn-cs"/>
            </a:endParaRPr>
          </a:p>
        </p:txBody>
      </p:sp>
      <p:sp>
        <p:nvSpPr>
          <p:cNvPr id="15" name="Rectangle 14">
            <a:extLst>
              <a:ext uri="{FF2B5EF4-FFF2-40B4-BE49-F238E27FC236}">
                <a16:creationId xmlns:a16="http://schemas.microsoft.com/office/drawing/2014/main" id="{DA9BD06E-34A5-13D7-F028-03E555646474}"/>
              </a:ext>
            </a:extLst>
          </p:cNvPr>
          <p:cNvSpPr/>
          <p:nvPr userDrawn="1"/>
        </p:nvSpPr>
        <p:spPr bwMode="auto">
          <a:xfrm>
            <a:off x="9530347" y="3864472"/>
            <a:ext cx="431575" cy="431575"/>
          </a:xfrm>
          <a:prstGeom prst="rect">
            <a:avLst/>
          </a:prstGeom>
          <a:solidFill>
            <a:srgbClr val="00FFFF"/>
          </a:solidFill>
          <a:ln>
            <a:noFill/>
            <a:headEnd type="none" w="med" len="med"/>
            <a:tailEnd type="none" w="med" len="med"/>
          </a:ln>
          <a:effectLst>
            <a:softEdge rad="3810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mn-ea"/>
              <a:cs typeface="+mn-cs"/>
            </a:endParaRPr>
          </a:p>
        </p:txBody>
      </p:sp>
      <p:sp>
        <p:nvSpPr>
          <p:cNvPr id="16" name="Rectangle 15">
            <a:extLst>
              <a:ext uri="{FF2B5EF4-FFF2-40B4-BE49-F238E27FC236}">
                <a16:creationId xmlns:a16="http://schemas.microsoft.com/office/drawing/2014/main" id="{436EAEBC-75F0-FC60-33BB-F9603B8B1C0D}"/>
              </a:ext>
            </a:extLst>
          </p:cNvPr>
          <p:cNvSpPr/>
          <p:nvPr userDrawn="1"/>
        </p:nvSpPr>
        <p:spPr bwMode="auto">
          <a:xfrm>
            <a:off x="3966480" y="3637380"/>
            <a:ext cx="885761" cy="885761"/>
          </a:xfrm>
          <a:prstGeom prst="rect">
            <a:avLst/>
          </a:prstGeom>
          <a:solidFill>
            <a:srgbClr val="00FFFF">
              <a:alpha val="10196"/>
            </a:srgbClr>
          </a:solidFill>
          <a:ln w="9525" cap="flat" cmpd="sng" algn="ctr">
            <a:noFill/>
            <a:prstDash val="solid"/>
            <a:headEnd type="none" w="med" len="med"/>
            <a:tailEnd type="none" w="med" len="med"/>
          </a:ln>
          <a:effectLst>
            <a:softEdge rad="1270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sp>
        <p:nvSpPr>
          <p:cNvPr id="19" name="Rectangle 18">
            <a:extLst>
              <a:ext uri="{FF2B5EF4-FFF2-40B4-BE49-F238E27FC236}">
                <a16:creationId xmlns:a16="http://schemas.microsoft.com/office/drawing/2014/main" id="{0880A957-913E-7A16-137A-80130895669E}"/>
              </a:ext>
            </a:extLst>
          </p:cNvPr>
          <p:cNvSpPr/>
          <p:nvPr userDrawn="1"/>
        </p:nvSpPr>
        <p:spPr bwMode="auto">
          <a:xfrm>
            <a:off x="3981278" y="2135747"/>
            <a:ext cx="599447" cy="599447"/>
          </a:xfrm>
          <a:prstGeom prst="rect">
            <a:avLst/>
          </a:prstGeom>
          <a:solidFill>
            <a:srgbClr val="00FFFF">
              <a:alpha val="10196"/>
            </a:srgbClr>
          </a:solidFill>
          <a:ln w="9525" cap="flat" cmpd="sng" algn="ctr">
            <a:noFill/>
            <a:prstDash val="solid"/>
            <a:headEnd type="none" w="med" len="med"/>
            <a:tailEnd type="none" w="med" len="med"/>
          </a:ln>
          <a:effectLst>
            <a:softEdge rad="1270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grpSp>
        <p:nvGrpSpPr>
          <p:cNvPr id="20" name="Group 19">
            <a:extLst>
              <a:ext uri="{FF2B5EF4-FFF2-40B4-BE49-F238E27FC236}">
                <a16:creationId xmlns:a16="http://schemas.microsoft.com/office/drawing/2014/main" id="{756023E1-1F41-CE93-983A-EED580E9A50B}"/>
              </a:ext>
            </a:extLst>
          </p:cNvPr>
          <p:cNvGrpSpPr/>
          <p:nvPr userDrawn="1"/>
        </p:nvGrpSpPr>
        <p:grpSpPr>
          <a:xfrm>
            <a:off x="10584890" y="3069891"/>
            <a:ext cx="1986501" cy="2749119"/>
            <a:chOff x="10525777" y="1998997"/>
            <a:chExt cx="3566833" cy="4936141"/>
          </a:xfrm>
        </p:grpSpPr>
        <p:pic>
          <p:nvPicPr>
            <p:cNvPr id="21" name="Picture 20">
              <a:extLst>
                <a:ext uri="{FF2B5EF4-FFF2-40B4-BE49-F238E27FC236}">
                  <a16:creationId xmlns:a16="http://schemas.microsoft.com/office/drawing/2014/main" id="{9BE5E0A7-A9DA-1D55-76B2-4777390414A8}"/>
                </a:ext>
              </a:extLst>
            </p:cNvPr>
            <p:cNvPicPr>
              <a:picLocks noChangeAspect="1"/>
            </p:cNvPicPr>
            <p:nvPr/>
          </p:nvPicPr>
          <p:blipFill>
            <a:blip r:embed="rId5">
              <a:alphaModFix amt="24000"/>
              <a:extLst>
                <a:ext uri="{BEBA8EAE-BF5A-486C-A8C5-ECC9F3942E4B}">
                  <a14:imgProps xmlns:a14="http://schemas.microsoft.com/office/drawing/2010/main">
                    <a14:imgLayer r:embed="rId6">
                      <a14:imgEffect>
                        <a14:artisticBlur radius="22"/>
                      </a14:imgEffect>
                    </a14:imgLayer>
                  </a14:imgProps>
                </a:ext>
              </a:extLst>
            </a:blip>
            <a:srcRect l="9259" r="7231" b="253"/>
            <a:stretch>
              <a:fillRect/>
            </a:stretch>
          </p:blipFill>
          <p:spPr>
            <a:xfrm rot="2700000">
              <a:off x="11010262" y="3032106"/>
              <a:ext cx="4115458" cy="2049239"/>
            </a:xfrm>
            <a:prstGeom prst="triangle">
              <a:avLst>
                <a:gd name="adj" fmla="val 50152"/>
              </a:avLst>
            </a:prstGeom>
            <a:effectLst>
              <a:softEdge rad="38100"/>
            </a:effectLst>
          </p:spPr>
        </p:pic>
        <p:pic>
          <p:nvPicPr>
            <p:cNvPr id="22" name="Picture 21">
              <a:extLst>
                <a:ext uri="{FF2B5EF4-FFF2-40B4-BE49-F238E27FC236}">
                  <a16:creationId xmlns:a16="http://schemas.microsoft.com/office/drawing/2014/main" id="{92CE48A8-7864-DFBB-4543-0D47E77A342E}"/>
                </a:ext>
              </a:extLst>
            </p:cNvPr>
            <p:cNvPicPr>
              <a:picLocks noChangeAspect="1"/>
            </p:cNvPicPr>
            <p:nvPr/>
          </p:nvPicPr>
          <p:blipFill>
            <a:blip r:embed="rId7">
              <a:alphaModFix amt="24000"/>
            </a:blip>
            <a:srcRect l="9259" r="7231" b="253"/>
            <a:stretch>
              <a:fillRect/>
            </a:stretch>
          </p:blipFill>
          <p:spPr>
            <a:xfrm rot="2700000">
              <a:off x="10445558" y="4509514"/>
              <a:ext cx="2960922" cy="1474355"/>
            </a:xfrm>
            <a:prstGeom prst="triangle">
              <a:avLst>
                <a:gd name="adj" fmla="val 50152"/>
              </a:avLst>
            </a:prstGeom>
            <a:effectLst>
              <a:softEdge rad="38100"/>
            </a:effectLst>
          </p:spPr>
        </p:pic>
        <p:pic>
          <p:nvPicPr>
            <p:cNvPr id="23" name="Picture 22">
              <a:extLst>
                <a:ext uri="{FF2B5EF4-FFF2-40B4-BE49-F238E27FC236}">
                  <a16:creationId xmlns:a16="http://schemas.microsoft.com/office/drawing/2014/main" id="{97C70F73-2B39-CAE3-7814-CCA5627D4B78}"/>
                </a:ext>
              </a:extLst>
            </p:cNvPr>
            <p:cNvPicPr>
              <a:picLocks noChangeAspect="1"/>
            </p:cNvPicPr>
            <p:nvPr/>
          </p:nvPicPr>
          <p:blipFill>
            <a:blip r:embed="rId7">
              <a:alphaModFix amt="24000"/>
            </a:blip>
            <a:srcRect l="9259" r="7231" b="253"/>
            <a:stretch>
              <a:fillRect/>
            </a:stretch>
          </p:blipFill>
          <p:spPr>
            <a:xfrm rot="2700000">
              <a:off x="10031627" y="5460813"/>
              <a:ext cx="1968475" cy="980175"/>
            </a:xfrm>
            <a:prstGeom prst="triangle">
              <a:avLst>
                <a:gd name="adj" fmla="val 50152"/>
              </a:avLst>
            </a:prstGeom>
            <a:effectLst>
              <a:softEdge rad="38100"/>
            </a:effectLst>
          </p:spPr>
        </p:pic>
      </p:grpSp>
      <p:sp>
        <p:nvSpPr>
          <p:cNvPr id="7" name="Title 1">
            <a:extLst>
              <a:ext uri="{FF2B5EF4-FFF2-40B4-BE49-F238E27FC236}">
                <a16:creationId xmlns:a16="http://schemas.microsoft.com/office/drawing/2014/main" id="{E4334D10-ACF2-D848-265B-AD4B0820D90D}"/>
              </a:ext>
            </a:extLst>
          </p:cNvPr>
          <p:cNvSpPr txBox="1">
            <a:spLocks/>
          </p:cNvSpPr>
          <p:nvPr userDrawn="1"/>
        </p:nvSpPr>
        <p:spPr>
          <a:xfrm>
            <a:off x="585217" y="3035808"/>
            <a:ext cx="4159628" cy="498598"/>
          </a:xfrm>
          <a:prstGeom prst="rect">
            <a:avLst/>
          </a:prstGeom>
          <a:noFill/>
        </p:spPr>
        <p:txBody>
          <a:bodyPr vert="horz" wrap="square" lIns="0" tIns="0" rIns="0" bIns="0" rtlCol="0" anchor="b" anchorCtr="0">
            <a:spAutoFit/>
          </a:bodyPr>
          <a:lstStyle>
            <a:lvl1pPr algn="l" defTabSz="932742" rtl="0" eaLnBrk="1" latinLnBrk="0" hangingPunct="1">
              <a:lnSpc>
                <a:spcPct val="90000"/>
              </a:lnSpc>
              <a:spcBef>
                <a:spcPct val="0"/>
              </a:spcBef>
              <a:buNone/>
              <a:defRPr lang="en-US" sz="3600" b="1" i="0" kern="1200" cap="none" spc="-50" baseline="0" dirty="0">
                <a:ln w="3175">
                  <a:noFill/>
                </a:ln>
                <a:solidFill>
                  <a:schemeClr val="bg2"/>
                </a:solidFill>
                <a:effectLst/>
                <a:latin typeface="+mj-lt"/>
                <a:ea typeface="+mn-ea"/>
                <a:cs typeface="+mj-cs"/>
              </a:defRPr>
            </a:lvl1pPr>
          </a:lstStyle>
          <a:p>
            <a:r>
              <a:rPr lang="en-US" dirty="0">
                <a:solidFill>
                  <a:schemeClr val="bg1"/>
                </a:solidFill>
                <a:cs typeface="+mj-cs"/>
              </a:rPr>
              <a:t>Thank you.</a:t>
            </a:r>
          </a:p>
        </p:txBody>
      </p:sp>
      <p:pic>
        <p:nvPicPr>
          <p:cNvPr id="17" name="MS logo white - EMF" descr="Microsoft logo white text version">
            <a:extLst>
              <a:ext uri="{FF2B5EF4-FFF2-40B4-BE49-F238E27FC236}">
                <a16:creationId xmlns:a16="http://schemas.microsoft.com/office/drawing/2014/main" id="{731BD085-0E46-60A2-F92F-769EB9E81731}"/>
              </a:ext>
            </a:extLst>
          </p:cNvPr>
          <p:cNvPicPr>
            <a:picLocks noChangeAspect="1"/>
          </p:cNvPicPr>
          <p:nvPr userDrawn="1"/>
        </p:nvPicPr>
        <p:blipFill>
          <a:blip r:embed="rId8"/>
          <a:stretch>
            <a:fillRect/>
          </a:stretch>
        </p:blipFill>
        <p:spPr bwMode="black">
          <a:xfrm>
            <a:off x="584200" y="585788"/>
            <a:ext cx="1366245" cy="292608"/>
          </a:xfrm>
          <a:prstGeom prst="rect">
            <a:avLst/>
          </a:prstGeom>
        </p:spPr>
      </p:pic>
      <p:sp>
        <p:nvSpPr>
          <p:cNvPr id="18" name="Text Box 3" descr="This is a copyright notice that should be included on the final slide.">
            <a:extLst>
              <a:ext uri="{FF2B5EF4-FFF2-40B4-BE49-F238E27FC236}">
                <a16:creationId xmlns:a16="http://schemas.microsoft.com/office/drawing/2014/main" id="{EA94AFF6-01CF-222C-CDEB-17499F1D3DFC}"/>
              </a:ext>
            </a:extLst>
          </p:cNvPr>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rgbClr val="FFFFFF"/>
                </a:solidFill>
                <a:cs typeface="+mn-cs"/>
              </a:rPr>
              <a:t>© Copyright 2025 Microsoft Corporation. All rights reserved. </a:t>
            </a:r>
          </a:p>
        </p:txBody>
      </p:sp>
    </p:spTree>
    <p:extLst>
      <p:ext uri="{BB962C8B-B14F-4D97-AF65-F5344CB8AC3E}">
        <p14:creationId xmlns:p14="http://schemas.microsoft.com/office/powerpoint/2010/main" val="3113430702"/>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path" presetSubtype="0" accel="50000" decel="50000" fill="hold" nodeType="withEffect">
                                  <p:stCondLst>
                                    <p:cond delay="0"/>
                                  </p:stCondLst>
                                  <p:childTnLst>
                                    <p:animMotion origin="layout" path="M 4.58333E-6 -4.44444E-6 L 0.09661 -0.07569 " pathEditMode="relative" rAng="0" ptsTypes="AA">
                                      <p:cBhvr>
                                        <p:cTn id="6" dur="30000" fill="hold"/>
                                        <p:tgtEl>
                                          <p:spTgt spid="10"/>
                                        </p:tgtEl>
                                        <p:attrNameLst>
                                          <p:attrName>ppt_x</p:attrName>
                                          <p:attrName>ppt_y</p:attrName>
                                        </p:attrNameLst>
                                      </p:cBhvr>
                                      <p:rCtr x="4831" y="-3796"/>
                                    </p:animMotion>
                                  </p:childTnLst>
                                </p:cTn>
                              </p:par>
                              <p:par>
                                <p:cTn id="7" presetID="56" presetClass="path" presetSubtype="0" accel="50000" decel="50000" fill="hold" grpId="0" nodeType="withEffect">
                                  <p:stCondLst>
                                    <p:cond delay="0"/>
                                  </p:stCondLst>
                                  <p:childTnLst>
                                    <p:animMotion origin="layout" path="M 1.875E-6 -3.7037E-6 L 0.2164 -0.2831 " pathEditMode="relative" rAng="0" ptsTypes="AA">
                                      <p:cBhvr>
                                        <p:cTn id="8" dur="45000" fill="hold"/>
                                        <p:tgtEl>
                                          <p:spTgt spid="14"/>
                                        </p:tgtEl>
                                        <p:attrNameLst>
                                          <p:attrName>ppt_x</p:attrName>
                                          <p:attrName>ppt_y</p:attrName>
                                        </p:attrNameLst>
                                      </p:cBhvr>
                                      <p:rCtr x="10820" y="-14167"/>
                                    </p:animMotion>
                                  </p:childTnLst>
                                </p:cTn>
                              </p:par>
                              <p:par>
                                <p:cTn id="9" presetID="56" presetClass="path" presetSubtype="0" accel="50000" decel="50000" fill="hold" grpId="0" nodeType="withEffect">
                                  <p:stCondLst>
                                    <p:cond delay="0"/>
                                  </p:stCondLst>
                                  <p:childTnLst>
                                    <p:animMotion origin="layout" path="M 1.04167E-6 2.59259E-6 L 0.05221 -0.09491 " pathEditMode="relative" rAng="0" ptsTypes="AA">
                                      <p:cBhvr>
                                        <p:cTn id="10" dur="45000" fill="hold"/>
                                        <p:tgtEl>
                                          <p:spTgt spid="15"/>
                                        </p:tgtEl>
                                        <p:attrNameLst>
                                          <p:attrName>ppt_x</p:attrName>
                                          <p:attrName>ppt_y</p:attrName>
                                        </p:attrNameLst>
                                      </p:cBhvr>
                                      <p:rCtr x="2604" y="-4745"/>
                                    </p:animMotion>
                                  </p:childTnLst>
                                </p:cTn>
                              </p:par>
                              <p:par>
                                <p:cTn id="11" presetID="56" presetClass="path" presetSubtype="0" accel="50000" decel="50000" fill="hold" nodeType="withEffect">
                                  <p:stCondLst>
                                    <p:cond delay="0"/>
                                  </p:stCondLst>
                                  <p:childTnLst>
                                    <p:animMotion origin="layout" path="M -2.08333E-7 -3.7037E-6 L 0.05612 -0.06157 " pathEditMode="relative" rAng="0" ptsTypes="AA">
                                      <p:cBhvr>
                                        <p:cTn id="12" dur="45000" fill="hold"/>
                                        <p:tgtEl>
                                          <p:spTgt spid="5"/>
                                        </p:tgtEl>
                                        <p:attrNameLst>
                                          <p:attrName>ppt_x</p:attrName>
                                          <p:attrName>ppt_y</p:attrName>
                                        </p:attrNameLst>
                                      </p:cBhvr>
                                      <p:rCtr x="2799" y="-3079"/>
                                    </p:animMotion>
                                  </p:childTnLst>
                                </p:cTn>
                              </p:par>
                              <p:par>
                                <p:cTn id="13" presetID="56" presetClass="path" presetSubtype="0" accel="50000" decel="50000" fill="hold" nodeType="withEffect">
                                  <p:stCondLst>
                                    <p:cond delay="0"/>
                                  </p:stCondLst>
                                  <p:childTnLst>
                                    <p:animMotion origin="layout" path="M 6.25E-7 1.85185E-6 L 0.05768 -0.0463 " pathEditMode="relative" rAng="0" ptsTypes="AA">
                                      <p:cBhvr>
                                        <p:cTn id="14" dur="45000" fill="hold"/>
                                        <p:tgtEl>
                                          <p:spTgt spid="20"/>
                                        </p:tgtEl>
                                        <p:attrNameLst>
                                          <p:attrName>ppt_x</p:attrName>
                                          <p:attrName>ppt_y</p:attrName>
                                        </p:attrNameLst>
                                      </p:cBhvr>
                                      <p:rCtr x="2878" y="-231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FY27 Process Section Divider">
    <p:bg>
      <p:bgPr>
        <a:gradFill>
          <a:gsLst>
            <a:gs pos="100000">
              <a:schemeClr val="accent1"/>
            </a:gs>
            <a:gs pos="23000">
              <a:srgbClr val="5647E5"/>
            </a:gs>
          </a:gsLst>
          <a:path path="circle">
            <a:fillToRect r="100000" b="100000"/>
          </a:path>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39E7FAA-3651-075E-81AE-0B0FDA3FE2D9}"/>
              </a:ext>
            </a:extLst>
          </p:cNvPr>
          <p:cNvPicPr>
            <a:picLocks noChangeAspect="1"/>
          </p:cNvPicPr>
          <p:nvPr userDrawn="1"/>
        </p:nvPicPr>
        <p:blipFill>
          <a:blip r:embed="rId2"/>
          <a:stretch>
            <a:fillRect/>
          </a:stretch>
        </p:blipFill>
        <p:spPr>
          <a:xfrm>
            <a:off x="-1" y="-1"/>
            <a:ext cx="12192001" cy="6858001"/>
          </a:xfrm>
          <a:prstGeom prst="rect">
            <a:avLst/>
          </a:prstGeom>
        </p:spPr>
      </p:pic>
      <p:pic>
        <p:nvPicPr>
          <p:cNvPr id="24" name="Picture 23">
            <a:extLst>
              <a:ext uri="{FF2B5EF4-FFF2-40B4-BE49-F238E27FC236}">
                <a16:creationId xmlns:a16="http://schemas.microsoft.com/office/drawing/2014/main" id="{8B5FB171-660E-2507-F148-DB6D974BE053}"/>
              </a:ext>
            </a:extLst>
          </p:cNvPr>
          <p:cNvPicPr>
            <a:picLocks noChangeAspect="1"/>
          </p:cNvPicPr>
          <p:nvPr userDrawn="1"/>
        </p:nvPicPr>
        <p:blipFill>
          <a:blip r:embed="rId3">
            <a:alphaModFix amt="42000"/>
            <a:extLst>
              <a:ext uri="{BEBA8EAE-BF5A-486C-A8C5-ECC9F3942E4B}">
                <a14:imgProps xmlns:a14="http://schemas.microsoft.com/office/drawing/2010/main">
                  <a14:imgLayer r:embed="rId4">
                    <a14:imgEffect>
                      <a14:artisticBlur radius="14"/>
                    </a14:imgEffect>
                  </a14:imgLayer>
                </a14:imgProps>
              </a:ext>
            </a:extLst>
          </a:blip>
          <a:srcRect l="5472" t="3940"/>
          <a:stretch>
            <a:fillRect/>
          </a:stretch>
        </p:blipFill>
        <p:spPr>
          <a:xfrm>
            <a:off x="-88901" y="14820"/>
            <a:ext cx="6343012" cy="5312823"/>
          </a:xfrm>
          <a:prstGeom prst="rect">
            <a:avLst/>
          </a:prstGeom>
        </p:spPr>
      </p:pic>
      <p:cxnSp>
        <p:nvCxnSpPr>
          <p:cNvPr id="3" name="Straight Connector 2">
            <a:extLst>
              <a:ext uri="{FF2B5EF4-FFF2-40B4-BE49-F238E27FC236}">
                <a16:creationId xmlns:a16="http://schemas.microsoft.com/office/drawing/2014/main" id="{A2A8C9FB-DA50-4A8F-8640-7549B88AD9DC}"/>
              </a:ext>
            </a:extLst>
          </p:cNvPr>
          <p:cNvCxnSpPr>
            <a:cxnSpLocks/>
          </p:cNvCxnSpPr>
          <p:nvPr userDrawn="1"/>
        </p:nvCxnSpPr>
        <p:spPr>
          <a:xfrm flipH="1">
            <a:off x="4470400" y="1219200"/>
            <a:ext cx="7810500" cy="5638800"/>
          </a:xfrm>
          <a:prstGeom prst="line">
            <a:avLst/>
          </a:prstGeom>
          <a:ln w="19050">
            <a:solidFill>
              <a:srgbClr val="00FFFF">
                <a:alpha val="90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CAC11E6-2753-ADAC-DED2-750961DCEA80}"/>
              </a:ext>
            </a:extLst>
          </p:cNvPr>
          <p:cNvCxnSpPr>
            <a:cxnSpLocks/>
          </p:cNvCxnSpPr>
          <p:nvPr userDrawn="1"/>
        </p:nvCxnSpPr>
        <p:spPr>
          <a:xfrm flipH="1">
            <a:off x="7073900" y="1536700"/>
            <a:ext cx="5118100" cy="5321300"/>
          </a:xfrm>
          <a:prstGeom prst="line">
            <a:avLst/>
          </a:prstGeom>
          <a:ln w="19050">
            <a:solidFill>
              <a:schemeClr val="accent2">
                <a:lumMod val="20000"/>
                <a:lumOff val="80000"/>
                <a:alpha val="9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6B03FF8D-D667-39CC-0A46-C5103521DBEA}"/>
              </a:ext>
            </a:extLst>
          </p:cNvPr>
          <p:cNvGrpSpPr/>
          <p:nvPr userDrawn="1"/>
        </p:nvGrpSpPr>
        <p:grpSpPr>
          <a:xfrm rot="18900000">
            <a:off x="418991" y="5156372"/>
            <a:ext cx="1756171" cy="1912522"/>
            <a:chOff x="7695586" y="1599440"/>
            <a:chExt cx="1653337" cy="1800532"/>
          </a:xfrm>
        </p:grpSpPr>
        <p:pic>
          <p:nvPicPr>
            <p:cNvPr id="6" name="Picture 5">
              <a:extLst>
                <a:ext uri="{FF2B5EF4-FFF2-40B4-BE49-F238E27FC236}">
                  <a16:creationId xmlns:a16="http://schemas.microsoft.com/office/drawing/2014/main" id="{714BA0E2-98A4-9621-31E5-456EFDE213A7}"/>
                </a:ext>
              </a:extLst>
            </p:cNvPr>
            <p:cNvPicPr>
              <a:picLocks noChangeAspect="1"/>
            </p:cNvPicPr>
            <p:nvPr/>
          </p:nvPicPr>
          <p:blipFill>
            <a:blip r:embed="rId5">
              <a:alphaModFix amt="53000"/>
              <a:extLst>
                <a:ext uri="{BEBA8EAE-BF5A-486C-A8C5-ECC9F3942E4B}">
                  <a14:imgProps xmlns:a14="http://schemas.microsoft.com/office/drawing/2010/main">
                    <a14:imgLayer r:embed="rId6">
                      <a14:imgEffect>
                        <a14:artisticBlur radius="22"/>
                      </a14:imgEffect>
                    </a14:imgLayer>
                  </a14:imgProps>
                </a:ext>
              </a:extLst>
            </a:blip>
            <a:srcRect l="9259" r="7231" b="253"/>
            <a:stretch>
              <a:fillRect/>
            </a:stretch>
          </p:blipFill>
          <p:spPr>
            <a:xfrm rot="5400000">
              <a:off x="8000381" y="2051430"/>
              <a:ext cx="1800532" cy="896552"/>
            </a:xfrm>
            <a:prstGeom prst="triangle">
              <a:avLst>
                <a:gd name="adj" fmla="val 50152"/>
              </a:avLst>
            </a:prstGeom>
            <a:effectLst>
              <a:softEdge rad="101600"/>
            </a:effectLst>
          </p:spPr>
        </p:pic>
        <p:pic>
          <p:nvPicPr>
            <p:cNvPr id="8" name="Picture 7">
              <a:extLst>
                <a:ext uri="{FF2B5EF4-FFF2-40B4-BE49-F238E27FC236}">
                  <a16:creationId xmlns:a16="http://schemas.microsoft.com/office/drawing/2014/main" id="{0E965D8C-7502-ABDE-D9EE-3755076AFAA0}"/>
                </a:ext>
              </a:extLst>
            </p:cNvPr>
            <p:cNvPicPr>
              <a:picLocks noChangeAspect="1"/>
            </p:cNvPicPr>
            <p:nvPr/>
          </p:nvPicPr>
          <p:blipFill>
            <a:blip r:embed="rId7">
              <a:alphaModFix amt="53000"/>
            </a:blip>
            <a:srcRect l="9259" r="7231" b="253"/>
            <a:stretch>
              <a:fillRect/>
            </a:stretch>
          </p:blipFill>
          <p:spPr>
            <a:xfrm rot="5400000">
              <a:off x="7673966" y="2177188"/>
              <a:ext cx="1295417" cy="645037"/>
            </a:xfrm>
            <a:prstGeom prst="triangle">
              <a:avLst>
                <a:gd name="adj" fmla="val 50152"/>
              </a:avLst>
            </a:prstGeom>
            <a:effectLst>
              <a:softEdge rad="88900"/>
            </a:effectLst>
          </p:spPr>
        </p:pic>
        <p:pic>
          <p:nvPicPr>
            <p:cNvPr id="9" name="Picture 8">
              <a:extLst>
                <a:ext uri="{FF2B5EF4-FFF2-40B4-BE49-F238E27FC236}">
                  <a16:creationId xmlns:a16="http://schemas.microsoft.com/office/drawing/2014/main" id="{992B04EA-1366-3ABB-A933-5E914AD8C3B0}"/>
                </a:ext>
              </a:extLst>
            </p:cNvPr>
            <p:cNvPicPr>
              <a:picLocks noChangeAspect="1"/>
            </p:cNvPicPr>
            <p:nvPr/>
          </p:nvPicPr>
          <p:blipFill>
            <a:blip r:embed="rId7">
              <a:alphaModFix amt="53000"/>
            </a:blip>
            <a:srcRect l="9259" r="7231" b="253"/>
            <a:stretch>
              <a:fillRect/>
            </a:stretch>
          </p:blipFill>
          <p:spPr>
            <a:xfrm rot="5400000">
              <a:off x="7457774" y="2263850"/>
              <a:ext cx="947338" cy="471714"/>
            </a:xfrm>
            <a:prstGeom prst="triangle">
              <a:avLst>
                <a:gd name="adj" fmla="val 50152"/>
              </a:avLst>
            </a:prstGeom>
            <a:effectLst>
              <a:softEdge rad="76200"/>
            </a:effectLst>
          </p:spPr>
        </p:pic>
      </p:grpSp>
      <p:grpSp>
        <p:nvGrpSpPr>
          <p:cNvPr id="10" name="Group 9">
            <a:extLst>
              <a:ext uri="{FF2B5EF4-FFF2-40B4-BE49-F238E27FC236}">
                <a16:creationId xmlns:a16="http://schemas.microsoft.com/office/drawing/2014/main" id="{AD559C5D-9D79-9B75-3659-F3649A88E248}"/>
              </a:ext>
            </a:extLst>
          </p:cNvPr>
          <p:cNvGrpSpPr/>
          <p:nvPr userDrawn="1"/>
        </p:nvGrpSpPr>
        <p:grpSpPr>
          <a:xfrm rot="18900000">
            <a:off x="8255000" y="1270000"/>
            <a:ext cx="3643978" cy="3329794"/>
            <a:chOff x="-4217559" y="-1588402"/>
            <a:chExt cx="6268137" cy="5727701"/>
          </a:xfrm>
        </p:grpSpPr>
        <p:pic>
          <p:nvPicPr>
            <p:cNvPr id="11" name="Picture 10">
              <a:extLst>
                <a:ext uri="{FF2B5EF4-FFF2-40B4-BE49-F238E27FC236}">
                  <a16:creationId xmlns:a16="http://schemas.microsoft.com/office/drawing/2014/main" id="{320078AF-992F-5A13-2D2B-DC47EE5FB17D}"/>
                </a:ext>
              </a:extLst>
            </p:cNvPr>
            <p:cNvPicPr>
              <a:picLocks noChangeAspect="1"/>
            </p:cNvPicPr>
            <p:nvPr/>
          </p:nvPicPr>
          <p:blipFill>
            <a:blip r:embed="rId7">
              <a:alphaModFix amt="85000"/>
            </a:blip>
            <a:srcRect l="9259" r="7231" b="253"/>
            <a:stretch>
              <a:fillRect/>
            </a:stretch>
          </p:blipFill>
          <p:spPr>
            <a:xfrm rot="5400000">
              <a:off x="-2239291" y="-150569"/>
              <a:ext cx="5727701" cy="2852036"/>
            </a:xfrm>
            <a:prstGeom prst="triangle">
              <a:avLst>
                <a:gd name="adj" fmla="val 50152"/>
              </a:avLst>
            </a:prstGeom>
          </p:spPr>
        </p:pic>
        <p:pic>
          <p:nvPicPr>
            <p:cNvPr id="12" name="Picture 11">
              <a:extLst>
                <a:ext uri="{FF2B5EF4-FFF2-40B4-BE49-F238E27FC236}">
                  <a16:creationId xmlns:a16="http://schemas.microsoft.com/office/drawing/2014/main" id="{68E34292-020B-03FC-777F-3B2B357351FD}"/>
                </a:ext>
              </a:extLst>
            </p:cNvPr>
            <p:cNvPicPr>
              <a:picLocks noChangeAspect="1"/>
            </p:cNvPicPr>
            <p:nvPr/>
          </p:nvPicPr>
          <p:blipFill>
            <a:blip r:embed="rId7">
              <a:alphaModFix amt="85000"/>
            </a:blip>
            <a:srcRect l="9259" r="7231" b="253"/>
            <a:stretch>
              <a:fillRect/>
            </a:stretch>
          </p:blipFill>
          <p:spPr>
            <a:xfrm rot="5400000">
              <a:off x="-3887865" y="249480"/>
              <a:ext cx="4120873" cy="2051937"/>
            </a:xfrm>
            <a:prstGeom prst="triangle">
              <a:avLst>
                <a:gd name="adj" fmla="val 50152"/>
              </a:avLst>
            </a:prstGeom>
          </p:spPr>
        </p:pic>
        <p:pic>
          <p:nvPicPr>
            <p:cNvPr id="13" name="Picture 12">
              <a:extLst>
                <a:ext uri="{FF2B5EF4-FFF2-40B4-BE49-F238E27FC236}">
                  <a16:creationId xmlns:a16="http://schemas.microsoft.com/office/drawing/2014/main" id="{5B9EC31B-91A6-88B0-DE2C-A2E5FFDD901F}"/>
                </a:ext>
              </a:extLst>
            </p:cNvPr>
            <p:cNvPicPr>
              <a:picLocks noChangeAspect="1"/>
            </p:cNvPicPr>
            <p:nvPr/>
          </p:nvPicPr>
          <p:blipFill>
            <a:blip r:embed="rId7">
              <a:alphaModFix amt="85000"/>
            </a:blip>
            <a:srcRect l="9259" r="7231" b="253"/>
            <a:stretch>
              <a:fillRect/>
            </a:stretch>
          </p:blipFill>
          <p:spPr>
            <a:xfrm rot="5400000">
              <a:off x="-4905292" y="593367"/>
              <a:ext cx="2739629" cy="1364164"/>
            </a:xfrm>
            <a:prstGeom prst="triangle">
              <a:avLst>
                <a:gd name="adj" fmla="val 50152"/>
              </a:avLst>
            </a:prstGeom>
          </p:spPr>
        </p:pic>
      </p:grpSp>
      <p:sp>
        <p:nvSpPr>
          <p:cNvPr id="14" name="Rectangle 13">
            <a:extLst>
              <a:ext uri="{FF2B5EF4-FFF2-40B4-BE49-F238E27FC236}">
                <a16:creationId xmlns:a16="http://schemas.microsoft.com/office/drawing/2014/main" id="{EF6DFBF6-361C-5A5F-F864-D0B552D295DD}"/>
              </a:ext>
            </a:extLst>
          </p:cNvPr>
          <p:cNvSpPr/>
          <p:nvPr userDrawn="1"/>
        </p:nvSpPr>
        <p:spPr bwMode="auto">
          <a:xfrm>
            <a:off x="6175309" y="5419114"/>
            <a:ext cx="271211" cy="271211"/>
          </a:xfrm>
          <a:prstGeom prst="rect">
            <a:avLst/>
          </a:prstGeom>
          <a:solidFill>
            <a:srgbClr val="379BDC"/>
          </a:solidFill>
          <a:ln>
            <a:noFill/>
            <a:headEnd type="none" w="med" len="med"/>
            <a:tailEnd type="none" w="med" len="med"/>
          </a:ln>
          <a:effectLst>
            <a:softEdge rad="1270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mn-ea"/>
              <a:cs typeface="+mn-cs"/>
            </a:endParaRPr>
          </a:p>
        </p:txBody>
      </p:sp>
      <p:sp>
        <p:nvSpPr>
          <p:cNvPr id="15" name="Rectangle 14">
            <a:extLst>
              <a:ext uri="{FF2B5EF4-FFF2-40B4-BE49-F238E27FC236}">
                <a16:creationId xmlns:a16="http://schemas.microsoft.com/office/drawing/2014/main" id="{DA9BD06E-34A5-13D7-F028-03E555646474}"/>
              </a:ext>
            </a:extLst>
          </p:cNvPr>
          <p:cNvSpPr/>
          <p:nvPr userDrawn="1"/>
        </p:nvSpPr>
        <p:spPr bwMode="auto">
          <a:xfrm>
            <a:off x="9530347" y="3864472"/>
            <a:ext cx="431575" cy="431575"/>
          </a:xfrm>
          <a:prstGeom prst="rect">
            <a:avLst/>
          </a:prstGeom>
          <a:solidFill>
            <a:srgbClr val="00FFFF"/>
          </a:solidFill>
          <a:ln>
            <a:noFill/>
            <a:headEnd type="none" w="med" len="med"/>
            <a:tailEnd type="none" w="med" len="med"/>
          </a:ln>
          <a:effectLst>
            <a:softEdge rad="3810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mn-ea"/>
              <a:cs typeface="+mn-cs"/>
            </a:endParaRPr>
          </a:p>
        </p:txBody>
      </p:sp>
      <p:sp>
        <p:nvSpPr>
          <p:cNvPr id="16" name="Rectangle 15">
            <a:extLst>
              <a:ext uri="{FF2B5EF4-FFF2-40B4-BE49-F238E27FC236}">
                <a16:creationId xmlns:a16="http://schemas.microsoft.com/office/drawing/2014/main" id="{436EAEBC-75F0-FC60-33BB-F9603B8B1C0D}"/>
              </a:ext>
            </a:extLst>
          </p:cNvPr>
          <p:cNvSpPr/>
          <p:nvPr userDrawn="1"/>
        </p:nvSpPr>
        <p:spPr bwMode="auto">
          <a:xfrm>
            <a:off x="3966480" y="3637380"/>
            <a:ext cx="885761" cy="885761"/>
          </a:xfrm>
          <a:prstGeom prst="rect">
            <a:avLst/>
          </a:prstGeom>
          <a:solidFill>
            <a:srgbClr val="00FFFF">
              <a:alpha val="10196"/>
            </a:srgbClr>
          </a:solidFill>
          <a:ln w="9525" cap="flat" cmpd="sng" algn="ctr">
            <a:noFill/>
            <a:prstDash val="solid"/>
            <a:headEnd type="none" w="med" len="med"/>
            <a:tailEnd type="none" w="med" len="med"/>
          </a:ln>
          <a:effectLst>
            <a:softEdge rad="1270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sp>
        <p:nvSpPr>
          <p:cNvPr id="19" name="Rectangle 18">
            <a:extLst>
              <a:ext uri="{FF2B5EF4-FFF2-40B4-BE49-F238E27FC236}">
                <a16:creationId xmlns:a16="http://schemas.microsoft.com/office/drawing/2014/main" id="{0880A957-913E-7A16-137A-80130895669E}"/>
              </a:ext>
            </a:extLst>
          </p:cNvPr>
          <p:cNvSpPr/>
          <p:nvPr userDrawn="1"/>
        </p:nvSpPr>
        <p:spPr bwMode="auto">
          <a:xfrm>
            <a:off x="3981278" y="2135747"/>
            <a:ext cx="599447" cy="599447"/>
          </a:xfrm>
          <a:prstGeom prst="rect">
            <a:avLst/>
          </a:prstGeom>
          <a:solidFill>
            <a:srgbClr val="00FFFF">
              <a:alpha val="10196"/>
            </a:srgbClr>
          </a:solidFill>
          <a:ln w="9525" cap="flat" cmpd="sng" algn="ctr">
            <a:noFill/>
            <a:prstDash val="solid"/>
            <a:headEnd type="none" w="med" len="med"/>
            <a:tailEnd type="none" w="med" len="med"/>
          </a:ln>
          <a:effectLst>
            <a:softEdge rad="1270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grpSp>
        <p:nvGrpSpPr>
          <p:cNvPr id="20" name="Group 19">
            <a:extLst>
              <a:ext uri="{FF2B5EF4-FFF2-40B4-BE49-F238E27FC236}">
                <a16:creationId xmlns:a16="http://schemas.microsoft.com/office/drawing/2014/main" id="{756023E1-1F41-CE93-983A-EED580E9A50B}"/>
              </a:ext>
            </a:extLst>
          </p:cNvPr>
          <p:cNvGrpSpPr/>
          <p:nvPr userDrawn="1"/>
        </p:nvGrpSpPr>
        <p:grpSpPr>
          <a:xfrm>
            <a:off x="10584890" y="3069891"/>
            <a:ext cx="1986501" cy="2749119"/>
            <a:chOff x="10525777" y="1998997"/>
            <a:chExt cx="3566833" cy="4936141"/>
          </a:xfrm>
        </p:grpSpPr>
        <p:pic>
          <p:nvPicPr>
            <p:cNvPr id="21" name="Picture 20">
              <a:extLst>
                <a:ext uri="{FF2B5EF4-FFF2-40B4-BE49-F238E27FC236}">
                  <a16:creationId xmlns:a16="http://schemas.microsoft.com/office/drawing/2014/main" id="{9BE5E0A7-A9DA-1D55-76B2-4777390414A8}"/>
                </a:ext>
              </a:extLst>
            </p:cNvPr>
            <p:cNvPicPr>
              <a:picLocks noChangeAspect="1"/>
            </p:cNvPicPr>
            <p:nvPr/>
          </p:nvPicPr>
          <p:blipFill>
            <a:blip r:embed="rId5">
              <a:alphaModFix amt="24000"/>
              <a:extLst>
                <a:ext uri="{BEBA8EAE-BF5A-486C-A8C5-ECC9F3942E4B}">
                  <a14:imgProps xmlns:a14="http://schemas.microsoft.com/office/drawing/2010/main">
                    <a14:imgLayer r:embed="rId6">
                      <a14:imgEffect>
                        <a14:artisticBlur radius="22"/>
                      </a14:imgEffect>
                    </a14:imgLayer>
                  </a14:imgProps>
                </a:ext>
              </a:extLst>
            </a:blip>
            <a:srcRect l="9259" r="7231" b="253"/>
            <a:stretch>
              <a:fillRect/>
            </a:stretch>
          </p:blipFill>
          <p:spPr>
            <a:xfrm rot="2700000">
              <a:off x="11010262" y="3032106"/>
              <a:ext cx="4115458" cy="2049239"/>
            </a:xfrm>
            <a:prstGeom prst="triangle">
              <a:avLst>
                <a:gd name="adj" fmla="val 50152"/>
              </a:avLst>
            </a:prstGeom>
            <a:effectLst>
              <a:softEdge rad="38100"/>
            </a:effectLst>
          </p:spPr>
        </p:pic>
        <p:pic>
          <p:nvPicPr>
            <p:cNvPr id="22" name="Picture 21">
              <a:extLst>
                <a:ext uri="{FF2B5EF4-FFF2-40B4-BE49-F238E27FC236}">
                  <a16:creationId xmlns:a16="http://schemas.microsoft.com/office/drawing/2014/main" id="{92CE48A8-7864-DFBB-4543-0D47E77A342E}"/>
                </a:ext>
              </a:extLst>
            </p:cNvPr>
            <p:cNvPicPr>
              <a:picLocks noChangeAspect="1"/>
            </p:cNvPicPr>
            <p:nvPr/>
          </p:nvPicPr>
          <p:blipFill>
            <a:blip r:embed="rId7">
              <a:alphaModFix amt="24000"/>
            </a:blip>
            <a:srcRect l="9259" r="7231" b="253"/>
            <a:stretch>
              <a:fillRect/>
            </a:stretch>
          </p:blipFill>
          <p:spPr>
            <a:xfrm rot="2700000">
              <a:off x="10445558" y="4509514"/>
              <a:ext cx="2960922" cy="1474355"/>
            </a:xfrm>
            <a:prstGeom prst="triangle">
              <a:avLst>
                <a:gd name="adj" fmla="val 50152"/>
              </a:avLst>
            </a:prstGeom>
            <a:effectLst>
              <a:softEdge rad="38100"/>
            </a:effectLst>
          </p:spPr>
        </p:pic>
        <p:pic>
          <p:nvPicPr>
            <p:cNvPr id="23" name="Picture 22">
              <a:extLst>
                <a:ext uri="{FF2B5EF4-FFF2-40B4-BE49-F238E27FC236}">
                  <a16:creationId xmlns:a16="http://schemas.microsoft.com/office/drawing/2014/main" id="{97C70F73-2B39-CAE3-7814-CCA5627D4B78}"/>
                </a:ext>
              </a:extLst>
            </p:cNvPr>
            <p:cNvPicPr>
              <a:picLocks noChangeAspect="1"/>
            </p:cNvPicPr>
            <p:nvPr/>
          </p:nvPicPr>
          <p:blipFill>
            <a:blip r:embed="rId7">
              <a:alphaModFix amt="24000"/>
            </a:blip>
            <a:srcRect l="9259" r="7231" b="253"/>
            <a:stretch>
              <a:fillRect/>
            </a:stretch>
          </p:blipFill>
          <p:spPr>
            <a:xfrm rot="2700000">
              <a:off x="10031627" y="5460813"/>
              <a:ext cx="1968475" cy="980175"/>
            </a:xfrm>
            <a:prstGeom prst="triangle">
              <a:avLst>
                <a:gd name="adj" fmla="val 50152"/>
              </a:avLst>
            </a:prstGeom>
            <a:effectLst>
              <a:softEdge rad="38100"/>
            </a:effectLst>
          </p:spPr>
        </p:pic>
      </p:grpSp>
      <p:pic>
        <p:nvPicPr>
          <p:cNvPr id="17" name="MS logo white - EMF" descr="Microsoft logo white text version">
            <a:extLst>
              <a:ext uri="{FF2B5EF4-FFF2-40B4-BE49-F238E27FC236}">
                <a16:creationId xmlns:a16="http://schemas.microsoft.com/office/drawing/2014/main" id="{731BD085-0E46-60A2-F92F-769EB9E81731}"/>
              </a:ext>
            </a:extLst>
          </p:cNvPr>
          <p:cNvPicPr>
            <a:picLocks noChangeAspect="1"/>
          </p:cNvPicPr>
          <p:nvPr userDrawn="1"/>
        </p:nvPicPr>
        <p:blipFill>
          <a:blip r:embed="rId8"/>
          <a:stretch>
            <a:fillRect/>
          </a:stretch>
        </p:blipFill>
        <p:spPr bwMode="black">
          <a:xfrm>
            <a:off x="584200" y="585788"/>
            <a:ext cx="1366245" cy="292608"/>
          </a:xfrm>
          <a:prstGeom prst="rect">
            <a:avLst/>
          </a:prstGeom>
        </p:spPr>
      </p:pic>
      <p:sp>
        <p:nvSpPr>
          <p:cNvPr id="18" name="Text Box 3" descr="This is a copyright notice that should be included on the final slide.">
            <a:extLst>
              <a:ext uri="{FF2B5EF4-FFF2-40B4-BE49-F238E27FC236}">
                <a16:creationId xmlns:a16="http://schemas.microsoft.com/office/drawing/2014/main" id="{EA94AFF6-01CF-222C-CDEB-17499F1D3DFC}"/>
              </a:ext>
            </a:extLst>
          </p:cNvPr>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rgbClr val="FFFFFF"/>
                </a:solidFill>
                <a:cs typeface="+mn-cs"/>
              </a:rPr>
              <a:t>© Copyright 2025 Microsoft Corporation. All rights reserved. </a:t>
            </a:r>
          </a:p>
        </p:txBody>
      </p:sp>
    </p:spTree>
    <p:extLst>
      <p:ext uri="{BB962C8B-B14F-4D97-AF65-F5344CB8AC3E}">
        <p14:creationId xmlns:p14="http://schemas.microsoft.com/office/powerpoint/2010/main" val="2420430498"/>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path" presetSubtype="0" accel="50000" decel="50000" fill="hold" nodeType="withEffect">
                                  <p:stCondLst>
                                    <p:cond delay="0"/>
                                  </p:stCondLst>
                                  <p:childTnLst>
                                    <p:animMotion origin="layout" path="M 4.58333E-6 -4.44444E-6 L 0.09661 -0.07569 " pathEditMode="relative" rAng="0" ptsTypes="AA">
                                      <p:cBhvr>
                                        <p:cTn id="6" dur="30000" fill="hold"/>
                                        <p:tgtEl>
                                          <p:spTgt spid="10"/>
                                        </p:tgtEl>
                                        <p:attrNameLst>
                                          <p:attrName>ppt_x</p:attrName>
                                          <p:attrName>ppt_y</p:attrName>
                                        </p:attrNameLst>
                                      </p:cBhvr>
                                      <p:rCtr x="4831" y="-3796"/>
                                    </p:animMotion>
                                  </p:childTnLst>
                                </p:cTn>
                              </p:par>
                              <p:par>
                                <p:cTn id="7" presetID="56" presetClass="path" presetSubtype="0" accel="50000" decel="50000" fill="hold" grpId="0" nodeType="withEffect">
                                  <p:stCondLst>
                                    <p:cond delay="0"/>
                                  </p:stCondLst>
                                  <p:childTnLst>
                                    <p:animMotion origin="layout" path="M 1.875E-6 -3.7037E-6 L 0.2164 -0.2831 " pathEditMode="relative" rAng="0" ptsTypes="AA">
                                      <p:cBhvr>
                                        <p:cTn id="8" dur="45000" fill="hold"/>
                                        <p:tgtEl>
                                          <p:spTgt spid="14"/>
                                        </p:tgtEl>
                                        <p:attrNameLst>
                                          <p:attrName>ppt_x</p:attrName>
                                          <p:attrName>ppt_y</p:attrName>
                                        </p:attrNameLst>
                                      </p:cBhvr>
                                      <p:rCtr x="10820" y="-14167"/>
                                    </p:animMotion>
                                  </p:childTnLst>
                                </p:cTn>
                              </p:par>
                              <p:par>
                                <p:cTn id="9" presetID="56" presetClass="path" presetSubtype="0" accel="50000" decel="50000" fill="hold" grpId="0" nodeType="withEffect">
                                  <p:stCondLst>
                                    <p:cond delay="0"/>
                                  </p:stCondLst>
                                  <p:childTnLst>
                                    <p:animMotion origin="layout" path="M 1.04167E-6 2.59259E-6 L 0.05221 -0.09491 " pathEditMode="relative" rAng="0" ptsTypes="AA">
                                      <p:cBhvr>
                                        <p:cTn id="10" dur="45000" fill="hold"/>
                                        <p:tgtEl>
                                          <p:spTgt spid="15"/>
                                        </p:tgtEl>
                                        <p:attrNameLst>
                                          <p:attrName>ppt_x</p:attrName>
                                          <p:attrName>ppt_y</p:attrName>
                                        </p:attrNameLst>
                                      </p:cBhvr>
                                      <p:rCtr x="2604" y="-4745"/>
                                    </p:animMotion>
                                  </p:childTnLst>
                                </p:cTn>
                              </p:par>
                              <p:par>
                                <p:cTn id="11" presetID="56" presetClass="path" presetSubtype="0" accel="50000" decel="50000" fill="hold" nodeType="withEffect">
                                  <p:stCondLst>
                                    <p:cond delay="0"/>
                                  </p:stCondLst>
                                  <p:childTnLst>
                                    <p:animMotion origin="layout" path="M -2.08333E-7 -3.7037E-6 L 0.05612 -0.06157 " pathEditMode="relative" rAng="0" ptsTypes="AA">
                                      <p:cBhvr>
                                        <p:cTn id="12" dur="45000" fill="hold"/>
                                        <p:tgtEl>
                                          <p:spTgt spid="5"/>
                                        </p:tgtEl>
                                        <p:attrNameLst>
                                          <p:attrName>ppt_x</p:attrName>
                                          <p:attrName>ppt_y</p:attrName>
                                        </p:attrNameLst>
                                      </p:cBhvr>
                                      <p:rCtr x="2799" y="-3079"/>
                                    </p:animMotion>
                                  </p:childTnLst>
                                </p:cTn>
                              </p:par>
                              <p:par>
                                <p:cTn id="13" presetID="56" presetClass="path" presetSubtype="0" accel="50000" decel="50000" fill="hold" nodeType="withEffect">
                                  <p:stCondLst>
                                    <p:cond delay="0"/>
                                  </p:stCondLst>
                                  <p:childTnLst>
                                    <p:animMotion origin="layout" path="M 6.25E-7 1.85185E-6 L 0.05768 -0.0463 " pathEditMode="relative" rAng="0" ptsTypes="AA">
                                      <p:cBhvr>
                                        <p:cTn id="14" dur="45000" fill="hold"/>
                                        <p:tgtEl>
                                          <p:spTgt spid="20"/>
                                        </p:tgtEl>
                                        <p:attrNameLst>
                                          <p:attrName>ppt_x</p:attrName>
                                          <p:attrName>ppt_y</p:attrName>
                                        </p:attrNameLst>
                                      </p:cBhvr>
                                      <p:rCtr x="2878" y="-231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k 2">
    <p:bg>
      <p:bgPr>
        <a:solidFill>
          <a:srgbClr val="1A1A1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674934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1272">
          <p15:clr>
            <a:srgbClr val="5ACBF0"/>
          </p15:clr>
        </p15:guide>
        <p15:guide id="3" orient="horz" pos="288">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37862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C183D7F6-B498-43B3-948B-1728B52AA6E4}">
                <adec:decorative xmlns:adec="http://schemas.microsoft.com/office/drawing/2017/decorative" val="0"/>
              </a:ext>
            </a:extLst>
          </p:cNvPr>
          <p:cNvSpPr>
            <a:spLocks noGrp="1"/>
          </p:cNvSpPr>
          <p:nvPr userDrawn="1">
            <p:ph type="title"/>
          </p:nvPr>
        </p:nvSpPr>
        <p:spPr>
          <a:xfrm>
            <a:off x="585215" y="529233"/>
            <a:ext cx="11018520" cy="430887"/>
          </a:xfrm>
          <a:prstGeom prst="rect">
            <a:avLst/>
          </a:prstGeom>
        </p:spPr>
        <p:txBody>
          <a:bodyPr vert="horz" wrap="square" lIns="0" tIns="0" rIns="0" bIns="0" rtlCol="0" anchor="t">
            <a:noAutofit/>
          </a:bodyPr>
          <a:lstStyle/>
          <a:p>
            <a:r>
              <a:rPr lang="en-US"/>
              <a:t>Click to edit Master title style</a:t>
            </a:r>
            <a:endParaRPr lang="en-US" dirty="0"/>
          </a:p>
        </p:txBody>
      </p:sp>
      <p:sp>
        <p:nvSpPr>
          <p:cNvPr id="4" name="Text Placeholder 3">
            <a:extLst>
              <a:ext uri="{C183D7F6-B498-43B3-948B-1728B52AA6E4}">
                <adec:decorative xmlns:adec="http://schemas.microsoft.com/office/drawing/2017/decorative" val="0"/>
              </a:ext>
            </a:extLst>
          </p:cNvPr>
          <p:cNvSpPr>
            <a:spLocks noGrp="1"/>
          </p:cNvSpPr>
          <p:nvPr userDrawn="1">
            <p:ph type="body" idx="1"/>
          </p:nvPr>
        </p:nvSpPr>
        <p:spPr>
          <a:xfrm>
            <a:off x="585215" y="1435503"/>
            <a:ext cx="11018520" cy="1384995"/>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 uri="{C183D7F6-B498-43B3-948B-1728B52AA6E4}">
                <adec:decorative xmlns:adec="http://schemas.microsoft.com/office/drawing/2017/decorative" val="0"/>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 uri="{C183D7F6-B498-43B3-948B-1728B52AA6E4}">
                <adec:decorative xmlns:adec="http://schemas.microsoft.com/office/drawing/2017/decorative" val="0"/>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mn-ea"/>
              <a:cs typeface="+mn-cs"/>
            </a:endParaRPr>
          </a:p>
        </p:txBody>
      </p:sp>
      <p:sp>
        <p:nvSpPr>
          <p:cNvPr id="35" name=".32 square" hidden="1">
            <a:extLst>
              <a:ext uri="{FF2B5EF4-FFF2-40B4-BE49-F238E27FC236}">
                <a16:creationId xmlns:a16="http://schemas.microsoft.com/office/drawing/2014/main" id="{09835393-211C-428D-B22F-51EE7A413599}"/>
              </a:ext>
              <a:ext uri="{C183D7F6-B498-43B3-948B-1728B52AA6E4}">
                <adec:decorative xmlns:adec="http://schemas.microsoft.com/office/drawing/2017/decorative" val="0"/>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mn-ea"/>
              <a:cs typeface="+mn-cs"/>
            </a:endParaRPr>
          </a:p>
        </p:txBody>
      </p:sp>
      <p:sp>
        <p:nvSpPr>
          <p:cNvPr id="5" name="TextBox 4">
            <a:extLst>
              <a:ext uri="{FF2B5EF4-FFF2-40B4-BE49-F238E27FC236}">
                <a16:creationId xmlns:a16="http://schemas.microsoft.com/office/drawing/2014/main" id="{99F69A61-4C59-6F15-B81F-71261F0C27B8}"/>
              </a:ext>
              <a:ext uri="{C183D7F6-B498-43B3-948B-1728B52AA6E4}">
                <adec:decorative xmlns:adec="http://schemas.microsoft.com/office/drawing/2017/decorative" val="0"/>
              </a:ext>
            </a:extLst>
          </p:cNvPr>
          <p:cNvSpPr txBox="1"/>
          <p:nvPr userDrawn="1"/>
        </p:nvSpPr>
        <p:spPr>
          <a:xfrm>
            <a:off x="11124400" y="-194081"/>
            <a:ext cx="1074012" cy="123111"/>
          </a:xfrm>
          <a:prstGeom prst="rect">
            <a:avLst/>
          </a:prstGeom>
          <a:noFill/>
        </p:spPr>
        <p:txBody>
          <a:bodyPr wrap="none" lIns="0" tIns="0" rIns="0" bIns="0" rtlCol="0">
            <a:spAutoFit/>
          </a:bodyPr>
          <a:lstStyle>
            <a:defPPr>
              <a:defRPr lang="en-US"/>
            </a:defPPr>
            <a:lvl1pPr>
              <a:defRPr sz="1000">
                <a:solidFill>
                  <a:srgbClr val="A3A3A3"/>
                </a:solidFill>
              </a:defRPr>
            </a:lvl1pPr>
          </a:lstStyle>
          <a:p>
            <a:pPr lvl="0"/>
            <a:r>
              <a:rPr lang="en-US" sz="800" dirty="0"/>
              <a:t>Parter GTM - DE 7.13.26</a:t>
            </a:r>
          </a:p>
        </p:txBody>
      </p:sp>
      <p:sp>
        <p:nvSpPr>
          <p:cNvPr id="8" name="Star: 5 Points 7">
            <a:extLst>
              <a:ext uri="{FF2B5EF4-FFF2-40B4-BE49-F238E27FC236}">
                <a16:creationId xmlns:a16="http://schemas.microsoft.com/office/drawing/2014/main" id="{FDEA6507-BC3E-3BA3-1872-798F3322AECA}"/>
              </a:ext>
            </a:extLst>
          </p:cNvPr>
          <p:cNvSpPr/>
          <p:nvPr userDrawn="1"/>
        </p:nvSpPr>
        <p:spPr bwMode="auto">
          <a:xfrm>
            <a:off x="12239625" y="-221674"/>
            <a:ext cx="179905" cy="179905"/>
          </a:xfrm>
          <a:prstGeom prst="star5">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mn-ea"/>
              <a:cs typeface="+mn-cs"/>
            </a:endParaRPr>
          </a:p>
        </p:txBody>
      </p:sp>
    </p:spTree>
    <p:extLst>
      <p:ext uri="{BB962C8B-B14F-4D97-AF65-F5344CB8AC3E}">
        <p14:creationId xmlns:p14="http://schemas.microsoft.com/office/powerpoint/2010/main" val="1905723884"/>
      </p:ext>
    </p:extLst>
  </p:cSld>
  <p:clrMap bg1="lt1" tx1="dk1" bg2="lt2" tx2="dk2" accent1="accent1" accent2="accent2" accent3="accent3" accent4="accent4" accent5="accent5" accent6="accent6" hlink="hlink" folHlink="folHlink"/>
  <p:sldLayoutIdLst>
    <p:sldLayoutId id="2147485233" r:id="rId1"/>
    <p:sldLayoutId id="2147485234" r:id="rId2"/>
    <p:sldLayoutId id="2147485235" r:id="rId3"/>
    <p:sldLayoutId id="2147485236" r:id="rId4"/>
    <p:sldLayoutId id="2147485237" r:id="rId5"/>
    <p:sldLayoutId id="2147485238" r:id="rId6"/>
    <p:sldLayoutId id="2147485239" r:id="rId7"/>
    <p:sldLayoutId id="2147485240" r:id="rId8"/>
    <p:sldLayoutId id="2147485241" r:id="rId9"/>
    <p:sldLayoutId id="2147485242" r:id="rId10"/>
    <p:sldLayoutId id="2147485243" r:id="rId11"/>
    <p:sldLayoutId id="2147485244" r:id="rId12"/>
    <p:sldLayoutId id="2147485245" r:id="rId13"/>
    <p:sldLayoutId id="2147485246" r:id="rId14"/>
    <p:sldLayoutId id="2147485247" r:id="rId15"/>
    <p:sldLayoutId id="2147485248" r:id="rId16"/>
    <p:sldLayoutId id="2147485249" r:id="rId17"/>
    <p:sldLayoutId id="2147485250" r:id="rId18"/>
    <p:sldLayoutId id="2147485251" r:id="rId19"/>
    <p:sldLayoutId id="2147485252" r:id="rId20"/>
    <p:sldLayoutId id="2147485253" r:id="rId21"/>
    <p:sldLayoutId id="2147485254" r:id="rId22"/>
    <p:sldLayoutId id="2147485255" r:id="rId23"/>
    <p:sldLayoutId id="2147485256" r:id="rId24"/>
    <p:sldLayoutId id="2147485257" r:id="rId25"/>
    <p:sldLayoutId id="2147485258" r:id="rId26"/>
    <p:sldLayoutId id="2147485259" r:id="rId27"/>
    <p:sldLayoutId id="2147485260" r:id="rId28"/>
    <p:sldLayoutId id="2147485261" r:id="rId29"/>
    <p:sldLayoutId id="2147485262" r:id="rId30"/>
    <p:sldLayoutId id="2147485263" r:id="rId31"/>
    <p:sldLayoutId id="2147485264" r:id="rId32"/>
    <p:sldLayoutId id="2147485265" r:id="rId33"/>
    <p:sldLayoutId id="2147485266" r:id="rId34"/>
    <p:sldLayoutId id="2147485283" r:id="rId35"/>
    <p:sldLayoutId id="2147485267" r:id="rId36"/>
    <p:sldLayoutId id="2147485268" r:id="rId37"/>
    <p:sldLayoutId id="2147485269" r:id="rId38"/>
    <p:sldLayoutId id="2147485270" r:id="rId39"/>
    <p:sldLayoutId id="2147485271" r:id="rId40"/>
    <p:sldLayoutId id="2147485272" r:id="rId41"/>
    <p:sldLayoutId id="2147485273" r:id="rId42"/>
    <p:sldLayoutId id="2147485274" r:id="rId43"/>
    <p:sldLayoutId id="2147485275" r:id="rId44"/>
    <p:sldLayoutId id="2147485276" r:id="rId45"/>
    <p:sldLayoutId id="2147485277" r:id="rId46"/>
    <p:sldLayoutId id="2147485278" r:id="rId47"/>
    <p:sldLayoutId id="2147485279" r:id="rId48"/>
    <p:sldLayoutId id="2147485282" r:id="rId49"/>
    <p:sldLayoutId id="2147485280" r:id="rId50"/>
    <p:sldLayoutId id="2147485281" r:id="rId51"/>
  </p:sldLayoutIdLst>
  <p:transition>
    <p:fade/>
  </p:transition>
  <p:hf sldNum="0" hdr="0" ftr="0" dt="0"/>
  <p:txStyles>
    <p:titleStyle>
      <a:lvl1pPr algn="l" defTabSz="932742" rtl="0" eaLnBrk="1" latinLnBrk="0" hangingPunct="1">
        <a:lnSpc>
          <a:spcPct val="90000"/>
        </a:lnSpc>
        <a:spcBef>
          <a:spcPct val="0"/>
        </a:spcBef>
        <a:buNone/>
        <a:defRPr lang="en-US" sz="2800" b="0" kern="1200" cap="none" spc="-50" baseline="0" dirty="0" smtClean="0">
          <a:ln w="3175">
            <a:noFill/>
          </a:ln>
          <a:solidFill>
            <a:srgbClr val="000000"/>
          </a:solidFill>
          <a:effectLst/>
          <a:latin typeface="+mj-lt"/>
          <a:ea typeface="+mn-ea"/>
          <a:cs typeface="+mn-cs"/>
        </a:defRPr>
      </a:lvl1pPr>
    </p:titleStyle>
    <p:body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mn-cs"/>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2pPr>
      <a:lvl3pPr marL="228600" marR="0" indent="-228600"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57200" marR="0" indent="-228600"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685800" marR="0" indent="-228600"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1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524" userDrawn="1">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49.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37.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37.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37.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37.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49.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37.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49.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35.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49.xml"/><Relationship Id="rId5" Type="http://schemas.openxmlformats.org/officeDocument/2006/relationships/hyperlink" Target="https://github.com/microsoft/copilot-agentic-business-process" TargetMode="External"/><Relationship Id="rId4" Type="http://schemas.openxmlformats.org/officeDocument/2006/relationships/hyperlink" Target="https://example.com/repository"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name="Process-01">
    <p:spTree>
      <p:nvGrpSpPr>
        <p:cNvPr id="1" name="">
          <a:extLst>
            <a:ext uri="{FF2B5EF4-FFF2-40B4-BE49-F238E27FC236}">
              <a16:creationId xmlns:a16="http://schemas.microsoft.com/office/drawing/2014/main" id="{CFDF926E-BF6A-937F-783D-0E34DA445D75}"/>
            </a:ext>
          </a:extLst>
        </p:cNvPr>
        <p:cNvGrpSpPr/>
        <p:nvPr/>
      </p:nvGrpSpPr>
      <p:grpSpPr>
        <a:xfrm>
          <a:off x="0" y="0"/>
          <a:ext cx="0" cy="0"/>
          <a:chOff x="0" y="0"/>
          <a:chExt cx="0" cy="0"/>
        </a:xfrm>
      </p:grpSpPr>
      <p:sp>
        <p:nvSpPr>
          <p:cNvPr id="2" name="Rettangolo con angoli arrotondati 1">
            <a:extLst>
              <a:ext uri="{FF2B5EF4-FFF2-40B4-BE49-F238E27FC236}">
                <a16:creationId xmlns:a16="http://schemas.microsoft.com/office/drawing/2014/main" id="{7369F8C7-1DAE-4119-DE73-9FCE947A9DF3}"/>
              </a:ext>
            </a:extLst>
          </p:cNvPr>
          <p:cNvSpPr/>
          <p:nvPr/>
        </p:nvSpPr>
        <p:spPr bwMode="auto">
          <a:xfrm>
            <a:off x="666213" y="1306949"/>
            <a:ext cx="3828227" cy="307777"/>
          </a:xfrm>
          <a:prstGeom prst="roundRect">
            <a:avLst>
              <a:gd name="adj" fmla="val 50000"/>
            </a:avLst>
          </a:prstGeom>
          <a:solidFill>
            <a:schemeClr val="accent1">
              <a:alpha val="48000"/>
            </a:schemeClr>
          </a:solidFill>
          <a:ln>
            <a:solidFill>
              <a:schemeClr val="accent4">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mn-ea"/>
              <a:cs typeface="+mn-cs"/>
            </a:endParaRPr>
          </a:p>
        </p:txBody>
      </p:sp>
      <p:sp>
        <p:nvSpPr>
          <p:cNvPr id="7" name="Text 001 SPAN">
            <a:extLst>
              <a:ext uri="{FF2B5EF4-FFF2-40B4-BE49-F238E27FC236}">
                <a16:creationId xmlns:a16="http://schemas.microsoft.com/office/drawing/2014/main" id="{29E7A928-75D8-450C-8C0C-F23255968DD6}"/>
              </a:ext>
            </a:extLst>
          </p:cNvPr>
          <p:cNvSpPr txBox="1"/>
          <p:nvPr/>
        </p:nvSpPr>
        <p:spPr>
          <a:xfrm>
            <a:off x="723900" y="1401366"/>
            <a:ext cx="65" cy="307777"/>
          </a:xfrm>
          <a:prstGeom prst="rect">
            <a:avLst/>
          </a:prstGeom>
          <a:noFill/>
        </p:spPr>
        <p:txBody>
          <a:bodyPr vert="horz" wrap="none" lIns="0" tIns="0" rIns="0" bIns="0" rtlCol="0" anchor="t">
            <a:noAutofit/>
          </a:bodyPr>
          <a:lstStyle/>
          <a:p>
            <a:r>
              <a:rPr lang="en-US" sz="1020" spc="37">
                <a:solidFill>
                  <a:srgbClr val="FFFFFF"/>
                </a:solidFill>
                <a:latin typeface="Segoe UI Semibold" panose="020B0702040204020203" pitchFamily="34" charset="0"/>
              </a:rPr>
              <a:t>REUSABLE FOUNDATION + REFERENCE IMPLEMENTATION</a:t>
            </a:r>
            <a:endParaRPr lang="en-US" sz="1020" spc="37" dirty="0" err="1">
              <a:solidFill>
                <a:srgbClr val="FFFFFF"/>
              </a:solidFill>
              <a:latin typeface="Segoe UI Semibold" panose="020B0702040204020203" pitchFamily="34" charset="0"/>
            </a:endParaRPr>
          </a:p>
        </p:txBody>
      </p:sp>
      <p:sp>
        <p:nvSpPr>
          <p:cNvPr id="8" name="Text 002 H1">
            <a:extLst>
              <a:ext uri="{FF2B5EF4-FFF2-40B4-BE49-F238E27FC236}">
                <a16:creationId xmlns:a16="http://schemas.microsoft.com/office/drawing/2014/main" id="{3DD7318B-B95B-5935-5595-6FDD7AE711F0}"/>
              </a:ext>
            </a:extLst>
          </p:cNvPr>
          <p:cNvSpPr txBox="1"/>
          <p:nvPr/>
        </p:nvSpPr>
        <p:spPr>
          <a:xfrm>
            <a:off x="579120" y="1835706"/>
            <a:ext cx="65" cy="307777"/>
          </a:xfrm>
          <a:prstGeom prst="rect">
            <a:avLst/>
          </a:prstGeom>
          <a:noFill/>
        </p:spPr>
        <p:txBody>
          <a:bodyPr vert="horz" wrap="none" lIns="0" tIns="0" rIns="0" bIns="0" rtlCol="0" anchor="t">
            <a:noAutofit/>
          </a:bodyPr>
          <a:lstStyle/>
          <a:p>
            <a:endParaRPr lang="en-US" sz="4080" spc="-90" dirty="0">
              <a:solidFill>
                <a:srgbClr val="00FFFF"/>
              </a:solidFill>
              <a:latin typeface="Segoe UI Semibold" panose="020B0702040204020203" pitchFamily="34" charset="0"/>
            </a:endParaRPr>
          </a:p>
        </p:txBody>
      </p:sp>
      <p:sp>
        <p:nvSpPr>
          <p:cNvPr id="9" name="Text 003 H1">
            <a:extLst>
              <a:ext uri="{FF2B5EF4-FFF2-40B4-BE49-F238E27FC236}">
                <a16:creationId xmlns:a16="http://schemas.microsoft.com/office/drawing/2014/main" id="{B9615F36-0390-3CA1-E86E-677A484CA7D6}"/>
              </a:ext>
            </a:extLst>
          </p:cNvPr>
          <p:cNvSpPr txBox="1"/>
          <p:nvPr/>
        </p:nvSpPr>
        <p:spPr>
          <a:xfrm>
            <a:off x="579120" y="2098477"/>
            <a:ext cx="65" cy="307777"/>
          </a:xfrm>
          <a:prstGeom prst="rect">
            <a:avLst/>
          </a:prstGeom>
          <a:noFill/>
        </p:spPr>
        <p:txBody>
          <a:bodyPr vert="horz" wrap="none" lIns="0" tIns="0" rIns="0" bIns="0" rtlCol="0" anchor="t">
            <a:noAutofit/>
          </a:bodyPr>
          <a:lstStyle/>
          <a:p>
            <a:r>
              <a:rPr lang="en-US" sz="4080" spc="-90" dirty="0">
                <a:solidFill>
                  <a:srgbClr val="00FFFF"/>
                </a:solidFill>
                <a:latin typeface="Segoe UI Semibold" panose="020B0702040204020203" pitchFamily="34" charset="0"/>
              </a:rPr>
              <a:t>Accountable agentic </a:t>
            </a:r>
          </a:p>
          <a:p>
            <a:endParaRPr lang="en-US" sz="4080" spc="-90" dirty="0">
              <a:solidFill>
                <a:srgbClr val="00FFFF"/>
              </a:solidFill>
              <a:latin typeface="Segoe UI Semibold" panose="020B0702040204020203" pitchFamily="34" charset="0"/>
            </a:endParaRPr>
          </a:p>
        </p:txBody>
      </p:sp>
      <p:sp>
        <p:nvSpPr>
          <p:cNvPr id="10" name="Text 004 H1">
            <a:extLst>
              <a:ext uri="{FF2B5EF4-FFF2-40B4-BE49-F238E27FC236}">
                <a16:creationId xmlns:a16="http://schemas.microsoft.com/office/drawing/2014/main" id="{BBE81C06-64EC-577F-8528-A54F81DB97F9}"/>
              </a:ext>
            </a:extLst>
          </p:cNvPr>
          <p:cNvSpPr txBox="1"/>
          <p:nvPr/>
        </p:nvSpPr>
        <p:spPr>
          <a:xfrm>
            <a:off x="579120" y="2636281"/>
            <a:ext cx="65" cy="307777"/>
          </a:xfrm>
          <a:prstGeom prst="rect">
            <a:avLst/>
          </a:prstGeom>
          <a:noFill/>
        </p:spPr>
        <p:txBody>
          <a:bodyPr vert="horz" wrap="none" lIns="0" tIns="0" rIns="0" bIns="0" rtlCol="0" anchor="t">
            <a:noAutofit/>
          </a:bodyPr>
          <a:lstStyle/>
          <a:p>
            <a:r>
              <a:rPr lang="en-US" sz="4080" spc="-90" dirty="0">
                <a:solidFill>
                  <a:srgbClr val="00FFFF"/>
                </a:solidFill>
                <a:latin typeface="Segoe UI Semibold" panose="020B0702040204020203" pitchFamily="34" charset="0"/>
              </a:rPr>
              <a:t>business processes.</a:t>
            </a:r>
          </a:p>
        </p:txBody>
      </p:sp>
      <p:sp>
        <p:nvSpPr>
          <p:cNvPr id="11" name="Text 005 P">
            <a:extLst>
              <a:ext uri="{FF2B5EF4-FFF2-40B4-BE49-F238E27FC236}">
                <a16:creationId xmlns:a16="http://schemas.microsoft.com/office/drawing/2014/main" id="{4A1A8092-DC4E-EF8D-C4D4-7E933CDF0ED9}"/>
              </a:ext>
            </a:extLst>
          </p:cNvPr>
          <p:cNvSpPr txBox="1"/>
          <p:nvPr/>
        </p:nvSpPr>
        <p:spPr>
          <a:xfrm>
            <a:off x="579120" y="3429000"/>
            <a:ext cx="65" cy="307777"/>
          </a:xfrm>
          <a:prstGeom prst="rect">
            <a:avLst/>
          </a:prstGeom>
          <a:noFill/>
        </p:spPr>
        <p:txBody>
          <a:bodyPr vert="horz" wrap="none" lIns="0" tIns="0" rIns="0" bIns="0" rtlCol="0" anchor="t">
            <a:noAutofit/>
          </a:bodyPr>
          <a:lstStyle/>
          <a:p>
            <a:r>
              <a:rPr lang="en-US" sz="1920" spc="3" dirty="0">
                <a:solidFill>
                  <a:srgbClr val="FFFFFF"/>
                </a:solidFill>
                <a:latin typeface="Segoe UI" panose="020B0502040204020203" pitchFamily="34" charset="0"/>
              </a:rPr>
              <a:t>Agents reason. People decide.</a:t>
            </a:r>
          </a:p>
        </p:txBody>
      </p:sp>
      <p:sp>
        <p:nvSpPr>
          <p:cNvPr id="12" name="Text 006 P">
            <a:extLst>
              <a:ext uri="{FF2B5EF4-FFF2-40B4-BE49-F238E27FC236}">
                <a16:creationId xmlns:a16="http://schemas.microsoft.com/office/drawing/2014/main" id="{8CB3002D-86F5-2C69-86E8-35EE8A169752}"/>
              </a:ext>
            </a:extLst>
          </p:cNvPr>
          <p:cNvSpPr txBox="1"/>
          <p:nvPr/>
        </p:nvSpPr>
        <p:spPr>
          <a:xfrm>
            <a:off x="579120" y="3736777"/>
            <a:ext cx="65" cy="307777"/>
          </a:xfrm>
          <a:prstGeom prst="rect">
            <a:avLst/>
          </a:prstGeom>
          <a:noFill/>
        </p:spPr>
        <p:txBody>
          <a:bodyPr vert="horz" wrap="none" lIns="0" tIns="0" rIns="0" bIns="0" rtlCol="0" anchor="t">
            <a:noAutofit/>
          </a:bodyPr>
          <a:lstStyle/>
          <a:p>
            <a:r>
              <a:rPr lang="en-US" sz="1920" spc="5" dirty="0">
                <a:solidFill>
                  <a:srgbClr val="FFFFFF"/>
                </a:solidFill>
                <a:latin typeface="Segoe UI" panose="020B0502040204020203" pitchFamily="34" charset="0"/>
              </a:rPr>
              <a:t>The process remembers.</a:t>
            </a:r>
          </a:p>
        </p:txBody>
      </p:sp>
      <p:sp>
        <p:nvSpPr>
          <p:cNvPr id="3" name="Rettangolo con angoli arrotondati 2">
            <a:extLst>
              <a:ext uri="{FF2B5EF4-FFF2-40B4-BE49-F238E27FC236}">
                <a16:creationId xmlns:a16="http://schemas.microsoft.com/office/drawing/2014/main" id="{0E660F30-C7C3-2C1B-4AB8-02A26019C6CC}"/>
              </a:ext>
            </a:extLst>
          </p:cNvPr>
          <p:cNvSpPr/>
          <p:nvPr/>
        </p:nvSpPr>
        <p:spPr bwMode="auto">
          <a:xfrm>
            <a:off x="488619" y="5359262"/>
            <a:ext cx="5098200" cy="683288"/>
          </a:xfrm>
          <a:prstGeom prst="roundRect">
            <a:avLst>
              <a:gd name="adj" fmla="val 49020"/>
            </a:avLst>
          </a:prstGeom>
          <a:solidFill>
            <a:schemeClr val="tx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mn-ea"/>
              <a:cs typeface="+mn-cs"/>
            </a:endParaRPr>
          </a:p>
        </p:txBody>
      </p:sp>
      <p:sp>
        <p:nvSpPr>
          <p:cNvPr id="13" name="Text 007 SPAN">
            <a:extLst>
              <a:ext uri="{FF2B5EF4-FFF2-40B4-BE49-F238E27FC236}">
                <a16:creationId xmlns:a16="http://schemas.microsoft.com/office/drawing/2014/main" id="{AE5C7F2B-299F-AD1B-F4EC-33A0BAFE20A8}"/>
              </a:ext>
            </a:extLst>
          </p:cNvPr>
          <p:cNvSpPr txBox="1"/>
          <p:nvPr/>
        </p:nvSpPr>
        <p:spPr>
          <a:xfrm>
            <a:off x="1483407" y="5547016"/>
            <a:ext cx="65" cy="307777"/>
          </a:xfrm>
          <a:prstGeom prst="rect">
            <a:avLst/>
          </a:prstGeom>
          <a:noFill/>
        </p:spPr>
        <p:txBody>
          <a:bodyPr vert="horz" wrap="none" lIns="0" tIns="0" rIns="0" bIns="0" rtlCol="0" anchor="t">
            <a:noAutofit/>
          </a:bodyPr>
          <a:lstStyle/>
          <a:p>
            <a:r>
              <a:rPr lang="en-US" sz="1500" b="1" dirty="0">
                <a:solidFill>
                  <a:srgbClr val="5466CA"/>
                </a:solidFill>
                <a:latin typeface="Segoe UI" panose="020B0502040204020203" pitchFamily="34" charset="0"/>
              </a:rPr>
              <a:t>Microsoft Copilot Studio - </a:t>
            </a:r>
            <a:r>
              <a:rPr lang="en-US" sz="1500" b="1" dirty="0" err="1">
                <a:solidFill>
                  <a:srgbClr val="5466CA"/>
                </a:solidFill>
                <a:latin typeface="Segoe UI" panose="020B0502040204020203" pitchFamily="34" charset="0"/>
              </a:rPr>
              <a:t>Github</a:t>
            </a:r>
            <a:r>
              <a:rPr lang="en-US" sz="1500" b="1" dirty="0">
                <a:solidFill>
                  <a:srgbClr val="5466CA"/>
                </a:solidFill>
                <a:latin typeface="Segoe UI" panose="020B0502040204020203" pitchFamily="34" charset="0"/>
              </a:rPr>
              <a:t> Harness</a:t>
            </a:r>
          </a:p>
        </p:txBody>
      </p:sp>
      <p:pic>
        <p:nvPicPr>
          <p:cNvPr id="5" name="Elemento grafico 4">
            <a:extLst>
              <a:ext uri="{FF2B5EF4-FFF2-40B4-BE49-F238E27FC236}">
                <a16:creationId xmlns:a16="http://schemas.microsoft.com/office/drawing/2014/main" id="{C458119D-31D8-020C-07EC-5F1A3EF65C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3243" y="5406218"/>
            <a:ext cx="589374" cy="589374"/>
          </a:xfrm>
          <a:prstGeom prst="rect">
            <a:avLst/>
          </a:prstGeom>
        </p:spPr>
      </p:pic>
    </p:spTree>
    <p:extLst>
      <p:ext uri="{BB962C8B-B14F-4D97-AF65-F5344CB8AC3E}">
        <p14:creationId xmlns:p14="http://schemas.microsoft.com/office/powerpoint/2010/main" val="3445196711"/>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Process-02">
    <p:spTree>
      <p:nvGrpSpPr>
        <p:cNvPr id="1" name="">
          <a:extLst>
            <a:ext uri="{FF2B5EF4-FFF2-40B4-BE49-F238E27FC236}">
              <a16:creationId xmlns:a16="http://schemas.microsoft.com/office/drawing/2014/main" id="{45E204F7-B12F-72AC-C9AA-76598E84CC14}"/>
            </a:ext>
          </a:extLst>
        </p:cNvPr>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966A57A7-F3F3-A414-B97C-59122CC64C19}"/>
              </a:ext>
            </a:extLst>
          </p:cNvPr>
          <p:cNvPicPr>
            <a:picLocks/>
          </p:cNvPicPr>
          <p:nvPr/>
        </p:nvPicPr>
        <p:blipFill>
          <a:blip r:embed="rId3"/>
          <a:stretch>
            <a:fillRect/>
          </a:stretch>
        </p:blipFill>
        <p:spPr>
          <a:xfrm>
            <a:off x="0" y="0"/>
            <a:ext cx="12192000" cy="6858000"/>
          </a:xfrm>
          <a:prstGeom prst="rect">
            <a:avLst/>
          </a:prstGeom>
        </p:spPr>
      </p:pic>
      <p:sp>
        <p:nvSpPr>
          <p:cNvPr id="8" name="Text 001 SPAN">
            <a:extLst>
              <a:ext uri="{FF2B5EF4-FFF2-40B4-BE49-F238E27FC236}">
                <a16:creationId xmlns:a16="http://schemas.microsoft.com/office/drawing/2014/main" id="{EDBBCD11-BAF7-4ACA-2D25-C26BC0AB87B7}"/>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01 / INTRODUCTION</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AEB12AFD-F7A6-B34B-4EDD-41834F9528F1}"/>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69" dirty="0">
                <a:solidFill>
                  <a:srgbClr val="1A1A1A"/>
                </a:solidFill>
                <a:latin typeface="Segoe UI Semibold" panose="020B0702040204020203" pitchFamily="34" charset="0"/>
              </a:rPr>
              <a:t>Long Running Agentic Business Process - Common Patterns</a:t>
            </a:r>
          </a:p>
        </p:txBody>
      </p:sp>
      <p:sp>
        <p:nvSpPr>
          <p:cNvPr id="10" name="Text 003 P">
            <a:extLst>
              <a:ext uri="{FF2B5EF4-FFF2-40B4-BE49-F238E27FC236}">
                <a16:creationId xmlns:a16="http://schemas.microsoft.com/office/drawing/2014/main" id="{4DFDA524-13EA-A8BC-27D8-2E1CB2844643}"/>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a:solidFill>
                  <a:srgbClr val="343B48"/>
                </a:solidFill>
                <a:latin typeface="Segoe UI" panose="020B0502040204020203" pitchFamily="34" charset="0"/>
              </a:rPr>
              <a:t>The opportunity: document-heavy work that crosses systems, teams, decisions and time.</a:t>
            </a:r>
            <a:endParaRPr lang="en-US" sz="1500" dirty="0" err="1">
              <a:solidFill>
                <a:srgbClr val="343B48"/>
              </a:solidFill>
              <a:latin typeface="Segoe UI" panose="020B0502040204020203" pitchFamily="34" charset="0"/>
            </a:endParaRPr>
          </a:p>
        </p:txBody>
      </p:sp>
      <p:sp>
        <p:nvSpPr>
          <p:cNvPr id="11" name="Text 004 SPAN">
            <a:extLst>
              <a:ext uri="{FF2B5EF4-FFF2-40B4-BE49-F238E27FC236}">
                <a16:creationId xmlns:a16="http://schemas.microsoft.com/office/drawing/2014/main" id="{F8FED1AC-EBC2-863F-277F-C82747BB6DCE}"/>
              </a:ext>
            </a:extLst>
          </p:cNvPr>
          <p:cNvSpPr txBox="1"/>
          <p:nvPr/>
        </p:nvSpPr>
        <p:spPr>
          <a:xfrm>
            <a:off x="861179" y="1985010"/>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01</a:t>
            </a:r>
            <a:endParaRPr lang="en-US" sz="1500" dirty="0" err="1">
              <a:solidFill>
                <a:srgbClr val="00599F"/>
              </a:solidFill>
              <a:latin typeface="Segoe UI Semibold" panose="020B0702040204020203" pitchFamily="34" charset="0"/>
            </a:endParaRPr>
          </a:p>
        </p:txBody>
      </p:sp>
      <p:sp>
        <p:nvSpPr>
          <p:cNvPr id="12" name="Text 005 H2">
            <a:extLst>
              <a:ext uri="{FF2B5EF4-FFF2-40B4-BE49-F238E27FC236}">
                <a16:creationId xmlns:a16="http://schemas.microsoft.com/office/drawing/2014/main" id="{C8575146-98B5-6C7A-90A8-20CFDA4D91D9}"/>
              </a:ext>
            </a:extLst>
          </p:cNvPr>
          <p:cNvSpPr txBox="1"/>
          <p:nvPr/>
        </p:nvSpPr>
        <p:spPr>
          <a:xfrm>
            <a:off x="762000" y="244602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Interpret the input</a:t>
            </a:r>
            <a:endParaRPr lang="en-US" sz="1680" spc="-30" dirty="0" err="1">
              <a:solidFill>
                <a:srgbClr val="00599F"/>
              </a:solidFill>
              <a:latin typeface="Segoe UI Semibold" panose="020B0702040204020203" pitchFamily="34" charset="0"/>
            </a:endParaRPr>
          </a:p>
        </p:txBody>
      </p:sp>
      <p:sp>
        <p:nvSpPr>
          <p:cNvPr id="13" name="Text 006 P">
            <a:extLst>
              <a:ext uri="{FF2B5EF4-FFF2-40B4-BE49-F238E27FC236}">
                <a16:creationId xmlns:a16="http://schemas.microsoft.com/office/drawing/2014/main" id="{82CE2486-7A32-F465-C5BA-63AD1987FF94}"/>
              </a:ext>
            </a:extLst>
          </p:cNvPr>
          <p:cNvSpPr txBox="1"/>
          <p:nvPr/>
        </p:nvSpPr>
        <p:spPr>
          <a:xfrm>
            <a:off x="762000" y="3124200"/>
            <a:ext cx="65" cy="307777"/>
          </a:xfrm>
          <a:prstGeom prst="rect">
            <a:avLst/>
          </a:prstGeom>
          <a:noFill/>
        </p:spPr>
        <p:txBody>
          <a:bodyPr vert="horz" wrap="none" lIns="0" tIns="0" rIns="0" bIns="0" rtlCol="0" anchor="t">
            <a:noAutofit/>
          </a:bodyPr>
          <a:lstStyle/>
          <a:p>
            <a:r>
              <a:rPr lang="en-US" sz="1380" spc="6">
                <a:solidFill>
                  <a:srgbClr val="343B48"/>
                </a:solidFill>
                <a:latin typeface="Segoe UI" panose="020B0502040204020203" pitchFamily="34" charset="0"/>
              </a:rPr>
              <a:t>Turn documents, emails and</a:t>
            </a:r>
            <a:endParaRPr lang="en-US" sz="1380" spc="6" dirty="0" err="1">
              <a:solidFill>
                <a:srgbClr val="343B48"/>
              </a:solidFill>
              <a:latin typeface="Segoe UI" panose="020B0502040204020203" pitchFamily="34" charset="0"/>
            </a:endParaRPr>
          </a:p>
        </p:txBody>
      </p:sp>
      <p:sp>
        <p:nvSpPr>
          <p:cNvPr id="14" name="Text 007 P">
            <a:extLst>
              <a:ext uri="{FF2B5EF4-FFF2-40B4-BE49-F238E27FC236}">
                <a16:creationId xmlns:a16="http://schemas.microsoft.com/office/drawing/2014/main" id="{F01E9D7C-FF86-4A12-F8DD-D1B3258B2817}"/>
              </a:ext>
            </a:extLst>
          </p:cNvPr>
          <p:cNvSpPr txBox="1"/>
          <p:nvPr/>
        </p:nvSpPr>
        <p:spPr>
          <a:xfrm>
            <a:off x="762000" y="3360777"/>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conversations into structured</a:t>
            </a:r>
            <a:endParaRPr lang="en-US" sz="1380" dirty="0" err="1">
              <a:solidFill>
                <a:srgbClr val="343B48"/>
              </a:solidFill>
              <a:latin typeface="Segoe UI" panose="020B0502040204020203" pitchFamily="34" charset="0"/>
            </a:endParaRPr>
          </a:p>
        </p:txBody>
      </p:sp>
      <p:sp>
        <p:nvSpPr>
          <p:cNvPr id="15" name="Text 008 P">
            <a:extLst>
              <a:ext uri="{FF2B5EF4-FFF2-40B4-BE49-F238E27FC236}">
                <a16:creationId xmlns:a16="http://schemas.microsoft.com/office/drawing/2014/main" id="{C9096849-46BF-DC5D-9E0B-3E940586E09B}"/>
              </a:ext>
            </a:extLst>
          </p:cNvPr>
          <p:cNvSpPr txBox="1"/>
          <p:nvPr/>
        </p:nvSpPr>
        <p:spPr>
          <a:xfrm>
            <a:off x="762000" y="3597354"/>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facts.</a:t>
            </a:r>
            <a:endParaRPr lang="en-US" sz="1380" dirty="0" err="1">
              <a:solidFill>
                <a:srgbClr val="343B48"/>
              </a:solidFill>
              <a:latin typeface="Segoe UI" panose="020B0502040204020203" pitchFamily="34" charset="0"/>
            </a:endParaRPr>
          </a:p>
        </p:txBody>
      </p:sp>
      <p:sp>
        <p:nvSpPr>
          <p:cNvPr id="16" name="Text 009 P">
            <a:extLst>
              <a:ext uri="{FF2B5EF4-FFF2-40B4-BE49-F238E27FC236}">
                <a16:creationId xmlns:a16="http://schemas.microsoft.com/office/drawing/2014/main" id="{C3DC3BFB-CB66-7157-A336-36BB818644F6}"/>
              </a:ext>
            </a:extLst>
          </p:cNvPr>
          <p:cNvSpPr txBox="1"/>
          <p:nvPr/>
        </p:nvSpPr>
        <p:spPr>
          <a:xfrm>
            <a:off x="762000" y="4070509"/>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Resolve missing or</a:t>
            </a:r>
            <a:endParaRPr lang="en-US" sz="1380" dirty="0" err="1">
              <a:solidFill>
                <a:srgbClr val="343B48"/>
              </a:solidFill>
              <a:latin typeface="Segoe UI" panose="020B0502040204020203" pitchFamily="34" charset="0"/>
            </a:endParaRPr>
          </a:p>
        </p:txBody>
      </p:sp>
      <p:sp>
        <p:nvSpPr>
          <p:cNvPr id="17" name="Text 010 P">
            <a:extLst>
              <a:ext uri="{FF2B5EF4-FFF2-40B4-BE49-F238E27FC236}">
                <a16:creationId xmlns:a16="http://schemas.microsoft.com/office/drawing/2014/main" id="{D333E98F-3A6A-50B7-1E3F-8B0808BEA977}"/>
              </a:ext>
            </a:extLst>
          </p:cNvPr>
          <p:cNvSpPr txBox="1"/>
          <p:nvPr/>
        </p:nvSpPr>
        <p:spPr>
          <a:xfrm>
            <a:off x="762000" y="4307086"/>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ambiguous information.</a:t>
            </a:r>
            <a:endParaRPr lang="en-US" sz="1380" dirty="0" err="1">
              <a:solidFill>
                <a:srgbClr val="343B48"/>
              </a:solidFill>
              <a:latin typeface="Segoe UI" panose="020B0502040204020203" pitchFamily="34" charset="0"/>
            </a:endParaRPr>
          </a:p>
        </p:txBody>
      </p:sp>
      <p:sp>
        <p:nvSpPr>
          <p:cNvPr id="18" name="Text 011 SPAN">
            <a:extLst>
              <a:ext uri="{FF2B5EF4-FFF2-40B4-BE49-F238E27FC236}">
                <a16:creationId xmlns:a16="http://schemas.microsoft.com/office/drawing/2014/main" id="{0FCBA1F8-E17C-5E6D-AEFC-ED0622C4E194}"/>
              </a:ext>
            </a:extLst>
          </p:cNvPr>
          <p:cNvSpPr txBox="1"/>
          <p:nvPr/>
        </p:nvSpPr>
        <p:spPr>
          <a:xfrm>
            <a:off x="3650814" y="1985010"/>
            <a:ext cx="65" cy="307777"/>
          </a:xfrm>
          <a:prstGeom prst="rect">
            <a:avLst/>
          </a:prstGeom>
          <a:noFill/>
        </p:spPr>
        <p:txBody>
          <a:bodyPr vert="horz" wrap="none" lIns="0" tIns="0" rIns="0" bIns="0" rtlCol="0" anchor="t">
            <a:noAutofit/>
          </a:bodyPr>
          <a:lstStyle/>
          <a:p>
            <a:r>
              <a:rPr lang="en-US" sz="1500" dirty="0">
                <a:solidFill>
                  <a:srgbClr val="00599F"/>
                </a:solidFill>
                <a:latin typeface="Segoe UI Semibold" panose="020B0702040204020203" pitchFamily="34" charset="0"/>
              </a:rPr>
              <a:t>02</a:t>
            </a:r>
          </a:p>
        </p:txBody>
      </p:sp>
      <p:sp>
        <p:nvSpPr>
          <p:cNvPr id="19" name="Text 012 H2">
            <a:extLst>
              <a:ext uri="{FF2B5EF4-FFF2-40B4-BE49-F238E27FC236}">
                <a16:creationId xmlns:a16="http://schemas.microsoft.com/office/drawing/2014/main" id="{9598EC07-EB3D-CA9C-D8B0-4E966ACEDD3D}"/>
              </a:ext>
            </a:extLst>
          </p:cNvPr>
          <p:cNvSpPr txBox="1"/>
          <p:nvPr/>
        </p:nvSpPr>
        <p:spPr>
          <a:xfrm>
            <a:off x="3566160" y="244602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Apply business</a:t>
            </a:r>
            <a:endParaRPr lang="en-US" sz="1680" spc="-30" dirty="0" err="1">
              <a:solidFill>
                <a:srgbClr val="00599F"/>
              </a:solidFill>
              <a:latin typeface="Segoe UI Semibold" panose="020B0702040204020203" pitchFamily="34" charset="0"/>
            </a:endParaRPr>
          </a:p>
        </p:txBody>
      </p:sp>
      <p:sp>
        <p:nvSpPr>
          <p:cNvPr id="20" name="Text 013 H2">
            <a:extLst>
              <a:ext uri="{FF2B5EF4-FFF2-40B4-BE49-F238E27FC236}">
                <a16:creationId xmlns:a16="http://schemas.microsoft.com/office/drawing/2014/main" id="{7DC441AF-D3EC-6FDB-380B-F09307B90976}"/>
              </a:ext>
            </a:extLst>
          </p:cNvPr>
          <p:cNvSpPr txBox="1"/>
          <p:nvPr/>
        </p:nvSpPr>
        <p:spPr>
          <a:xfrm>
            <a:off x="3566160" y="271903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judgment</a:t>
            </a:r>
            <a:endParaRPr lang="en-US" sz="1680" spc="-30" dirty="0" err="1">
              <a:solidFill>
                <a:srgbClr val="00599F"/>
              </a:solidFill>
              <a:latin typeface="Segoe UI Semibold" panose="020B0702040204020203" pitchFamily="34" charset="0"/>
            </a:endParaRPr>
          </a:p>
        </p:txBody>
      </p:sp>
      <p:sp>
        <p:nvSpPr>
          <p:cNvPr id="21" name="Text 014 P">
            <a:extLst>
              <a:ext uri="{FF2B5EF4-FFF2-40B4-BE49-F238E27FC236}">
                <a16:creationId xmlns:a16="http://schemas.microsoft.com/office/drawing/2014/main" id="{D60E8A9E-90A3-A42C-E497-C6659408F99C}"/>
              </a:ext>
            </a:extLst>
          </p:cNvPr>
          <p:cNvSpPr txBox="1"/>
          <p:nvPr/>
        </p:nvSpPr>
        <p:spPr>
          <a:xfrm>
            <a:off x="3566160" y="312420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Check facts against policies,</a:t>
            </a:r>
            <a:endParaRPr lang="en-US" sz="1380" dirty="0" err="1">
              <a:solidFill>
                <a:srgbClr val="343B48"/>
              </a:solidFill>
              <a:latin typeface="Segoe UI" panose="020B0502040204020203" pitchFamily="34" charset="0"/>
            </a:endParaRPr>
          </a:p>
        </p:txBody>
      </p:sp>
      <p:sp>
        <p:nvSpPr>
          <p:cNvPr id="22" name="Text 015 P">
            <a:extLst>
              <a:ext uri="{FF2B5EF4-FFF2-40B4-BE49-F238E27FC236}">
                <a16:creationId xmlns:a16="http://schemas.microsoft.com/office/drawing/2014/main" id="{96922AC9-FC63-93F2-2DBA-B65C840AC991}"/>
              </a:ext>
            </a:extLst>
          </p:cNvPr>
          <p:cNvSpPr txBox="1"/>
          <p:nvPr/>
        </p:nvSpPr>
        <p:spPr>
          <a:xfrm>
            <a:off x="3566160" y="3360777"/>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eligibility, risk and</a:t>
            </a:r>
            <a:endParaRPr lang="en-US" sz="1380" dirty="0" err="1">
              <a:solidFill>
                <a:srgbClr val="343B48"/>
              </a:solidFill>
              <a:latin typeface="Segoe UI" panose="020B0502040204020203" pitchFamily="34" charset="0"/>
            </a:endParaRPr>
          </a:p>
        </p:txBody>
      </p:sp>
      <p:sp>
        <p:nvSpPr>
          <p:cNvPr id="23" name="Text 016 P">
            <a:extLst>
              <a:ext uri="{FF2B5EF4-FFF2-40B4-BE49-F238E27FC236}">
                <a16:creationId xmlns:a16="http://schemas.microsoft.com/office/drawing/2014/main" id="{45D324CE-4036-3383-136F-5576526E8E40}"/>
              </a:ext>
            </a:extLst>
          </p:cNvPr>
          <p:cNvSpPr txBox="1"/>
          <p:nvPr/>
        </p:nvSpPr>
        <p:spPr>
          <a:xfrm>
            <a:off x="3566160" y="3597354"/>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commercial terms.</a:t>
            </a:r>
            <a:endParaRPr lang="en-US" sz="1380" dirty="0" err="1">
              <a:solidFill>
                <a:srgbClr val="343B48"/>
              </a:solidFill>
              <a:latin typeface="Segoe UI" panose="020B0502040204020203" pitchFamily="34" charset="0"/>
            </a:endParaRPr>
          </a:p>
        </p:txBody>
      </p:sp>
      <p:sp>
        <p:nvSpPr>
          <p:cNvPr id="24" name="Text 017 P">
            <a:extLst>
              <a:ext uri="{FF2B5EF4-FFF2-40B4-BE49-F238E27FC236}">
                <a16:creationId xmlns:a16="http://schemas.microsoft.com/office/drawing/2014/main" id="{8DF28764-6060-F02F-832F-562B1ADB0978}"/>
              </a:ext>
            </a:extLst>
          </p:cNvPr>
          <p:cNvSpPr txBox="1"/>
          <p:nvPr/>
        </p:nvSpPr>
        <p:spPr>
          <a:xfrm>
            <a:off x="3566160" y="4070509"/>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Explain exceptions and</a:t>
            </a:r>
            <a:endParaRPr lang="en-US" sz="1380" dirty="0" err="1">
              <a:solidFill>
                <a:srgbClr val="343B48"/>
              </a:solidFill>
              <a:latin typeface="Segoe UI" panose="020B0502040204020203" pitchFamily="34" charset="0"/>
            </a:endParaRPr>
          </a:p>
        </p:txBody>
      </p:sp>
      <p:sp>
        <p:nvSpPr>
          <p:cNvPr id="25" name="Text 018 P">
            <a:extLst>
              <a:ext uri="{FF2B5EF4-FFF2-40B4-BE49-F238E27FC236}">
                <a16:creationId xmlns:a16="http://schemas.microsoft.com/office/drawing/2014/main" id="{BF09306A-9831-FA0E-98E8-8B5976BE9B49}"/>
              </a:ext>
            </a:extLst>
          </p:cNvPr>
          <p:cNvSpPr txBox="1"/>
          <p:nvPr/>
        </p:nvSpPr>
        <p:spPr>
          <a:xfrm>
            <a:off x="3566160" y="4307086"/>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trade-offs.</a:t>
            </a:r>
            <a:endParaRPr lang="en-US" sz="1380" dirty="0" err="1">
              <a:solidFill>
                <a:srgbClr val="343B48"/>
              </a:solidFill>
              <a:latin typeface="Segoe UI" panose="020B0502040204020203" pitchFamily="34" charset="0"/>
            </a:endParaRPr>
          </a:p>
        </p:txBody>
      </p:sp>
      <p:sp>
        <p:nvSpPr>
          <p:cNvPr id="26" name="Text 019 SPAN">
            <a:extLst>
              <a:ext uri="{FF2B5EF4-FFF2-40B4-BE49-F238E27FC236}">
                <a16:creationId xmlns:a16="http://schemas.microsoft.com/office/drawing/2014/main" id="{DC40120E-1EFE-F578-D572-86C35DEB0494}"/>
              </a:ext>
            </a:extLst>
          </p:cNvPr>
          <p:cNvSpPr txBox="1"/>
          <p:nvPr/>
        </p:nvSpPr>
        <p:spPr>
          <a:xfrm>
            <a:off x="6454973" y="1985010"/>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03</a:t>
            </a:r>
            <a:endParaRPr lang="en-US" sz="1500" dirty="0" err="1">
              <a:solidFill>
                <a:srgbClr val="00599F"/>
              </a:solidFill>
              <a:latin typeface="Segoe UI Semibold" panose="020B0702040204020203" pitchFamily="34" charset="0"/>
            </a:endParaRPr>
          </a:p>
        </p:txBody>
      </p:sp>
      <p:sp>
        <p:nvSpPr>
          <p:cNvPr id="27" name="Text 020 H2">
            <a:extLst>
              <a:ext uri="{FF2B5EF4-FFF2-40B4-BE49-F238E27FC236}">
                <a16:creationId xmlns:a16="http://schemas.microsoft.com/office/drawing/2014/main" id="{F8DC7CB2-F2A3-59A2-E3ED-26AF246C661E}"/>
              </a:ext>
            </a:extLst>
          </p:cNvPr>
          <p:cNvSpPr txBox="1"/>
          <p:nvPr/>
        </p:nvSpPr>
        <p:spPr>
          <a:xfrm>
            <a:off x="6370320" y="2446020"/>
            <a:ext cx="65" cy="307777"/>
          </a:xfrm>
          <a:prstGeom prst="rect">
            <a:avLst/>
          </a:prstGeom>
          <a:noFill/>
        </p:spPr>
        <p:txBody>
          <a:bodyPr vert="horz" wrap="none" lIns="0" tIns="0" rIns="0" bIns="0" rtlCol="0" anchor="t">
            <a:noAutofit/>
          </a:bodyPr>
          <a:lstStyle/>
          <a:p>
            <a:r>
              <a:rPr lang="en-US" sz="1680" spc="-30" dirty="0">
                <a:solidFill>
                  <a:srgbClr val="00599F"/>
                </a:solidFill>
                <a:latin typeface="Segoe UI Semibold" panose="020B0702040204020203" pitchFamily="34" charset="0"/>
              </a:rPr>
              <a:t>Keep work accountable</a:t>
            </a:r>
          </a:p>
        </p:txBody>
      </p:sp>
      <p:sp>
        <p:nvSpPr>
          <p:cNvPr id="28" name="Text 021 P">
            <a:extLst>
              <a:ext uri="{FF2B5EF4-FFF2-40B4-BE49-F238E27FC236}">
                <a16:creationId xmlns:a16="http://schemas.microsoft.com/office/drawing/2014/main" id="{6C7728A2-D540-ECC2-9895-BC272E559DAE}"/>
              </a:ext>
            </a:extLst>
          </p:cNvPr>
          <p:cNvSpPr txBox="1"/>
          <p:nvPr/>
        </p:nvSpPr>
        <p:spPr>
          <a:xfrm>
            <a:off x="6370320" y="312420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Pause for people. Track</a:t>
            </a:r>
            <a:endParaRPr lang="en-US" sz="1380" dirty="0" err="1">
              <a:solidFill>
                <a:srgbClr val="343B48"/>
              </a:solidFill>
              <a:latin typeface="Segoe UI" panose="020B0502040204020203" pitchFamily="34" charset="0"/>
            </a:endParaRPr>
          </a:p>
        </p:txBody>
      </p:sp>
      <p:sp>
        <p:nvSpPr>
          <p:cNvPr id="29" name="Text 022 P">
            <a:extLst>
              <a:ext uri="{FF2B5EF4-FFF2-40B4-BE49-F238E27FC236}">
                <a16:creationId xmlns:a16="http://schemas.microsoft.com/office/drawing/2014/main" id="{43D85B24-2FAF-F1DF-43B7-D0ED101AD8D2}"/>
              </a:ext>
            </a:extLst>
          </p:cNvPr>
          <p:cNvSpPr txBox="1"/>
          <p:nvPr/>
        </p:nvSpPr>
        <p:spPr>
          <a:xfrm>
            <a:off x="6370320" y="3360777"/>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ownership.</a:t>
            </a:r>
            <a:endParaRPr lang="en-US" sz="1380" dirty="0" err="1">
              <a:solidFill>
                <a:srgbClr val="343B48"/>
              </a:solidFill>
              <a:latin typeface="Segoe UI" panose="020B0502040204020203" pitchFamily="34" charset="0"/>
            </a:endParaRPr>
          </a:p>
        </p:txBody>
      </p:sp>
      <p:sp>
        <p:nvSpPr>
          <p:cNvPr id="40" name="Text 023 P">
            <a:extLst>
              <a:ext uri="{FF2B5EF4-FFF2-40B4-BE49-F238E27FC236}">
                <a16:creationId xmlns:a16="http://schemas.microsoft.com/office/drawing/2014/main" id="{4BD52774-C1C2-B9CF-FB87-7CA3A4C10E28}"/>
              </a:ext>
            </a:extLst>
          </p:cNvPr>
          <p:cNvSpPr txBox="1"/>
          <p:nvPr/>
        </p:nvSpPr>
        <p:spPr>
          <a:xfrm>
            <a:off x="6370320" y="3833931"/>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Preserve the evidence when</a:t>
            </a:r>
            <a:endParaRPr lang="en-US" sz="1380" dirty="0" err="1">
              <a:solidFill>
                <a:srgbClr val="343B48"/>
              </a:solidFill>
              <a:latin typeface="Segoe UI" panose="020B0502040204020203" pitchFamily="34" charset="0"/>
            </a:endParaRPr>
          </a:p>
        </p:txBody>
      </p:sp>
      <p:sp>
        <p:nvSpPr>
          <p:cNvPr id="47" name="Text 024 P">
            <a:extLst>
              <a:ext uri="{FF2B5EF4-FFF2-40B4-BE49-F238E27FC236}">
                <a16:creationId xmlns:a16="http://schemas.microsoft.com/office/drawing/2014/main" id="{66E9A011-015A-7E99-A9BA-A4C3604BB5CF}"/>
              </a:ext>
            </a:extLst>
          </p:cNvPr>
          <p:cNvSpPr txBox="1"/>
          <p:nvPr/>
        </p:nvSpPr>
        <p:spPr>
          <a:xfrm>
            <a:off x="6370320" y="4070509"/>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a decision takes days.</a:t>
            </a:r>
            <a:endParaRPr lang="en-US" sz="1380" dirty="0" err="1">
              <a:solidFill>
                <a:srgbClr val="343B48"/>
              </a:solidFill>
              <a:latin typeface="Segoe UI" panose="020B0502040204020203" pitchFamily="34" charset="0"/>
            </a:endParaRPr>
          </a:p>
        </p:txBody>
      </p:sp>
      <p:sp>
        <p:nvSpPr>
          <p:cNvPr id="48" name="Text 025 SPAN">
            <a:extLst>
              <a:ext uri="{FF2B5EF4-FFF2-40B4-BE49-F238E27FC236}">
                <a16:creationId xmlns:a16="http://schemas.microsoft.com/office/drawing/2014/main" id="{5F86F6B1-F5F3-FF16-617A-118DAA89AB1A}"/>
              </a:ext>
            </a:extLst>
          </p:cNvPr>
          <p:cNvSpPr txBox="1"/>
          <p:nvPr/>
        </p:nvSpPr>
        <p:spPr>
          <a:xfrm>
            <a:off x="9257109" y="1985010"/>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04</a:t>
            </a:r>
            <a:endParaRPr lang="en-US" sz="1500" dirty="0" err="1">
              <a:solidFill>
                <a:srgbClr val="00599F"/>
              </a:solidFill>
              <a:latin typeface="Segoe UI Semibold" panose="020B0702040204020203" pitchFamily="34" charset="0"/>
            </a:endParaRPr>
          </a:p>
        </p:txBody>
      </p:sp>
      <p:sp>
        <p:nvSpPr>
          <p:cNvPr id="49" name="Text 026 H2">
            <a:extLst>
              <a:ext uri="{FF2B5EF4-FFF2-40B4-BE49-F238E27FC236}">
                <a16:creationId xmlns:a16="http://schemas.microsoft.com/office/drawing/2014/main" id="{C025935A-03E5-7E45-F975-3A654ACD77B5}"/>
              </a:ext>
            </a:extLst>
          </p:cNvPr>
          <p:cNvSpPr txBox="1"/>
          <p:nvPr/>
        </p:nvSpPr>
        <p:spPr>
          <a:xfrm>
            <a:off x="9174480" y="244602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Integrate systems of</a:t>
            </a:r>
            <a:endParaRPr lang="en-US" sz="1680" spc="-30" dirty="0" err="1">
              <a:solidFill>
                <a:srgbClr val="00599F"/>
              </a:solidFill>
              <a:latin typeface="Segoe UI Semibold" panose="020B0702040204020203" pitchFamily="34" charset="0"/>
            </a:endParaRPr>
          </a:p>
        </p:txBody>
      </p:sp>
      <p:sp>
        <p:nvSpPr>
          <p:cNvPr id="50" name="Text 027 H2">
            <a:extLst>
              <a:ext uri="{FF2B5EF4-FFF2-40B4-BE49-F238E27FC236}">
                <a16:creationId xmlns:a16="http://schemas.microsoft.com/office/drawing/2014/main" id="{EE41AAE7-D296-D0A2-CCF7-4EC8C700A808}"/>
              </a:ext>
            </a:extLst>
          </p:cNvPr>
          <p:cNvSpPr txBox="1"/>
          <p:nvPr/>
        </p:nvSpPr>
        <p:spPr>
          <a:xfrm>
            <a:off x="9174480" y="271903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record</a:t>
            </a:r>
            <a:endParaRPr lang="en-US" sz="1680" spc="-30" dirty="0" err="1">
              <a:solidFill>
                <a:srgbClr val="00599F"/>
              </a:solidFill>
              <a:latin typeface="Segoe UI Semibold" panose="020B0702040204020203" pitchFamily="34" charset="0"/>
            </a:endParaRPr>
          </a:p>
        </p:txBody>
      </p:sp>
      <p:sp>
        <p:nvSpPr>
          <p:cNvPr id="51" name="Text 028 P">
            <a:extLst>
              <a:ext uri="{FF2B5EF4-FFF2-40B4-BE49-F238E27FC236}">
                <a16:creationId xmlns:a16="http://schemas.microsoft.com/office/drawing/2014/main" id="{CBF7A777-1B42-2050-595C-AA070A950563}"/>
              </a:ext>
            </a:extLst>
          </p:cNvPr>
          <p:cNvSpPr txBox="1"/>
          <p:nvPr/>
        </p:nvSpPr>
        <p:spPr>
          <a:xfrm>
            <a:off x="9174480" y="312420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Read trusted data from CRM,</a:t>
            </a:r>
            <a:endParaRPr lang="en-US" sz="1380" dirty="0" err="1">
              <a:solidFill>
                <a:srgbClr val="343B48"/>
              </a:solidFill>
              <a:latin typeface="Segoe UI" panose="020B0502040204020203" pitchFamily="34" charset="0"/>
            </a:endParaRPr>
          </a:p>
        </p:txBody>
      </p:sp>
      <p:sp>
        <p:nvSpPr>
          <p:cNvPr id="52" name="Text 029 P">
            <a:extLst>
              <a:ext uri="{FF2B5EF4-FFF2-40B4-BE49-F238E27FC236}">
                <a16:creationId xmlns:a16="http://schemas.microsoft.com/office/drawing/2014/main" id="{B42E488D-2D42-2FFB-359D-06DDE8A16B03}"/>
              </a:ext>
            </a:extLst>
          </p:cNvPr>
          <p:cNvSpPr txBox="1"/>
          <p:nvPr/>
        </p:nvSpPr>
        <p:spPr>
          <a:xfrm>
            <a:off x="9174480" y="3360777"/>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ERP and business systems.</a:t>
            </a:r>
            <a:endParaRPr lang="en-US" sz="1380" dirty="0" err="1">
              <a:solidFill>
                <a:srgbClr val="343B48"/>
              </a:solidFill>
              <a:latin typeface="Segoe UI" panose="020B0502040204020203" pitchFamily="34" charset="0"/>
            </a:endParaRPr>
          </a:p>
        </p:txBody>
      </p:sp>
      <p:sp>
        <p:nvSpPr>
          <p:cNvPr id="53" name="Text 030 P">
            <a:extLst>
              <a:ext uri="{FF2B5EF4-FFF2-40B4-BE49-F238E27FC236}">
                <a16:creationId xmlns:a16="http://schemas.microsoft.com/office/drawing/2014/main" id="{F44CA634-2C95-8483-AA27-D41B9575D733}"/>
              </a:ext>
            </a:extLst>
          </p:cNvPr>
          <p:cNvSpPr txBox="1"/>
          <p:nvPr/>
        </p:nvSpPr>
        <p:spPr>
          <a:xfrm>
            <a:off x="9174480" y="3833931"/>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Write approved outcomes</a:t>
            </a:r>
            <a:endParaRPr lang="en-US" sz="1380" dirty="0" err="1">
              <a:solidFill>
                <a:srgbClr val="343B48"/>
              </a:solidFill>
              <a:latin typeface="Segoe UI" panose="020B0502040204020203" pitchFamily="34" charset="0"/>
            </a:endParaRPr>
          </a:p>
        </p:txBody>
      </p:sp>
      <p:sp>
        <p:nvSpPr>
          <p:cNvPr id="54" name="Text 031 P">
            <a:extLst>
              <a:ext uri="{FF2B5EF4-FFF2-40B4-BE49-F238E27FC236}">
                <a16:creationId xmlns:a16="http://schemas.microsoft.com/office/drawing/2014/main" id="{23FAEDBA-AE14-7AC8-0EAA-B48C37924310}"/>
              </a:ext>
            </a:extLst>
          </p:cNvPr>
          <p:cNvSpPr txBox="1"/>
          <p:nvPr/>
        </p:nvSpPr>
        <p:spPr>
          <a:xfrm>
            <a:off x="9174480" y="4070509"/>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back with validation and</a:t>
            </a:r>
            <a:endParaRPr lang="en-US" sz="1380" dirty="0" err="1">
              <a:solidFill>
                <a:srgbClr val="343B48"/>
              </a:solidFill>
              <a:latin typeface="Segoe UI" panose="020B0502040204020203" pitchFamily="34" charset="0"/>
            </a:endParaRPr>
          </a:p>
        </p:txBody>
      </p:sp>
      <p:sp>
        <p:nvSpPr>
          <p:cNvPr id="55" name="Text 032 P">
            <a:extLst>
              <a:ext uri="{FF2B5EF4-FFF2-40B4-BE49-F238E27FC236}">
                <a16:creationId xmlns:a16="http://schemas.microsoft.com/office/drawing/2014/main" id="{9D711171-4169-C180-80A7-6A9B74941702}"/>
              </a:ext>
            </a:extLst>
          </p:cNvPr>
          <p:cNvSpPr txBox="1"/>
          <p:nvPr/>
        </p:nvSpPr>
        <p:spPr>
          <a:xfrm>
            <a:off x="9174480" y="4307086"/>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error handling.</a:t>
            </a:r>
            <a:endParaRPr lang="en-US" sz="1380" dirty="0" err="1">
              <a:solidFill>
                <a:srgbClr val="343B48"/>
              </a:solidFill>
              <a:latin typeface="Segoe UI" panose="020B0502040204020203" pitchFamily="34" charset="0"/>
            </a:endParaRPr>
          </a:p>
        </p:txBody>
      </p:sp>
      <p:sp>
        <p:nvSpPr>
          <p:cNvPr id="56" name="Text 033 STRONG">
            <a:extLst>
              <a:ext uri="{FF2B5EF4-FFF2-40B4-BE49-F238E27FC236}">
                <a16:creationId xmlns:a16="http://schemas.microsoft.com/office/drawing/2014/main" id="{ACD30535-DEF6-F5D9-8963-EC4376AEEEB4}"/>
              </a:ext>
            </a:extLst>
          </p:cNvPr>
          <p:cNvSpPr txBox="1"/>
          <p:nvPr/>
        </p:nvSpPr>
        <p:spPr>
          <a:xfrm>
            <a:off x="579120" y="5046583"/>
            <a:ext cx="65" cy="307777"/>
          </a:xfrm>
          <a:prstGeom prst="rect">
            <a:avLst/>
          </a:prstGeom>
          <a:noFill/>
        </p:spPr>
        <p:txBody>
          <a:bodyPr vert="horz" wrap="none" lIns="0" tIns="0" rIns="0" bIns="0" rtlCol="0" anchor="t">
            <a:noAutofit/>
          </a:bodyPr>
          <a:lstStyle/>
          <a:p>
            <a:r>
              <a:rPr lang="en-US" sz="1200">
                <a:solidFill>
                  <a:srgbClr val="1A1A1A"/>
                </a:solidFill>
                <a:latin typeface="Segoe UI Semibold" panose="020B0702040204020203" pitchFamily="34" charset="0"/>
              </a:rPr>
              <a:t>Reference Implementation</a:t>
            </a:r>
            <a:endParaRPr lang="en-US" sz="1200" dirty="0" err="1">
              <a:solidFill>
                <a:srgbClr val="1A1A1A"/>
              </a:solidFill>
              <a:latin typeface="Segoe UI Semibold" panose="020B0702040204020203" pitchFamily="34" charset="0"/>
            </a:endParaRPr>
          </a:p>
        </p:txBody>
      </p:sp>
      <p:sp>
        <p:nvSpPr>
          <p:cNvPr id="57" name="Text 034 SPAN">
            <a:extLst>
              <a:ext uri="{FF2B5EF4-FFF2-40B4-BE49-F238E27FC236}">
                <a16:creationId xmlns:a16="http://schemas.microsoft.com/office/drawing/2014/main" id="{44A3F827-138A-84D0-74A0-FE546BD0E70D}"/>
              </a:ext>
            </a:extLst>
          </p:cNvPr>
          <p:cNvSpPr txBox="1"/>
          <p:nvPr/>
        </p:nvSpPr>
        <p:spPr>
          <a:xfrm>
            <a:off x="2669381" y="5046583"/>
            <a:ext cx="65" cy="307777"/>
          </a:xfrm>
          <a:prstGeom prst="rect">
            <a:avLst/>
          </a:prstGeom>
          <a:noFill/>
        </p:spPr>
        <p:txBody>
          <a:bodyPr vert="horz" wrap="none" lIns="0" tIns="0" rIns="0" bIns="0" rtlCol="0" anchor="t">
            <a:noAutofit/>
          </a:bodyPr>
          <a:lstStyle/>
          <a:p>
            <a:r>
              <a:rPr lang="en-US" sz="1200">
                <a:solidFill>
                  <a:srgbClr val="00599F"/>
                </a:solidFill>
                <a:latin typeface="Segoe UI" panose="020B0502040204020203" pitchFamily="34" charset="0"/>
              </a:rPr>
              <a:t>Order intake</a:t>
            </a:r>
            <a:endParaRPr lang="en-US" sz="1200" dirty="0" err="1">
              <a:solidFill>
                <a:srgbClr val="00599F"/>
              </a:solidFill>
              <a:latin typeface="Segoe UI" panose="020B0502040204020203" pitchFamily="34" charset="0"/>
            </a:endParaRPr>
          </a:p>
        </p:txBody>
      </p:sp>
      <p:sp>
        <p:nvSpPr>
          <p:cNvPr id="58" name="Text 035 STRONG">
            <a:extLst>
              <a:ext uri="{FF2B5EF4-FFF2-40B4-BE49-F238E27FC236}">
                <a16:creationId xmlns:a16="http://schemas.microsoft.com/office/drawing/2014/main" id="{520EF833-D674-0E01-12F4-172B4A2BAC9A}"/>
              </a:ext>
            </a:extLst>
          </p:cNvPr>
          <p:cNvSpPr txBox="1"/>
          <p:nvPr/>
        </p:nvSpPr>
        <p:spPr>
          <a:xfrm>
            <a:off x="3920728" y="5046583"/>
            <a:ext cx="65" cy="307777"/>
          </a:xfrm>
          <a:prstGeom prst="rect">
            <a:avLst/>
          </a:prstGeom>
          <a:noFill/>
        </p:spPr>
        <p:txBody>
          <a:bodyPr vert="horz" wrap="none" lIns="0" tIns="0" rIns="0" bIns="0" rtlCol="0" anchor="t">
            <a:noAutofit/>
          </a:bodyPr>
          <a:lstStyle/>
          <a:p>
            <a:r>
              <a:rPr lang="en-US" sz="1200">
                <a:solidFill>
                  <a:srgbClr val="1A1A1A"/>
                </a:solidFill>
                <a:latin typeface="Segoe UI Semibold" panose="020B0702040204020203" pitchFamily="34" charset="0"/>
              </a:rPr>
              <a:t>Use Case Opportunities:</a:t>
            </a:r>
            <a:endParaRPr lang="en-US" sz="1200" dirty="0" err="1">
              <a:solidFill>
                <a:srgbClr val="1A1A1A"/>
              </a:solidFill>
              <a:latin typeface="Segoe UI Semibold" panose="020B0702040204020203" pitchFamily="34" charset="0"/>
            </a:endParaRPr>
          </a:p>
        </p:txBody>
      </p:sp>
      <p:sp>
        <p:nvSpPr>
          <p:cNvPr id="59" name="Text 036 SPAN">
            <a:extLst>
              <a:ext uri="{FF2B5EF4-FFF2-40B4-BE49-F238E27FC236}">
                <a16:creationId xmlns:a16="http://schemas.microsoft.com/office/drawing/2014/main" id="{BCF14982-F022-33C8-880F-7A19990B3421}"/>
              </a:ext>
            </a:extLst>
          </p:cNvPr>
          <p:cNvSpPr txBox="1"/>
          <p:nvPr/>
        </p:nvSpPr>
        <p:spPr>
          <a:xfrm>
            <a:off x="5840016" y="5046583"/>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Claims</a:t>
            </a:r>
            <a:endParaRPr lang="en-US" sz="1200" dirty="0" err="1">
              <a:solidFill>
                <a:srgbClr val="1A1A1A"/>
              </a:solidFill>
              <a:latin typeface="Segoe UI" panose="020B0502040204020203" pitchFamily="34" charset="0"/>
            </a:endParaRPr>
          </a:p>
        </p:txBody>
      </p:sp>
      <p:sp>
        <p:nvSpPr>
          <p:cNvPr id="60" name="Text 037 SPAN">
            <a:extLst>
              <a:ext uri="{FF2B5EF4-FFF2-40B4-BE49-F238E27FC236}">
                <a16:creationId xmlns:a16="http://schemas.microsoft.com/office/drawing/2014/main" id="{D1D430E4-12CF-6E38-A43F-443CC92787CE}"/>
              </a:ext>
            </a:extLst>
          </p:cNvPr>
          <p:cNvSpPr txBox="1"/>
          <p:nvPr/>
        </p:nvSpPr>
        <p:spPr>
          <a:xfrm>
            <a:off x="6693218" y="5046583"/>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Loans</a:t>
            </a:r>
            <a:endParaRPr lang="en-US" sz="1200" dirty="0" err="1">
              <a:solidFill>
                <a:srgbClr val="1A1A1A"/>
              </a:solidFill>
              <a:latin typeface="Segoe UI" panose="020B0502040204020203" pitchFamily="34" charset="0"/>
            </a:endParaRPr>
          </a:p>
        </p:txBody>
      </p:sp>
      <p:sp>
        <p:nvSpPr>
          <p:cNvPr id="61" name="Text 038 SPAN">
            <a:extLst>
              <a:ext uri="{FF2B5EF4-FFF2-40B4-BE49-F238E27FC236}">
                <a16:creationId xmlns:a16="http://schemas.microsoft.com/office/drawing/2014/main" id="{4721527A-722A-ACDA-0A5B-B3155D96F5FF}"/>
              </a:ext>
            </a:extLst>
          </p:cNvPr>
          <p:cNvSpPr txBox="1"/>
          <p:nvPr/>
        </p:nvSpPr>
        <p:spPr>
          <a:xfrm>
            <a:off x="7494270" y="5046583"/>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Deals</a:t>
            </a:r>
            <a:endParaRPr lang="en-US" sz="1200" dirty="0" err="1">
              <a:solidFill>
                <a:srgbClr val="1A1A1A"/>
              </a:solidFill>
              <a:latin typeface="Segoe UI" panose="020B0502040204020203" pitchFamily="34" charset="0"/>
            </a:endParaRPr>
          </a:p>
        </p:txBody>
      </p:sp>
      <p:sp>
        <p:nvSpPr>
          <p:cNvPr id="62" name="Text 039 SPAN">
            <a:extLst>
              <a:ext uri="{FF2B5EF4-FFF2-40B4-BE49-F238E27FC236}">
                <a16:creationId xmlns:a16="http://schemas.microsoft.com/office/drawing/2014/main" id="{7C96DE39-17A7-5F4A-B962-D456223FC954}"/>
              </a:ext>
            </a:extLst>
          </p:cNvPr>
          <p:cNvSpPr txBox="1"/>
          <p:nvPr/>
        </p:nvSpPr>
        <p:spPr>
          <a:xfrm>
            <a:off x="8271510" y="5046583"/>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RFQ</a:t>
            </a:r>
            <a:endParaRPr lang="en-US" sz="1200" dirty="0" err="1">
              <a:solidFill>
                <a:srgbClr val="1A1A1A"/>
              </a:solidFill>
              <a:latin typeface="Segoe UI" panose="020B0502040204020203" pitchFamily="34" charset="0"/>
            </a:endParaRPr>
          </a:p>
        </p:txBody>
      </p:sp>
      <p:sp>
        <p:nvSpPr>
          <p:cNvPr id="63" name="Text 040 SPAN">
            <a:extLst>
              <a:ext uri="{FF2B5EF4-FFF2-40B4-BE49-F238E27FC236}">
                <a16:creationId xmlns:a16="http://schemas.microsoft.com/office/drawing/2014/main" id="{F5D4A3A2-0EF5-F6B1-F602-1D4AE7D78E93}"/>
              </a:ext>
            </a:extLst>
          </p:cNvPr>
          <p:cNvSpPr txBox="1"/>
          <p:nvPr/>
        </p:nvSpPr>
        <p:spPr>
          <a:xfrm>
            <a:off x="8963501" y="5046583"/>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Contracts</a:t>
            </a:r>
            <a:endParaRPr lang="en-US" sz="1200" dirty="0" err="1">
              <a:solidFill>
                <a:srgbClr val="1A1A1A"/>
              </a:solidFill>
              <a:latin typeface="Segoe UI" panose="020B0502040204020203" pitchFamily="34" charset="0"/>
            </a:endParaRPr>
          </a:p>
        </p:txBody>
      </p:sp>
      <p:sp>
        <p:nvSpPr>
          <p:cNvPr id="64" name="Text 041 DIV">
            <a:extLst>
              <a:ext uri="{FF2B5EF4-FFF2-40B4-BE49-F238E27FC236}">
                <a16:creationId xmlns:a16="http://schemas.microsoft.com/office/drawing/2014/main" id="{FC7B5321-83EB-0613-04B8-6D63F478C94E}"/>
              </a:ext>
            </a:extLst>
          </p:cNvPr>
          <p:cNvSpPr txBox="1"/>
          <p:nvPr/>
        </p:nvSpPr>
        <p:spPr>
          <a:xfrm>
            <a:off x="1463397" y="584073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Best fit: </a:t>
            </a:r>
            <a:endParaRPr lang="en-US" sz="1560" dirty="0" err="1">
              <a:solidFill>
                <a:srgbClr val="1A1A1A"/>
              </a:solidFill>
              <a:latin typeface="Segoe UI" panose="020B0502040204020203" pitchFamily="34" charset="0"/>
            </a:endParaRPr>
          </a:p>
        </p:txBody>
      </p:sp>
      <p:sp>
        <p:nvSpPr>
          <p:cNvPr id="65" name="Text 042 STRONG">
            <a:extLst>
              <a:ext uri="{FF2B5EF4-FFF2-40B4-BE49-F238E27FC236}">
                <a16:creationId xmlns:a16="http://schemas.microsoft.com/office/drawing/2014/main" id="{AFA26418-9BF7-A2EB-1252-29A85AAE2908}"/>
              </a:ext>
            </a:extLst>
          </p:cNvPr>
          <p:cNvSpPr txBox="1"/>
          <p:nvPr/>
        </p:nvSpPr>
        <p:spPr>
          <a:xfrm>
            <a:off x="2160508" y="5840730"/>
            <a:ext cx="65" cy="307777"/>
          </a:xfrm>
          <a:prstGeom prst="rect">
            <a:avLst/>
          </a:prstGeom>
          <a:noFill/>
        </p:spPr>
        <p:txBody>
          <a:bodyPr vert="horz" wrap="none" lIns="0" tIns="0" rIns="0" bIns="0" rtlCol="0" anchor="t">
            <a:noAutofit/>
          </a:bodyPr>
          <a:lstStyle/>
          <a:p>
            <a:r>
              <a:rPr lang="en-US" sz="1560" spc="-1">
                <a:solidFill>
                  <a:srgbClr val="00599F"/>
                </a:solidFill>
                <a:latin typeface="Segoe UI Semibold" panose="020B0702040204020203" pitchFamily="34" charset="0"/>
              </a:rPr>
              <a:t>event-triggered, long-running multi-stage work with reasoning, human control and traceability.</a:t>
            </a:r>
            <a:endParaRPr lang="en-US" sz="1560" spc="-1" dirty="0" err="1">
              <a:solidFill>
                <a:srgbClr val="00599F"/>
              </a:solidFill>
              <a:latin typeface="Segoe UI Semibold" panose="020B0702040204020203" pitchFamily="34" charset="0"/>
            </a:endParaRPr>
          </a:p>
        </p:txBody>
      </p:sp>
      <p:sp>
        <p:nvSpPr>
          <p:cNvPr id="66" name="Text 043 FOOTER">
            <a:extLst>
              <a:ext uri="{FF2B5EF4-FFF2-40B4-BE49-F238E27FC236}">
                <a16:creationId xmlns:a16="http://schemas.microsoft.com/office/drawing/2014/main" id="{3D1A3C74-9F7B-FE82-E7F4-F882522E020C}"/>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Agentic Business Process Automation on Copilot Studio</a:t>
            </a:r>
            <a:endParaRPr lang="en-US" sz="840" dirty="0" err="1">
              <a:solidFill>
                <a:srgbClr val="425466"/>
              </a:solidFill>
              <a:latin typeface="Segoe UI" panose="020B0502040204020203" pitchFamily="34" charset="0"/>
            </a:endParaRPr>
          </a:p>
        </p:txBody>
      </p:sp>
      <p:sp>
        <p:nvSpPr>
          <p:cNvPr id="67" name="Text 044 FOOTER">
            <a:extLst>
              <a:ext uri="{FF2B5EF4-FFF2-40B4-BE49-F238E27FC236}">
                <a16:creationId xmlns:a16="http://schemas.microsoft.com/office/drawing/2014/main" id="{8363370E-7897-D7D4-521A-B5E46CE833B8}"/>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02 / 23</a:t>
            </a:r>
            <a:endParaRPr lang="en-US" sz="840" dirty="0" err="1">
              <a:solidFill>
                <a:srgbClr val="425466"/>
              </a:solidFill>
              <a:latin typeface="Segoe UI" panose="020B0502040204020203" pitchFamily="34" charset="0"/>
            </a:endParaRPr>
          </a:p>
        </p:txBody>
      </p:sp>
    </p:spTree>
    <p:extLst>
      <p:ext uri="{BB962C8B-B14F-4D97-AF65-F5344CB8AC3E}">
        <p14:creationId xmlns:p14="http://schemas.microsoft.com/office/powerpoint/2010/main" val="2412185498"/>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Process-03">
    <p:spTree>
      <p:nvGrpSpPr>
        <p:cNvPr id="1" name="">
          <a:extLst>
            <a:ext uri="{FF2B5EF4-FFF2-40B4-BE49-F238E27FC236}">
              <a16:creationId xmlns:a16="http://schemas.microsoft.com/office/drawing/2014/main" id="{45E204F7-B12F-72AC-C9AA-76598E84CC14}"/>
            </a:ext>
          </a:extLst>
        </p:cNvPr>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7AEE9F52-9BE3-C5EC-0CE5-29E732C2B6DF}"/>
              </a:ext>
            </a:extLst>
          </p:cNvPr>
          <p:cNvPicPr>
            <a:picLocks/>
          </p:cNvPicPr>
          <p:nvPr/>
        </p:nvPicPr>
        <p:blipFill>
          <a:blip r:embed="rId3"/>
          <a:stretch>
            <a:fillRect/>
          </a:stretch>
        </p:blipFill>
        <p:spPr>
          <a:xfrm>
            <a:off x="0" y="0"/>
            <a:ext cx="12192000" cy="6858000"/>
          </a:xfrm>
          <a:prstGeom prst="rect">
            <a:avLst/>
          </a:prstGeom>
        </p:spPr>
      </p:pic>
      <p:sp>
        <p:nvSpPr>
          <p:cNvPr id="8" name="Text 001 SPAN">
            <a:extLst>
              <a:ext uri="{FF2B5EF4-FFF2-40B4-BE49-F238E27FC236}">
                <a16:creationId xmlns:a16="http://schemas.microsoft.com/office/drawing/2014/main" id="{BA5D3617-AB0A-8C36-07FF-EE50E61DFBE3}"/>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01 / INTRODUCTION</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2C2BED87-BE78-8D99-EFD4-448CC4206FAB}"/>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70">
                <a:solidFill>
                  <a:srgbClr val="1A1A1A"/>
                </a:solidFill>
                <a:latin typeface="Segoe UI Semibold" panose="020B0702040204020203" pitchFamily="34" charset="0"/>
              </a:rPr>
              <a:t>One reusable core. Your business logic on top.</a:t>
            </a:r>
            <a:endParaRPr lang="en-US" sz="2880" spc="-70" dirty="0" err="1">
              <a:solidFill>
                <a:srgbClr val="1A1A1A"/>
              </a:solidFill>
              <a:latin typeface="Segoe UI Semibold" panose="020B0702040204020203" pitchFamily="34" charset="0"/>
            </a:endParaRPr>
          </a:p>
        </p:txBody>
      </p:sp>
      <p:sp>
        <p:nvSpPr>
          <p:cNvPr id="10" name="Text 003 P">
            <a:extLst>
              <a:ext uri="{FF2B5EF4-FFF2-40B4-BE49-F238E27FC236}">
                <a16:creationId xmlns:a16="http://schemas.microsoft.com/office/drawing/2014/main" id="{95E9950D-326A-3AF1-0570-5D8FFF94D1FC}"/>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spc="-1">
                <a:solidFill>
                  <a:srgbClr val="343B48"/>
                </a:solidFill>
                <a:latin typeface="Segoe UI" panose="020B0502040204020203" pitchFamily="34" charset="0"/>
              </a:rPr>
              <a:t>Stop rebuilding the task queue, process history and human-review experience.</a:t>
            </a:r>
            <a:endParaRPr lang="en-US" sz="1500" spc="-1" dirty="0" err="1">
              <a:solidFill>
                <a:srgbClr val="343B48"/>
              </a:solidFill>
              <a:latin typeface="Segoe UI" panose="020B0502040204020203" pitchFamily="34" charset="0"/>
            </a:endParaRPr>
          </a:p>
        </p:txBody>
      </p:sp>
      <p:sp>
        <p:nvSpPr>
          <p:cNvPr id="11" name="Text 004 DIV">
            <a:extLst>
              <a:ext uri="{FF2B5EF4-FFF2-40B4-BE49-F238E27FC236}">
                <a16:creationId xmlns:a16="http://schemas.microsoft.com/office/drawing/2014/main" id="{3440715D-420A-5FC9-7985-F260EA7DEAE0}"/>
              </a:ext>
            </a:extLst>
          </p:cNvPr>
          <p:cNvSpPr txBox="1"/>
          <p:nvPr/>
        </p:nvSpPr>
        <p:spPr>
          <a:xfrm>
            <a:off x="807720" y="2147173"/>
            <a:ext cx="65" cy="307777"/>
          </a:xfrm>
          <a:prstGeom prst="rect">
            <a:avLst/>
          </a:prstGeom>
          <a:noFill/>
        </p:spPr>
        <p:txBody>
          <a:bodyPr vert="horz" wrap="none" lIns="0" tIns="0" rIns="0" bIns="0" rtlCol="0" anchor="t">
            <a:noAutofit/>
          </a:bodyPr>
          <a:lstStyle/>
          <a:p>
            <a:r>
              <a:rPr lang="en-US" sz="1200" spc="60">
                <a:solidFill>
                  <a:srgbClr val="453793"/>
                </a:solidFill>
                <a:latin typeface="Segoe UI Semibold" panose="020B0702040204020203" pitchFamily="34" charset="0"/>
              </a:rPr>
              <a:t>REFERENCE PROCESS</a:t>
            </a:r>
            <a:endParaRPr lang="en-US" sz="1200" spc="60" dirty="0" err="1">
              <a:solidFill>
                <a:srgbClr val="453793"/>
              </a:solidFill>
              <a:latin typeface="Segoe UI Semibold" panose="020B0702040204020203" pitchFamily="34" charset="0"/>
            </a:endParaRPr>
          </a:p>
        </p:txBody>
      </p:sp>
      <p:sp>
        <p:nvSpPr>
          <p:cNvPr id="12" name="Text 005 H2">
            <a:extLst>
              <a:ext uri="{FF2B5EF4-FFF2-40B4-BE49-F238E27FC236}">
                <a16:creationId xmlns:a16="http://schemas.microsoft.com/office/drawing/2014/main" id="{7E806FA3-5AAE-BD41-B141-36BD8B64A997}"/>
              </a:ext>
            </a:extLst>
          </p:cNvPr>
          <p:cNvSpPr txBox="1"/>
          <p:nvPr/>
        </p:nvSpPr>
        <p:spPr>
          <a:xfrm>
            <a:off x="2918460" y="1905000"/>
            <a:ext cx="65" cy="307777"/>
          </a:xfrm>
          <a:prstGeom prst="rect">
            <a:avLst/>
          </a:prstGeom>
          <a:noFill/>
        </p:spPr>
        <p:txBody>
          <a:bodyPr vert="horz" wrap="none" lIns="0" tIns="0" rIns="0" bIns="0" rtlCol="0" anchor="t">
            <a:noAutofit/>
          </a:bodyPr>
          <a:lstStyle/>
          <a:p>
            <a:r>
              <a:rPr lang="en-US" sz="1920" spc="-30">
                <a:solidFill>
                  <a:srgbClr val="00599F"/>
                </a:solidFill>
                <a:latin typeface="Segoe UI Semibold" panose="020B0702040204020203" pitchFamily="34" charset="0"/>
              </a:rPr>
              <a:t>Order Processing - or your next scenario</a:t>
            </a:r>
            <a:endParaRPr lang="en-US" sz="1920" spc="-30" dirty="0" err="1">
              <a:solidFill>
                <a:srgbClr val="00599F"/>
              </a:solidFill>
              <a:latin typeface="Segoe UI Semibold" panose="020B0702040204020203" pitchFamily="34" charset="0"/>
            </a:endParaRPr>
          </a:p>
        </p:txBody>
      </p:sp>
      <p:sp>
        <p:nvSpPr>
          <p:cNvPr id="13" name="Text 006 P">
            <a:extLst>
              <a:ext uri="{FF2B5EF4-FFF2-40B4-BE49-F238E27FC236}">
                <a16:creationId xmlns:a16="http://schemas.microsoft.com/office/drawing/2014/main" id="{6D163BBF-43BE-E4ED-B580-A4FF200029AC}"/>
              </a:ext>
            </a:extLst>
          </p:cNvPr>
          <p:cNvSpPr txBox="1"/>
          <p:nvPr/>
        </p:nvSpPr>
        <p:spPr>
          <a:xfrm>
            <a:off x="2918460" y="2331363"/>
            <a:ext cx="65" cy="307777"/>
          </a:xfrm>
          <a:prstGeom prst="rect">
            <a:avLst/>
          </a:prstGeom>
          <a:noFill/>
        </p:spPr>
        <p:txBody>
          <a:bodyPr vert="horz" wrap="none" lIns="0" tIns="0" rIns="0" bIns="0" rtlCol="0" anchor="t">
            <a:noAutofit/>
          </a:bodyPr>
          <a:lstStyle/>
          <a:p>
            <a:r>
              <a:rPr lang="en-US" sz="1440" spc="-1">
                <a:solidFill>
                  <a:srgbClr val="1A1A1A"/>
                </a:solidFill>
                <a:latin typeface="Segoe UI" panose="020B0502040204020203" pitchFamily="34" charset="0"/>
              </a:rPr>
              <a:t>Domain workflows   /   agent skills   /   review widgets   /   roles</a:t>
            </a:r>
            <a:endParaRPr lang="en-US" sz="1440" spc="-1" dirty="0" err="1">
              <a:solidFill>
                <a:srgbClr val="1A1A1A"/>
              </a:solidFill>
              <a:latin typeface="Segoe UI" panose="020B0502040204020203" pitchFamily="34" charset="0"/>
            </a:endParaRPr>
          </a:p>
        </p:txBody>
      </p:sp>
      <p:sp>
        <p:nvSpPr>
          <p:cNvPr id="14" name="Text 007 DIV">
            <a:extLst>
              <a:ext uri="{FF2B5EF4-FFF2-40B4-BE49-F238E27FC236}">
                <a16:creationId xmlns:a16="http://schemas.microsoft.com/office/drawing/2014/main" id="{F173FF2C-025A-85E3-1344-28B8A190CA85}"/>
              </a:ext>
            </a:extLst>
          </p:cNvPr>
          <p:cNvSpPr txBox="1"/>
          <p:nvPr/>
        </p:nvSpPr>
        <p:spPr>
          <a:xfrm>
            <a:off x="4924068" y="2839045"/>
            <a:ext cx="65" cy="307777"/>
          </a:xfrm>
          <a:prstGeom prst="rect">
            <a:avLst/>
          </a:prstGeom>
          <a:noFill/>
        </p:spPr>
        <p:txBody>
          <a:bodyPr vert="horz" wrap="none" lIns="0" tIns="0" rIns="0" bIns="0" rtlCol="0" anchor="t">
            <a:noAutofit/>
          </a:bodyPr>
          <a:lstStyle/>
          <a:p>
            <a:r>
              <a:rPr lang="en-US" sz="1080">
                <a:solidFill>
                  <a:srgbClr val="343B48"/>
                </a:solidFill>
                <a:latin typeface="Segoe UI" panose="020B0502040204020203" pitchFamily="34" charset="0"/>
              </a:rPr>
              <a:t>uses shared process and task contracts</a:t>
            </a:r>
            <a:endParaRPr lang="en-US" sz="1080" dirty="0" err="1">
              <a:solidFill>
                <a:srgbClr val="343B48"/>
              </a:solidFill>
              <a:latin typeface="Segoe UI" panose="020B0502040204020203" pitchFamily="34" charset="0"/>
            </a:endParaRPr>
          </a:p>
        </p:txBody>
      </p:sp>
      <p:sp>
        <p:nvSpPr>
          <p:cNvPr id="15" name="Text 008 DIV">
            <a:extLst>
              <a:ext uri="{FF2B5EF4-FFF2-40B4-BE49-F238E27FC236}">
                <a16:creationId xmlns:a16="http://schemas.microsoft.com/office/drawing/2014/main" id="{6F435017-DDA9-6637-9704-FDCC259C5EF0}"/>
              </a:ext>
            </a:extLst>
          </p:cNvPr>
          <p:cNvSpPr txBox="1"/>
          <p:nvPr/>
        </p:nvSpPr>
        <p:spPr>
          <a:xfrm>
            <a:off x="807720" y="3405069"/>
            <a:ext cx="65" cy="307777"/>
          </a:xfrm>
          <a:prstGeom prst="rect">
            <a:avLst/>
          </a:prstGeom>
          <a:noFill/>
        </p:spPr>
        <p:txBody>
          <a:bodyPr vert="horz" wrap="none" lIns="0" tIns="0" rIns="0" bIns="0" rtlCol="0" anchor="t">
            <a:noAutofit/>
          </a:bodyPr>
          <a:lstStyle/>
          <a:p>
            <a:r>
              <a:rPr lang="en-US" sz="1200" spc="60">
                <a:solidFill>
                  <a:srgbClr val="00599F"/>
                </a:solidFill>
                <a:latin typeface="Segoe UI Semibold" panose="020B0702040204020203" pitchFamily="34" charset="0"/>
              </a:rPr>
              <a:t>BUSINESS PROCESS</a:t>
            </a:r>
            <a:endParaRPr lang="en-US" sz="1200" spc="60" dirty="0" err="1">
              <a:solidFill>
                <a:srgbClr val="00599F"/>
              </a:solidFill>
              <a:latin typeface="Segoe UI Semibold" panose="020B0702040204020203" pitchFamily="34" charset="0"/>
            </a:endParaRPr>
          </a:p>
        </p:txBody>
      </p:sp>
      <p:sp>
        <p:nvSpPr>
          <p:cNvPr id="16" name="Text 009 DIV">
            <a:extLst>
              <a:ext uri="{FF2B5EF4-FFF2-40B4-BE49-F238E27FC236}">
                <a16:creationId xmlns:a16="http://schemas.microsoft.com/office/drawing/2014/main" id="{A5DC32D9-EA42-3425-C62B-168CB739EB45}"/>
              </a:ext>
            </a:extLst>
          </p:cNvPr>
          <p:cNvSpPr txBox="1"/>
          <p:nvPr/>
        </p:nvSpPr>
        <p:spPr>
          <a:xfrm>
            <a:off x="807720" y="3610808"/>
            <a:ext cx="65" cy="307777"/>
          </a:xfrm>
          <a:prstGeom prst="rect">
            <a:avLst/>
          </a:prstGeom>
          <a:noFill/>
        </p:spPr>
        <p:txBody>
          <a:bodyPr vert="horz" wrap="none" lIns="0" tIns="0" rIns="0" bIns="0" rtlCol="0" anchor="t">
            <a:noAutofit/>
          </a:bodyPr>
          <a:lstStyle/>
          <a:p>
            <a:r>
              <a:rPr lang="en-US" sz="1200" spc="60">
                <a:solidFill>
                  <a:srgbClr val="00599F"/>
                </a:solidFill>
                <a:latin typeface="Segoe UI Semibold" panose="020B0702040204020203" pitchFamily="34" charset="0"/>
              </a:rPr>
              <a:t>CORE</a:t>
            </a:r>
            <a:endParaRPr lang="en-US" sz="1200" spc="60" dirty="0" err="1">
              <a:solidFill>
                <a:srgbClr val="00599F"/>
              </a:solidFill>
              <a:latin typeface="Segoe UI Semibold" panose="020B0702040204020203" pitchFamily="34" charset="0"/>
            </a:endParaRPr>
          </a:p>
        </p:txBody>
      </p:sp>
      <p:sp>
        <p:nvSpPr>
          <p:cNvPr id="17" name="Text 010 H2">
            <a:extLst>
              <a:ext uri="{FF2B5EF4-FFF2-40B4-BE49-F238E27FC236}">
                <a16:creationId xmlns:a16="http://schemas.microsoft.com/office/drawing/2014/main" id="{B4ACE738-6EC3-221C-7CE3-99FB1994F006}"/>
              </a:ext>
            </a:extLst>
          </p:cNvPr>
          <p:cNvSpPr txBox="1"/>
          <p:nvPr/>
        </p:nvSpPr>
        <p:spPr>
          <a:xfrm>
            <a:off x="2918460" y="3265765"/>
            <a:ext cx="65" cy="307777"/>
          </a:xfrm>
          <a:prstGeom prst="rect">
            <a:avLst/>
          </a:prstGeom>
          <a:noFill/>
        </p:spPr>
        <p:txBody>
          <a:bodyPr vert="horz" wrap="none" lIns="0" tIns="0" rIns="0" bIns="0" rtlCol="0" anchor="t">
            <a:noAutofit/>
          </a:bodyPr>
          <a:lstStyle/>
          <a:p>
            <a:r>
              <a:rPr lang="en-US" sz="1920" spc="-30">
                <a:solidFill>
                  <a:srgbClr val="00599F"/>
                </a:solidFill>
                <a:latin typeface="Segoe UI Semibold" panose="020B0702040204020203" pitchFamily="34" charset="0"/>
              </a:rPr>
              <a:t>State, tasks, review UI, notifications and monitoring</a:t>
            </a:r>
            <a:endParaRPr lang="en-US" sz="1920" spc="-30" dirty="0" err="1">
              <a:solidFill>
                <a:srgbClr val="00599F"/>
              </a:solidFill>
              <a:latin typeface="Segoe UI Semibold" panose="020B0702040204020203" pitchFamily="34" charset="0"/>
            </a:endParaRPr>
          </a:p>
        </p:txBody>
      </p:sp>
      <p:sp>
        <p:nvSpPr>
          <p:cNvPr id="18" name="Text 011 P">
            <a:extLst>
              <a:ext uri="{FF2B5EF4-FFF2-40B4-BE49-F238E27FC236}">
                <a16:creationId xmlns:a16="http://schemas.microsoft.com/office/drawing/2014/main" id="{84163892-3166-2A72-69CF-F2796966D730}"/>
              </a:ext>
            </a:extLst>
          </p:cNvPr>
          <p:cNvSpPr txBox="1"/>
          <p:nvPr/>
        </p:nvSpPr>
        <p:spPr>
          <a:xfrm>
            <a:off x="2918460" y="3692128"/>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Long-running   /   resumable   /   auditable   /   human-controlled</a:t>
            </a:r>
            <a:endParaRPr lang="en-US" sz="1440" dirty="0" err="1">
              <a:solidFill>
                <a:srgbClr val="1A1A1A"/>
              </a:solidFill>
              <a:latin typeface="Segoe UI" panose="020B0502040204020203" pitchFamily="34" charset="0"/>
            </a:endParaRPr>
          </a:p>
        </p:txBody>
      </p:sp>
      <p:sp>
        <p:nvSpPr>
          <p:cNvPr id="19" name="Text 012 DIV">
            <a:extLst>
              <a:ext uri="{FF2B5EF4-FFF2-40B4-BE49-F238E27FC236}">
                <a16:creationId xmlns:a16="http://schemas.microsoft.com/office/drawing/2014/main" id="{74C4F5A8-C042-EC9A-EDF5-5CC753A7EFC1}"/>
              </a:ext>
            </a:extLst>
          </p:cNvPr>
          <p:cNvSpPr txBox="1"/>
          <p:nvPr/>
        </p:nvSpPr>
        <p:spPr>
          <a:xfrm>
            <a:off x="879634" y="4682252"/>
            <a:ext cx="65" cy="307777"/>
          </a:xfrm>
          <a:prstGeom prst="rect">
            <a:avLst/>
          </a:prstGeom>
          <a:noFill/>
        </p:spPr>
        <p:txBody>
          <a:bodyPr vert="horz" wrap="none" lIns="0" tIns="0" rIns="0" bIns="0" rtlCol="0" anchor="t">
            <a:noAutofit/>
          </a:bodyPr>
          <a:lstStyle/>
          <a:p>
            <a:r>
              <a:rPr lang="en-US" sz="1440">
                <a:solidFill>
                  <a:srgbClr val="00599F"/>
                </a:solidFill>
                <a:latin typeface="Segoe UI Semibold" panose="020B0702040204020203" pitchFamily="34" charset="0"/>
              </a:rPr>
              <a:t>AI</a:t>
            </a:r>
            <a:endParaRPr lang="en-US" sz="1440" dirty="0" err="1">
              <a:solidFill>
                <a:srgbClr val="00599F"/>
              </a:solidFill>
              <a:latin typeface="Segoe UI Semibold" panose="020B0702040204020203" pitchFamily="34" charset="0"/>
            </a:endParaRPr>
          </a:p>
        </p:txBody>
      </p:sp>
      <p:sp>
        <p:nvSpPr>
          <p:cNvPr id="20" name="Text 013 H2">
            <a:extLst>
              <a:ext uri="{FF2B5EF4-FFF2-40B4-BE49-F238E27FC236}">
                <a16:creationId xmlns:a16="http://schemas.microsoft.com/office/drawing/2014/main" id="{8B98891D-6B9A-A057-AD68-37A9909F2053}"/>
              </a:ext>
            </a:extLst>
          </p:cNvPr>
          <p:cNvSpPr txBox="1"/>
          <p:nvPr/>
        </p:nvSpPr>
        <p:spPr>
          <a:xfrm>
            <a:off x="1325880" y="440555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GitHub Copilot harness</a:t>
            </a:r>
            <a:endParaRPr lang="en-US" sz="1680" spc="-30" dirty="0" err="1">
              <a:solidFill>
                <a:srgbClr val="00599F"/>
              </a:solidFill>
              <a:latin typeface="Segoe UI Semibold" panose="020B0702040204020203" pitchFamily="34" charset="0"/>
            </a:endParaRPr>
          </a:p>
        </p:txBody>
      </p:sp>
      <p:sp>
        <p:nvSpPr>
          <p:cNvPr id="21" name="Text 014 P">
            <a:extLst>
              <a:ext uri="{FF2B5EF4-FFF2-40B4-BE49-F238E27FC236}">
                <a16:creationId xmlns:a16="http://schemas.microsoft.com/office/drawing/2014/main" id="{EF845F5C-AE6D-0432-D0F2-2606D2381E2A}"/>
              </a:ext>
            </a:extLst>
          </p:cNvPr>
          <p:cNvSpPr txBox="1"/>
          <p:nvPr/>
        </p:nvSpPr>
        <p:spPr>
          <a:xfrm>
            <a:off x="1325880" y="4731901"/>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Reasoning-heavy, multi-step execution</a:t>
            </a:r>
            <a:endParaRPr lang="en-US" sz="1320" dirty="0" err="1">
              <a:solidFill>
                <a:srgbClr val="1A1A1A"/>
              </a:solidFill>
              <a:latin typeface="Segoe UI" panose="020B0502040204020203" pitchFamily="34" charset="0"/>
            </a:endParaRPr>
          </a:p>
        </p:txBody>
      </p:sp>
      <p:sp>
        <p:nvSpPr>
          <p:cNvPr id="22" name="Text 015 P">
            <a:extLst>
              <a:ext uri="{FF2B5EF4-FFF2-40B4-BE49-F238E27FC236}">
                <a16:creationId xmlns:a16="http://schemas.microsoft.com/office/drawing/2014/main" id="{6A257FD7-E451-F526-0F16-AB5E74F19049}"/>
              </a:ext>
            </a:extLst>
          </p:cNvPr>
          <p:cNvSpPr txBox="1"/>
          <p:nvPr/>
        </p:nvSpPr>
        <p:spPr>
          <a:xfrm>
            <a:off x="1325880" y="4959786"/>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inside Copilot Studio.</a:t>
            </a:r>
            <a:endParaRPr lang="en-US" sz="1320" dirty="0" err="1">
              <a:solidFill>
                <a:srgbClr val="1A1A1A"/>
              </a:solidFill>
              <a:latin typeface="Segoe UI" panose="020B0502040204020203" pitchFamily="34" charset="0"/>
            </a:endParaRPr>
          </a:p>
        </p:txBody>
      </p:sp>
      <p:sp>
        <p:nvSpPr>
          <p:cNvPr id="23" name="Text 016 DIV">
            <a:extLst>
              <a:ext uri="{FF2B5EF4-FFF2-40B4-BE49-F238E27FC236}">
                <a16:creationId xmlns:a16="http://schemas.microsoft.com/office/drawing/2014/main" id="{8ADB763A-F71C-EB2B-A4CE-E682A78D322D}"/>
              </a:ext>
            </a:extLst>
          </p:cNvPr>
          <p:cNvSpPr txBox="1"/>
          <p:nvPr/>
        </p:nvSpPr>
        <p:spPr>
          <a:xfrm>
            <a:off x="6441162" y="4682252"/>
            <a:ext cx="65" cy="307777"/>
          </a:xfrm>
          <a:prstGeom prst="rect">
            <a:avLst/>
          </a:prstGeom>
          <a:noFill/>
        </p:spPr>
        <p:txBody>
          <a:bodyPr vert="horz" wrap="none" lIns="0" tIns="0" rIns="0" bIns="0" rtlCol="0" anchor="t">
            <a:noAutofit/>
          </a:bodyPr>
          <a:lstStyle/>
          <a:p>
            <a:r>
              <a:rPr lang="en-US" sz="1440">
                <a:solidFill>
                  <a:srgbClr val="00599F"/>
                </a:solidFill>
                <a:latin typeface="Segoe UI Semibold" panose="020B0702040204020203" pitchFamily="34" charset="0"/>
              </a:rPr>
              <a:t>MD</a:t>
            </a:r>
            <a:endParaRPr lang="en-US" sz="1440" dirty="0" err="1">
              <a:solidFill>
                <a:srgbClr val="00599F"/>
              </a:solidFill>
              <a:latin typeface="Segoe UI Semibold" panose="020B0702040204020203" pitchFamily="34" charset="0"/>
            </a:endParaRPr>
          </a:p>
        </p:txBody>
      </p:sp>
      <p:sp>
        <p:nvSpPr>
          <p:cNvPr id="24" name="Text 017 H2">
            <a:extLst>
              <a:ext uri="{FF2B5EF4-FFF2-40B4-BE49-F238E27FC236}">
                <a16:creationId xmlns:a16="http://schemas.microsoft.com/office/drawing/2014/main" id="{14DCAA0B-3063-ED9A-85F8-382C6C840297}"/>
              </a:ext>
            </a:extLst>
          </p:cNvPr>
          <p:cNvSpPr txBox="1"/>
          <p:nvPr/>
        </p:nvSpPr>
        <p:spPr>
          <a:xfrm>
            <a:off x="6949440" y="440555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Agent skills = business logic</a:t>
            </a:r>
            <a:endParaRPr lang="en-US" sz="1680" spc="-30" dirty="0" err="1">
              <a:solidFill>
                <a:srgbClr val="00599F"/>
              </a:solidFill>
              <a:latin typeface="Segoe UI Semibold" panose="020B0702040204020203" pitchFamily="34" charset="0"/>
            </a:endParaRPr>
          </a:p>
        </p:txBody>
      </p:sp>
      <p:sp>
        <p:nvSpPr>
          <p:cNvPr id="25" name="Text 018 P">
            <a:extLst>
              <a:ext uri="{FF2B5EF4-FFF2-40B4-BE49-F238E27FC236}">
                <a16:creationId xmlns:a16="http://schemas.microsoft.com/office/drawing/2014/main" id="{F4BF6190-9D86-662D-CC3A-81FBB95FCB50}"/>
              </a:ext>
            </a:extLst>
          </p:cNvPr>
          <p:cNvSpPr txBox="1"/>
          <p:nvPr/>
        </p:nvSpPr>
        <p:spPr>
          <a:xfrm>
            <a:off x="6949440" y="4731901"/>
            <a:ext cx="65" cy="307777"/>
          </a:xfrm>
          <a:prstGeom prst="rect">
            <a:avLst/>
          </a:prstGeom>
          <a:noFill/>
        </p:spPr>
        <p:txBody>
          <a:bodyPr vert="horz" wrap="none" lIns="0" tIns="0" rIns="0" bIns="0" rtlCol="0" anchor="t">
            <a:noAutofit/>
          </a:bodyPr>
          <a:lstStyle/>
          <a:p>
            <a:r>
              <a:rPr lang="en-US" sz="1320" spc="-2">
                <a:solidFill>
                  <a:srgbClr val="1A1A1A"/>
                </a:solidFill>
                <a:latin typeface="Segoe UI" panose="020B0502040204020203" pitchFamily="34" charset="0"/>
              </a:rPr>
              <a:t>Portable, reviewable, versionable rules.</a:t>
            </a:r>
            <a:endParaRPr lang="en-US" sz="1320" spc="-2" dirty="0" err="1">
              <a:solidFill>
                <a:srgbClr val="1A1A1A"/>
              </a:solidFill>
              <a:latin typeface="Segoe UI" panose="020B0502040204020203" pitchFamily="34" charset="0"/>
            </a:endParaRPr>
          </a:p>
        </p:txBody>
      </p:sp>
      <p:sp>
        <p:nvSpPr>
          <p:cNvPr id="26" name="Text 019 P">
            <a:extLst>
              <a:ext uri="{FF2B5EF4-FFF2-40B4-BE49-F238E27FC236}">
                <a16:creationId xmlns:a16="http://schemas.microsoft.com/office/drawing/2014/main" id="{EC6E65E7-7C68-8240-D2D6-57B5F6236366}"/>
              </a:ext>
            </a:extLst>
          </p:cNvPr>
          <p:cNvSpPr txBox="1"/>
          <p:nvPr/>
        </p:nvSpPr>
        <p:spPr>
          <a:xfrm>
            <a:off x="6949440" y="4959786"/>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Loaded into context when needed.</a:t>
            </a:r>
            <a:endParaRPr lang="en-US" sz="1320" dirty="0" err="1">
              <a:solidFill>
                <a:srgbClr val="1A1A1A"/>
              </a:solidFill>
              <a:latin typeface="Segoe UI" panose="020B0502040204020203" pitchFamily="34" charset="0"/>
            </a:endParaRPr>
          </a:p>
        </p:txBody>
      </p:sp>
      <p:sp>
        <p:nvSpPr>
          <p:cNvPr id="27" name="Text 020 DIV">
            <a:extLst>
              <a:ext uri="{FF2B5EF4-FFF2-40B4-BE49-F238E27FC236}">
                <a16:creationId xmlns:a16="http://schemas.microsoft.com/office/drawing/2014/main" id="{626ED4D6-5730-DD66-9C04-3A3D33909D9C}"/>
              </a:ext>
            </a:extLst>
          </p:cNvPr>
          <p:cNvSpPr txBox="1"/>
          <p:nvPr/>
        </p:nvSpPr>
        <p:spPr>
          <a:xfrm>
            <a:off x="2502932" y="584073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Deploy the </a:t>
            </a:r>
            <a:endParaRPr lang="en-US" sz="1560" dirty="0" err="1">
              <a:solidFill>
                <a:srgbClr val="1A1A1A"/>
              </a:solidFill>
              <a:latin typeface="Segoe UI" panose="020B0502040204020203" pitchFamily="34" charset="0"/>
            </a:endParaRPr>
          </a:p>
        </p:txBody>
      </p:sp>
      <p:sp>
        <p:nvSpPr>
          <p:cNvPr id="28" name="Text 021 STRONG">
            <a:extLst>
              <a:ext uri="{FF2B5EF4-FFF2-40B4-BE49-F238E27FC236}">
                <a16:creationId xmlns:a16="http://schemas.microsoft.com/office/drawing/2014/main" id="{62E9D414-BC80-16AD-A155-4C9918EC6DC4}"/>
              </a:ext>
            </a:extLst>
          </p:cNvPr>
          <p:cNvSpPr txBox="1"/>
          <p:nvPr/>
        </p:nvSpPr>
        <p:spPr>
          <a:xfrm>
            <a:off x="3513296" y="5840730"/>
            <a:ext cx="65" cy="307777"/>
          </a:xfrm>
          <a:prstGeom prst="rect">
            <a:avLst/>
          </a:prstGeom>
          <a:noFill/>
        </p:spPr>
        <p:txBody>
          <a:bodyPr vert="horz" wrap="none" lIns="0" tIns="0" rIns="0" bIns="0" rtlCol="0" anchor="t">
            <a:noAutofit/>
          </a:bodyPr>
          <a:lstStyle/>
          <a:p>
            <a:r>
              <a:rPr lang="en-US" sz="1560">
                <a:solidFill>
                  <a:srgbClr val="00599F"/>
                </a:solidFill>
                <a:latin typeface="Segoe UI Semibold" panose="020B0702040204020203" pitchFamily="34" charset="0"/>
              </a:rPr>
              <a:t>reusable building block</a:t>
            </a:r>
            <a:endParaRPr lang="en-US" sz="1560" dirty="0" err="1">
              <a:solidFill>
                <a:srgbClr val="00599F"/>
              </a:solidFill>
              <a:latin typeface="Segoe UI Semibold" panose="020B0702040204020203" pitchFamily="34" charset="0"/>
            </a:endParaRPr>
          </a:p>
        </p:txBody>
      </p:sp>
      <p:sp>
        <p:nvSpPr>
          <p:cNvPr id="29" name="Text 022 DIV">
            <a:extLst>
              <a:ext uri="{FF2B5EF4-FFF2-40B4-BE49-F238E27FC236}">
                <a16:creationId xmlns:a16="http://schemas.microsoft.com/office/drawing/2014/main" id="{353F253F-C865-957F-4AA6-9EE62D632BF1}"/>
              </a:ext>
            </a:extLst>
          </p:cNvPr>
          <p:cNvSpPr txBox="1"/>
          <p:nvPr/>
        </p:nvSpPr>
        <p:spPr>
          <a:xfrm>
            <a:off x="5611178" y="584073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 Tailor the process. </a:t>
            </a:r>
            <a:endParaRPr lang="en-US" sz="1560" dirty="0" err="1">
              <a:solidFill>
                <a:srgbClr val="1A1A1A"/>
              </a:solidFill>
              <a:latin typeface="Segoe UI" panose="020B0502040204020203" pitchFamily="34" charset="0"/>
            </a:endParaRPr>
          </a:p>
        </p:txBody>
      </p:sp>
      <p:sp>
        <p:nvSpPr>
          <p:cNvPr id="40" name="Text 023 STRONG">
            <a:extLst>
              <a:ext uri="{FF2B5EF4-FFF2-40B4-BE49-F238E27FC236}">
                <a16:creationId xmlns:a16="http://schemas.microsoft.com/office/drawing/2014/main" id="{DA98F250-8A46-B3C1-DA75-DCA950DF2793}"/>
              </a:ext>
            </a:extLst>
          </p:cNvPr>
          <p:cNvSpPr txBox="1"/>
          <p:nvPr/>
        </p:nvSpPr>
        <p:spPr>
          <a:xfrm>
            <a:off x="7325082" y="5840730"/>
            <a:ext cx="65" cy="307777"/>
          </a:xfrm>
          <a:prstGeom prst="rect">
            <a:avLst/>
          </a:prstGeom>
          <a:noFill/>
        </p:spPr>
        <p:txBody>
          <a:bodyPr vert="horz" wrap="none" lIns="0" tIns="0" rIns="0" bIns="0" rtlCol="0" anchor="t">
            <a:noAutofit/>
          </a:bodyPr>
          <a:lstStyle/>
          <a:p>
            <a:r>
              <a:rPr lang="en-US" sz="1560">
                <a:solidFill>
                  <a:srgbClr val="00599F"/>
                </a:solidFill>
                <a:latin typeface="Segoe UI Semibold" panose="020B0702040204020203" pitchFamily="34" charset="0"/>
              </a:rPr>
              <a:t>Version the business rules.</a:t>
            </a:r>
            <a:endParaRPr lang="en-US" sz="1560" dirty="0" err="1">
              <a:solidFill>
                <a:srgbClr val="00599F"/>
              </a:solidFill>
              <a:latin typeface="Segoe UI Semibold" panose="020B0702040204020203" pitchFamily="34" charset="0"/>
            </a:endParaRPr>
          </a:p>
        </p:txBody>
      </p:sp>
      <p:sp>
        <p:nvSpPr>
          <p:cNvPr id="47" name="Text 024 FOOTER">
            <a:extLst>
              <a:ext uri="{FF2B5EF4-FFF2-40B4-BE49-F238E27FC236}">
                <a16:creationId xmlns:a16="http://schemas.microsoft.com/office/drawing/2014/main" id="{371BEECE-266E-2308-CA79-E6948C73EA6F}"/>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Agentic Business Process Automation on Copilot Studio</a:t>
            </a:r>
            <a:endParaRPr lang="en-US" sz="840" dirty="0" err="1">
              <a:solidFill>
                <a:srgbClr val="425466"/>
              </a:solidFill>
              <a:latin typeface="Segoe UI" panose="020B0502040204020203" pitchFamily="34" charset="0"/>
            </a:endParaRPr>
          </a:p>
        </p:txBody>
      </p:sp>
      <p:sp>
        <p:nvSpPr>
          <p:cNvPr id="48" name="Text 025 FOOTER">
            <a:extLst>
              <a:ext uri="{FF2B5EF4-FFF2-40B4-BE49-F238E27FC236}">
                <a16:creationId xmlns:a16="http://schemas.microsoft.com/office/drawing/2014/main" id="{D3822F31-C673-9A96-0130-A1EDBC36B966}"/>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03 / 23</a:t>
            </a:r>
            <a:endParaRPr lang="en-US" sz="840" dirty="0" err="1">
              <a:solidFill>
                <a:srgbClr val="425466"/>
              </a:solidFill>
              <a:latin typeface="Segoe UI" panose="020B0502040204020203" pitchFamily="34" charset="0"/>
            </a:endParaRPr>
          </a:p>
        </p:txBody>
      </p:sp>
    </p:spTree>
    <p:extLst>
      <p:ext uri="{BB962C8B-B14F-4D97-AF65-F5344CB8AC3E}">
        <p14:creationId xmlns:p14="http://schemas.microsoft.com/office/powerpoint/2010/main" val="3889042423"/>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Process-04">
    <p:spTree>
      <p:nvGrpSpPr>
        <p:cNvPr id="1" name=""/>
        <p:cNvGrpSpPr/>
        <p:nvPr/>
      </p:nvGrpSpPr>
      <p:grpSpPr>
        <a:xfrm>
          <a:off x="0" y="0"/>
          <a:ext cx="0" cy="0"/>
          <a:chOff x="0" y="0"/>
          <a:chExt cx="0" cy="0"/>
        </a:xfrm>
      </p:grpSpPr>
      <p:pic>
        <p:nvPicPr>
          <p:cNvPr id="4" name="Approved visual layer" descr="Decorative card shapes and connectors from the approved HTML layout. Main text is editable in separate text boxes.">
            <a:extLst>
              <a:ext uri="{FF2B5EF4-FFF2-40B4-BE49-F238E27FC236}">
                <a16:creationId xmlns:a16="http://schemas.microsoft.com/office/drawing/2014/main" id="{034F670F-FA9E-C903-90D6-9265E8B361B6}"/>
              </a:ext>
            </a:extLst>
          </p:cNvPr>
          <p:cNvPicPr>
            <a:picLocks/>
          </p:cNvPicPr>
          <p:nvPr/>
        </p:nvPicPr>
        <p:blipFill>
          <a:blip r:embed="rId3"/>
          <a:stretch>
            <a:fillRect/>
          </a:stretch>
        </p:blipFill>
        <p:spPr>
          <a:xfrm>
            <a:off x="0" y="0"/>
            <a:ext cx="12192000" cy="6858000"/>
          </a:xfrm>
          <a:prstGeom prst="rect">
            <a:avLst/>
          </a:prstGeom>
        </p:spPr>
      </p:pic>
      <p:sp>
        <p:nvSpPr>
          <p:cNvPr id="5" name="Text 001 H1">
            <a:extLst>
              <a:ext uri="{FF2B5EF4-FFF2-40B4-BE49-F238E27FC236}">
                <a16:creationId xmlns:a16="http://schemas.microsoft.com/office/drawing/2014/main" id="{72D0C2EA-BCAB-68D1-702A-796B63807EB7}"/>
              </a:ext>
            </a:extLst>
          </p:cNvPr>
          <p:cNvSpPr txBox="1"/>
          <p:nvPr/>
        </p:nvSpPr>
        <p:spPr>
          <a:xfrm>
            <a:off x="579120" y="2818686"/>
            <a:ext cx="65" cy="307777"/>
          </a:xfrm>
          <a:prstGeom prst="rect">
            <a:avLst/>
          </a:prstGeom>
          <a:noFill/>
        </p:spPr>
        <p:txBody>
          <a:bodyPr vert="horz" wrap="none" lIns="0" tIns="0" rIns="0" bIns="0" rtlCol="0" anchor="t">
            <a:noAutofit/>
          </a:bodyPr>
          <a:lstStyle/>
          <a:p>
            <a:r>
              <a:rPr lang="en-US" sz="4080" spc="-90">
                <a:solidFill>
                  <a:srgbClr val="FFFFFF"/>
                </a:solidFill>
                <a:latin typeface="Segoe UI Semibold" panose="020B0702040204020203" pitchFamily="34" charset="0"/>
              </a:rPr>
              <a:t>Agentified Order</a:t>
            </a:r>
            <a:endParaRPr lang="en-US" sz="4080" spc="-90" dirty="0" err="1">
              <a:solidFill>
                <a:srgbClr val="FFFFFF"/>
              </a:solidFill>
              <a:latin typeface="Segoe UI Semibold" panose="020B0702040204020203" pitchFamily="34" charset="0"/>
            </a:endParaRPr>
          </a:p>
        </p:txBody>
      </p:sp>
      <p:sp>
        <p:nvSpPr>
          <p:cNvPr id="6" name="Text 002 H1">
            <a:extLst>
              <a:ext uri="{FF2B5EF4-FFF2-40B4-BE49-F238E27FC236}">
                <a16:creationId xmlns:a16="http://schemas.microsoft.com/office/drawing/2014/main" id="{0ABBB410-9EE2-0701-9C5E-D01A372E4F29}"/>
              </a:ext>
            </a:extLst>
          </p:cNvPr>
          <p:cNvSpPr txBox="1"/>
          <p:nvPr/>
        </p:nvSpPr>
        <p:spPr>
          <a:xfrm>
            <a:off x="579120" y="3440430"/>
            <a:ext cx="65" cy="307777"/>
          </a:xfrm>
          <a:prstGeom prst="rect">
            <a:avLst/>
          </a:prstGeom>
          <a:noFill/>
        </p:spPr>
        <p:txBody>
          <a:bodyPr vert="horz" wrap="none" lIns="0" tIns="0" rIns="0" bIns="0" rtlCol="0" anchor="t">
            <a:noAutofit/>
          </a:bodyPr>
          <a:lstStyle/>
          <a:p>
            <a:r>
              <a:rPr lang="en-US" sz="4080" spc="-90">
                <a:solidFill>
                  <a:srgbClr val="FFFFFF"/>
                </a:solidFill>
                <a:latin typeface="Segoe UI Semibold" panose="020B0702040204020203" pitchFamily="34" charset="0"/>
              </a:rPr>
              <a:t>Processing Intake</a:t>
            </a:r>
            <a:endParaRPr lang="en-US" sz="4080" spc="-90" dirty="0" err="1">
              <a:solidFill>
                <a:srgbClr val="FFFFFF"/>
              </a:solidFill>
              <a:latin typeface="Segoe UI Semibold" panose="020B0702040204020203" pitchFamily="34" charset="0"/>
            </a:endParaRPr>
          </a:p>
        </p:txBody>
      </p:sp>
    </p:spTree>
    <p:extLst>
      <p:ext uri="{BB962C8B-B14F-4D97-AF65-F5344CB8AC3E}">
        <p14:creationId xmlns:p14="http://schemas.microsoft.com/office/powerpoint/2010/main" val="2039836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Process-05">
    <p:spTree>
      <p:nvGrpSpPr>
        <p:cNvPr id="1" name="">
          <a:extLst>
            <a:ext uri="{FF2B5EF4-FFF2-40B4-BE49-F238E27FC236}">
              <a16:creationId xmlns:a16="http://schemas.microsoft.com/office/drawing/2014/main" id="{45E204F7-B12F-72AC-C9AA-76598E84CC14}"/>
            </a:ext>
          </a:extLst>
        </p:cNvPr>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42D75C89-3ED3-46F6-1441-2B14EAF66FFE}"/>
              </a:ext>
            </a:extLst>
          </p:cNvPr>
          <p:cNvPicPr>
            <a:picLocks/>
          </p:cNvPicPr>
          <p:nvPr/>
        </p:nvPicPr>
        <p:blipFill>
          <a:blip r:embed="rId3"/>
          <a:stretch>
            <a:fillRect/>
          </a:stretch>
        </p:blipFill>
        <p:spPr>
          <a:xfrm>
            <a:off x="0" y="0"/>
            <a:ext cx="12192000" cy="6858000"/>
          </a:xfrm>
          <a:prstGeom prst="rect">
            <a:avLst/>
          </a:prstGeom>
        </p:spPr>
      </p:pic>
      <p:sp>
        <p:nvSpPr>
          <p:cNvPr id="8" name="Text 001 SPAN">
            <a:extLst>
              <a:ext uri="{FF2B5EF4-FFF2-40B4-BE49-F238E27FC236}">
                <a16:creationId xmlns:a16="http://schemas.microsoft.com/office/drawing/2014/main" id="{8CC377DC-0330-58E2-A6D3-DE26B57BD0E0}"/>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02 / ORDER PROCESSING</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EB2206A6-1303-23F1-7D06-1226F6237F6C}"/>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74">
                <a:solidFill>
                  <a:srgbClr val="1A1A1A"/>
                </a:solidFill>
                <a:latin typeface="Segoe UI Semibold" panose="020B0702040204020203" pitchFamily="34" charset="0"/>
              </a:rPr>
              <a:t>Less re-keying. Better-informed decisions.</a:t>
            </a:r>
            <a:endParaRPr lang="en-US" sz="2880" spc="-74" dirty="0" err="1">
              <a:solidFill>
                <a:srgbClr val="1A1A1A"/>
              </a:solidFill>
              <a:latin typeface="Segoe UI Semibold" panose="020B0702040204020203" pitchFamily="34" charset="0"/>
            </a:endParaRPr>
          </a:p>
        </p:txBody>
      </p:sp>
      <p:sp>
        <p:nvSpPr>
          <p:cNvPr id="10" name="Text 003 P">
            <a:extLst>
              <a:ext uri="{FF2B5EF4-FFF2-40B4-BE49-F238E27FC236}">
                <a16:creationId xmlns:a16="http://schemas.microsoft.com/office/drawing/2014/main" id="{9A5B2BEE-0A5D-62A0-A47C-DD556B74C4E0}"/>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a:solidFill>
                  <a:srgbClr val="343B48"/>
                </a:solidFill>
                <a:latin typeface="Segoe UI" panose="020B0502040204020203" pitchFamily="34" charset="0"/>
              </a:rPr>
              <a:t>A customer proposition built around the cost of exceptions - not just typing.</a:t>
            </a:r>
            <a:endParaRPr lang="en-US" sz="1500" dirty="0" err="1">
              <a:solidFill>
                <a:srgbClr val="343B48"/>
              </a:solidFill>
              <a:latin typeface="Segoe UI" panose="020B0502040204020203" pitchFamily="34" charset="0"/>
            </a:endParaRPr>
          </a:p>
        </p:txBody>
      </p:sp>
      <p:sp>
        <p:nvSpPr>
          <p:cNvPr id="11" name="Text 004 DIV">
            <a:extLst>
              <a:ext uri="{FF2B5EF4-FFF2-40B4-BE49-F238E27FC236}">
                <a16:creationId xmlns:a16="http://schemas.microsoft.com/office/drawing/2014/main" id="{F5E6F320-DA8F-2123-16AF-2C0E2DA7F6B7}"/>
              </a:ext>
            </a:extLst>
          </p:cNvPr>
          <p:cNvSpPr txBox="1"/>
          <p:nvPr/>
        </p:nvSpPr>
        <p:spPr>
          <a:xfrm>
            <a:off x="792480" y="1737360"/>
            <a:ext cx="65" cy="307777"/>
          </a:xfrm>
          <a:prstGeom prst="rect">
            <a:avLst/>
          </a:prstGeom>
          <a:noFill/>
        </p:spPr>
        <p:txBody>
          <a:bodyPr vert="horz" wrap="none" lIns="0" tIns="0" rIns="0" bIns="0" rtlCol="0" anchor="t">
            <a:noAutofit/>
          </a:bodyPr>
          <a:lstStyle/>
          <a:p>
            <a:r>
              <a:rPr lang="en-US" sz="1020" spc="80">
                <a:solidFill>
                  <a:srgbClr val="00599F"/>
                </a:solidFill>
                <a:latin typeface="Segoe UI Semibold" panose="020B0702040204020203" pitchFamily="34" charset="0"/>
              </a:rPr>
              <a:t>TODAY'S FRICTION</a:t>
            </a:r>
            <a:endParaRPr lang="en-US" sz="1020" spc="80" dirty="0" err="1">
              <a:solidFill>
                <a:srgbClr val="00599F"/>
              </a:solidFill>
              <a:latin typeface="Segoe UI Semibold" panose="020B0702040204020203" pitchFamily="34" charset="0"/>
            </a:endParaRPr>
          </a:p>
        </p:txBody>
      </p:sp>
      <p:sp>
        <p:nvSpPr>
          <p:cNvPr id="12" name="Text 005 DIV">
            <a:extLst>
              <a:ext uri="{FF2B5EF4-FFF2-40B4-BE49-F238E27FC236}">
                <a16:creationId xmlns:a16="http://schemas.microsoft.com/office/drawing/2014/main" id="{A43D2B6E-491F-123C-C64C-0653EA2140F4}"/>
              </a:ext>
            </a:extLst>
          </p:cNvPr>
          <p:cNvSpPr txBox="1"/>
          <p:nvPr/>
        </p:nvSpPr>
        <p:spPr>
          <a:xfrm>
            <a:off x="6408420" y="1737360"/>
            <a:ext cx="65" cy="307777"/>
          </a:xfrm>
          <a:prstGeom prst="rect">
            <a:avLst/>
          </a:prstGeom>
          <a:noFill/>
        </p:spPr>
        <p:txBody>
          <a:bodyPr vert="horz" wrap="none" lIns="0" tIns="0" rIns="0" bIns="0" rtlCol="0" anchor="t">
            <a:noAutofit/>
          </a:bodyPr>
          <a:lstStyle/>
          <a:p>
            <a:r>
              <a:rPr lang="en-US" sz="1020" spc="86">
                <a:solidFill>
                  <a:srgbClr val="00599F"/>
                </a:solidFill>
                <a:latin typeface="Segoe UI Semibold" panose="020B0702040204020203" pitchFamily="34" charset="0"/>
              </a:rPr>
              <a:t>DESIRED CUSTOMER OUTCOME</a:t>
            </a:r>
            <a:endParaRPr lang="en-US" sz="1020" spc="86" dirty="0" err="1">
              <a:solidFill>
                <a:srgbClr val="00599F"/>
              </a:solidFill>
              <a:latin typeface="Segoe UI Semibold" panose="020B0702040204020203" pitchFamily="34" charset="0"/>
            </a:endParaRPr>
          </a:p>
        </p:txBody>
      </p:sp>
      <p:sp>
        <p:nvSpPr>
          <p:cNvPr id="13" name="Text 006 H2">
            <a:extLst>
              <a:ext uri="{FF2B5EF4-FFF2-40B4-BE49-F238E27FC236}">
                <a16:creationId xmlns:a16="http://schemas.microsoft.com/office/drawing/2014/main" id="{BEAB3FFF-FB61-D3F9-E0C0-4C8474959C4E}"/>
              </a:ext>
            </a:extLst>
          </p:cNvPr>
          <p:cNvSpPr txBox="1"/>
          <p:nvPr/>
        </p:nvSpPr>
        <p:spPr>
          <a:xfrm>
            <a:off x="792480" y="2202180"/>
            <a:ext cx="65" cy="307777"/>
          </a:xfrm>
          <a:prstGeom prst="rect">
            <a:avLst/>
          </a:prstGeom>
          <a:noFill/>
        </p:spPr>
        <p:txBody>
          <a:bodyPr vert="horz" wrap="none" lIns="0" tIns="0" rIns="0" bIns="0" rtlCol="0" anchor="t">
            <a:noAutofit/>
          </a:bodyPr>
          <a:lstStyle/>
          <a:p>
            <a:r>
              <a:rPr lang="en-US" sz="1740" spc="-30">
                <a:solidFill>
                  <a:srgbClr val="00599F"/>
                </a:solidFill>
                <a:latin typeface="Segoe UI Semibold" panose="020B0702040204020203" pitchFamily="34" charset="0"/>
              </a:rPr>
              <a:t>Manual transcription</a:t>
            </a:r>
            <a:endParaRPr lang="en-US" sz="1740" spc="-30" dirty="0" err="1">
              <a:solidFill>
                <a:srgbClr val="00599F"/>
              </a:solidFill>
              <a:latin typeface="Segoe UI Semibold" panose="020B0702040204020203" pitchFamily="34" charset="0"/>
            </a:endParaRPr>
          </a:p>
        </p:txBody>
      </p:sp>
      <p:sp>
        <p:nvSpPr>
          <p:cNvPr id="14" name="Text 007 P">
            <a:extLst>
              <a:ext uri="{FF2B5EF4-FFF2-40B4-BE49-F238E27FC236}">
                <a16:creationId xmlns:a16="http://schemas.microsoft.com/office/drawing/2014/main" id="{3885643D-C29C-E334-B57D-BEAC3ED18A5D}"/>
              </a:ext>
            </a:extLst>
          </p:cNvPr>
          <p:cNvSpPr txBox="1"/>
          <p:nvPr/>
        </p:nvSpPr>
        <p:spPr>
          <a:xfrm>
            <a:off x="792480" y="2568773"/>
            <a:ext cx="65" cy="307777"/>
          </a:xfrm>
          <a:prstGeom prst="rect">
            <a:avLst/>
          </a:prstGeom>
          <a:noFill/>
        </p:spPr>
        <p:txBody>
          <a:bodyPr vert="horz" wrap="none" lIns="0" tIns="0" rIns="0" bIns="0" rtlCol="0" anchor="t">
            <a:noAutofit/>
          </a:bodyPr>
          <a:lstStyle/>
          <a:p>
            <a:r>
              <a:rPr lang="en-US" sz="1440" spc="4">
                <a:solidFill>
                  <a:srgbClr val="1A1A1A"/>
                </a:solidFill>
                <a:latin typeface="Segoe UI" panose="020B0502040204020203" pitchFamily="34" charset="0"/>
              </a:rPr>
              <a:t>People interpret and re-enter each order.</a:t>
            </a:r>
            <a:endParaRPr lang="en-US" sz="1440" spc="4" dirty="0" err="1">
              <a:solidFill>
                <a:srgbClr val="1A1A1A"/>
              </a:solidFill>
              <a:latin typeface="Segoe UI" panose="020B0502040204020203" pitchFamily="34" charset="0"/>
            </a:endParaRPr>
          </a:p>
        </p:txBody>
      </p:sp>
      <p:sp>
        <p:nvSpPr>
          <p:cNvPr id="15" name="Text 008 H2">
            <a:extLst>
              <a:ext uri="{FF2B5EF4-FFF2-40B4-BE49-F238E27FC236}">
                <a16:creationId xmlns:a16="http://schemas.microsoft.com/office/drawing/2014/main" id="{374395E9-BB2C-183B-7DC6-0F0093FB48E7}"/>
              </a:ext>
            </a:extLst>
          </p:cNvPr>
          <p:cNvSpPr txBox="1"/>
          <p:nvPr/>
        </p:nvSpPr>
        <p:spPr>
          <a:xfrm>
            <a:off x="6408420" y="2202180"/>
            <a:ext cx="65" cy="307777"/>
          </a:xfrm>
          <a:prstGeom prst="rect">
            <a:avLst/>
          </a:prstGeom>
          <a:noFill/>
        </p:spPr>
        <p:txBody>
          <a:bodyPr vert="horz" wrap="none" lIns="0" tIns="0" rIns="0" bIns="0" rtlCol="0" anchor="t">
            <a:noAutofit/>
          </a:bodyPr>
          <a:lstStyle/>
          <a:p>
            <a:r>
              <a:rPr lang="en-US" sz="1740" spc="-30">
                <a:solidFill>
                  <a:srgbClr val="00599F"/>
                </a:solidFill>
                <a:latin typeface="Segoe UI Semibold" panose="020B0702040204020203" pitchFamily="34" charset="0"/>
              </a:rPr>
              <a:t>Review instead of re-key</a:t>
            </a:r>
            <a:endParaRPr lang="en-US" sz="1740" spc="-30" dirty="0" err="1">
              <a:solidFill>
                <a:srgbClr val="00599F"/>
              </a:solidFill>
              <a:latin typeface="Segoe UI Semibold" panose="020B0702040204020203" pitchFamily="34" charset="0"/>
            </a:endParaRPr>
          </a:p>
        </p:txBody>
      </p:sp>
      <p:sp>
        <p:nvSpPr>
          <p:cNvPr id="16" name="Text 009 P">
            <a:extLst>
              <a:ext uri="{FF2B5EF4-FFF2-40B4-BE49-F238E27FC236}">
                <a16:creationId xmlns:a16="http://schemas.microsoft.com/office/drawing/2014/main" id="{681381C3-9AAE-06C3-BAD8-1046A376DE9C}"/>
              </a:ext>
            </a:extLst>
          </p:cNvPr>
          <p:cNvSpPr txBox="1"/>
          <p:nvPr/>
        </p:nvSpPr>
        <p:spPr>
          <a:xfrm>
            <a:off x="6408420" y="2568773"/>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Start from extracted, structured order data.</a:t>
            </a:r>
            <a:endParaRPr lang="en-US" sz="1440" dirty="0" err="1">
              <a:solidFill>
                <a:srgbClr val="1A1A1A"/>
              </a:solidFill>
              <a:latin typeface="Segoe UI" panose="020B0502040204020203" pitchFamily="34" charset="0"/>
            </a:endParaRPr>
          </a:p>
        </p:txBody>
      </p:sp>
      <p:sp>
        <p:nvSpPr>
          <p:cNvPr id="17" name="Text 010 H2">
            <a:extLst>
              <a:ext uri="{FF2B5EF4-FFF2-40B4-BE49-F238E27FC236}">
                <a16:creationId xmlns:a16="http://schemas.microsoft.com/office/drawing/2014/main" id="{9A809064-6069-5529-0B57-32DD01E4E430}"/>
              </a:ext>
            </a:extLst>
          </p:cNvPr>
          <p:cNvSpPr txBox="1"/>
          <p:nvPr/>
        </p:nvSpPr>
        <p:spPr>
          <a:xfrm>
            <a:off x="792480" y="3251716"/>
            <a:ext cx="65" cy="307777"/>
          </a:xfrm>
          <a:prstGeom prst="rect">
            <a:avLst/>
          </a:prstGeom>
          <a:noFill/>
        </p:spPr>
        <p:txBody>
          <a:bodyPr vert="horz" wrap="none" lIns="0" tIns="0" rIns="0" bIns="0" rtlCol="0" anchor="t">
            <a:noAutofit/>
          </a:bodyPr>
          <a:lstStyle/>
          <a:p>
            <a:r>
              <a:rPr lang="en-US" sz="1740" spc="-30">
                <a:solidFill>
                  <a:srgbClr val="00599F"/>
                </a:solidFill>
                <a:latin typeface="Segoe UI Semibold" panose="020B0702040204020203" pitchFamily="34" charset="0"/>
              </a:rPr>
              <a:t>Inconsistent checks</a:t>
            </a:r>
            <a:endParaRPr lang="en-US" sz="1740" spc="-30" dirty="0" err="1">
              <a:solidFill>
                <a:srgbClr val="00599F"/>
              </a:solidFill>
              <a:latin typeface="Segoe UI Semibold" panose="020B0702040204020203" pitchFamily="34" charset="0"/>
            </a:endParaRPr>
          </a:p>
        </p:txBody>
      </p:sp>
      <p:sp>
        <p:nvSpPr>
          <p:cNvPr id="18" name="Text 011 P">
            <a:extLst>
              <a:ext uri="{FF2B5EF4-FFF2-40B4-BE49-F238E27FC236}">
                <a16:creationId xmlns:a16="http://schemas.microsoft.com/office/drawing/2014/main" id="{53CAF9C7-3FAA-EA42-6D05-DEC7D91515AE}"/>
              </a:ext>
            </a:extLst>
          </p:cNvPr>
          <p:cNvSpPr txBox="1"/>
          <p:nvPr/>
        </p:nvSpPr>
        <p:spPr>
          <a:xfrm>
            <a:off x="792480" y="3618309"/>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Invalid products, stock gaps and disputed discounts.</a:t>
            </a:r>
            <a:endParaRPr lang="en-US" sz="1440" dirty="0" err="1">
              <a:solidFill>
                <a:srgbClr val="1A1A1A"/>
              </a:solidFill>
              <a:latin typeface="Segoe UI" panose="020B0502040204020203" pitchFamily="34" charset="0"/>
            </a:endParaRPr>
          </a:p>
        </p:txBody>
      </p:sp>
      <p:sp>
        <p:nvSpPr>
          <p:cNvPr id="19" name="Text 012 H2">
            <a:extLst>
              <a:ext uri="{FF2B5EF4-FFF2-40B4-BE49-F238E27FC236}">
                <a16:creationId xmlns:a16="http://schemas.microsoft.com/office/drawing/2014/main" id="{4DD58BF8-1DB3-6C3A-51CE-60234C8D6A4D}"/>
              </a:ext>
            </a:extLst>
          </p:cNvPr>
          <p:cNvSpPr txBox="1"/>
          <p:nvPr/>
        </p:nvSpPr>
        <p:spPr>
          <a:xfrm>
            <a:off x="6408420" y="3251716"/>
            <a:ext cx="65" cy="307777"/>
          </a:xfrm>
          <a:prstGeom prst="rect">
            <a:avLst/>
          </a:prstGeom>
          <a:noFill/>
        </p:spPr>
        <p:txBody>
          <a:bodyPr vert="horz" wrap="none" lIns="0" tIns="0" rIns="0" bIns="0" rtlCol="0" anchor="t">
            <a:noAutofit/>
          </a:bodyPr>
          <a:lstStyle/>
          <a:p>
            <a:r>
              <a:rPr lang="en-US" sz="1740" spc="-30">
                <a:solidFill>
                  <a:srgbClr val="00599F"/>
                </a:solidFill>
                <a:latin typeface="Segoe UI Semibold" panose="020B0702040204020203" pitchFamily="34" charset="0"/>
              </a:rPr>
              <a:t>Consistent, explainable evaluation</a:t>
            </a:r>
            <a:endParaRPr lang="en-US" sz="1740" spc="-30" dirty="0" err="1">
              <a:solidFill>
                <a:srgbClr val="00599F"/>
              </a:solidFill>
              <a:latin typeface="Segoe UI Semibold" panose="020B0702040204020203" pitchFamily="34" charset="0"/>
            </a:endParaRPr>
          </a:p>
        </p:txBody>
      </p:sp>
      <p:sp>
        <p:nvSpPr>
          <p:cNvPr id="20" name="Text 013 P">
            <a:extLst>
              <a:ext uri="{FF2B5EF4-FFF2-40B4-BE49-F238E27FC236}">
                <a16:creationId xmlns:a16="http://schemas.microsoft.com/office/drawing/2014/main" id="{718871AC-BF4A-E8FB-2B50-3256FCCDDA93}"/>
              </a:ext>
            </a:extLst>
          </p:cNvPr>
          <p:cNvSpPr txBox="1"/>
          <p:nvPr/>
        </p:nvSpPr>
        <p:spPr>
          <a:xfrm>
            <a:off x="6408420" y="3618309"/>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Use focused skills to surface field-level findings.</a:t>
            </a:r>
            <a:endParaRPr lang="en-US" sz="1440" dirty="0" err="1">
              <a:solidFill>
                <a:srgbClr val="1A1A1A"/>
              </a:solidFill>
              <a:latin typeface="Segoe UI" panose="020B0502040204020203" pitchFamily="34" charset="0"/>
            </a:endParaRPr>
          </a:p>
        </p:txBody>
      </p:sp>
      <p:sp>
        <p:nvSpPr>
          <p:cNvPr id="21" name="Text 014 H2">
            <a:extLst>
              <a:ext uri="{FF2B5EF4-FFF2-40B4-BE49-F238E27FC236}">
                <a16:creationId xmlns:a16="http://schemas.microsoft.com/office/drawing/2014/main" id="{95DC6B73-D7FC-4F19-23C9-3623B14CCFD5}"/>
              </a:ext>
            </a:extLst>
          </p:cNvPr>
          <p:cNvSpPr txBox="1"/>
          <p:nvPr/>
        </p:nvSpPr>
        <p:spPr>
          <a:xfrm>
            <a:off x="792480" y="4301252"/>
            <a:ext cx="65" cy="307777"/>
          </a:xfrm>
          <a:prstGeom prst="rect">
            <a:avLst/>
          </a:prstGeom>
          <a:noFill/>
        </p:spPr>
        <p:txBody>
          <a:bodyPr vert="horz" wrap="none" lIns="0" tIns="0" rIns="0" bIns="0" rtlCol="0" anchor="t">
            <a:noAutofit/>
          </a:bodyPr>
          <a:lstStyle/>
          <a:p>
            <a:r>
              <a:rPr lang="en-US" sz="1740" spc="-30">
                <a:solidFill>
                  <a:srgbClr val="00599F"/>
                </a:solidFill>
                <a:latin typeface="Segoe UI Semibold" panose="020B0702040204020203" pitchFamily="34" charset="0"/>
              </a:rPr>
              <a:t>Invisible handoffs</a:t>
            </a:r>
            <a:endParaRPr lang="en-US" sz="1740" spc="-30" dirty="0" err="1">
              <a:solidFill>
                <a:srgbClr val="00599F"/>
              </a:solidFill>
              <a:latin typeface="Segoe UI Semibold" panose="020B0702040204020203" pitchFamily="34" charset="0"/>
            </a:endParaRPr>
          </a:p>
        </p:txBody>
      </p:sp>
      <p:sp>
        <p:nvSpPr>
          <p:cNvPr id="22" name="Text 015 P">
            <a:extLst>
              <a:ext uri="{FF2B5EF4-FFF2-40B4-BE49-F238E27FC236}">
                <a16:creationId xmlns:a16="http://schemas.microsoft.com/office/drawing/2014/main" id="{3813FFDB-1271-F47E-7DD6-564782505842}"/>
              </a:ext>
            </a:extLst>
          </p:cNvPr>
          <p:cNvSpPr txBox="1"/>
          <p:nvPr/>
        </p:nvSpPr>
        <p:spPr>
          <a:xfrm>
            <a:off x="792480" y="4667845"/>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Who has the order? What was approved?</a:t>
            </a:r>
            <a:endParaRPr lang="en-US" sz="1440" dirty="0" err="1">
              <a:solidFill>
                <a:srgbClr val="1A1A1A"/>
              </a:solidFill>
              <a:latin typeface="Segoe UI" panose="020B0502040204020203" pitchFamily="34" charset="0"/>
            </a:endParaRPr>
          </a:p>
        </p:txBody>
      </p:sp>
      <p:sp>
        <p:nvSpPr>
          <p:cNvPr id="23" name="Text 016 H2">
            <a:extLst>
              <a:ext uri="{FF2B5EF4-FFF2-40B4-BE49-F238E27FC236}">
                <a16:creationId xmlns:a16="http://schemas.microsoft.com/office/drawing/2014/main" id="{E6FBEC97-A32F-BD62-43D8-21B010695344}"/>
              </a:ext>
            </a:extLst>
          </p:cNvPr>
          <p:cNvSpPr txBox="1"/>
          <p:nvPr/>
        </p:nvSpPr>
        <p:spPr>
          <a:xfrm>
            <a:off x="6408420" y="4301252"/>
            <a:ext cx="65" cy="307777"/>
          </a:xfrm>
          <a:prstGeom prst="rect">
            <a:avLst/>
          </a:prstGeom>
          <a:noFill/>
        </p:spPr>
        <p:txBody>
          <a:bodyPr vert="horz" wrap="none" lIns="0" tIns="0" rIns="0" bIns="0" rtlCol="0" anchor="t">
            <a:noAutofit/>
          </a:bodyPr>
          <a:lstStyle/>
          <a:p>
            <a:r>
              <a:rPr lang="en-US" sz="1740" spc="-30">
                <a:solidFill>
                  <a:srgbClr val="00599F"/>
                </a:solidFill>
                <a:latin typeface="Segoe UI Semibold" panose="020B0702040204020203" pitchFamily="34" charset="0"/>
              </a:rPr>
              <a:t>Visible ownership and evidence</a:t>
            </a:r>
            <a:endParaRPr lang="en-US" sz="1740" spc="-30" dirty="0" err="1">
              <a:solidFill>
                <a:srgbClr val="00599F"/>
              </a:solidFill>
              <a:latin typeface="Segoe UI Semibold" panose="020B0702040204020203" pitchFamily="34" charset="0"/>
            </a:endParaRPr>
          </a:p>
        </p:txBody>
      </p:sp>
      <p:sp>
        <p:nvSpPr>
          <p:cNvPr id="24" name="Text 017 P">
            <a:extLst>
              <a:ext uri="{FF2B5EF4-FFF2-40B4-BE49-F238E27FC236}">
                <a16:creationId xmlns:a16="http://schemas.microsoft.com/office/drawing/2014/main" id="{AA12D591-C342-7D94-32C7-8751F372EA0C}"/>
              </a:ext>
            </a:extLst>
          </p:cNvPr>
          <p:cNvSpPr txBox="1"/>
          <p:nvPr/>
        </p:nvSpPr>
        <p:spPr>
          <a:xfrm>
            <a:off x="6408420" y="4667845"/>
            <a:ext cx="65" cy="307777"/>
          </a:xfrm>
          <a:prstGeom prst="rect">
            <a:avLst/>
          </a:prstGeom>
          <a:noFill/>
        </p:spPr>
        <p:txBody>
          <a:bodyPr vert="horz" wrap="none" lIns="0" tIns="0" rIns="0" bIns="0" rtlCol="0" anchor="t">
            <a:noAutofit/>
          </a:bodyPr>
          <a:lstStyle/>
          <a:p>
            <a:r>
              <a:rPr lang="en-US" sz="1440" spc="-2">
                <a:solidFill>
                  <a:srgbClr val="1A1A1A"/>
                </a:solidFill>
                <a:latin typeface="Segoe UI" panose="020B0502040204020203" pitchFamily="34" charset="0"/>
              </a:rPr>
              <a:t>Track tasks, decisions and artifacts end to end.</a:t>
            </a:r>
            <a:endParaRPr lang="en-US" sz="1440" spc="-2" dirty="0" err="1">
              <a:solidFill>
                <a:srgbClr val="1A1A1A"/>
              </a:solidFill>
              <a:latin typeface="Segoe UI" panose="020B0502040204020203" pitchFamily="34" charset="0"/>
            </a:endParaRPr>
          </a:p>
        </p:txBody>
      </p:sp>
      <p:sp>
        <p:nvSpPr>
          <p:cNvPr id="25" name="Text 018 DIV">
            <a:extLst>
              <a:ext uri="{FF2B5EF4-FFF2-40B4-BE49-F238E27FC236}">
                <a16:creationId xmlns:a16="http://schemas.microsoft.com/office/drawing/2014/main" id="{3B599917-C771-91C3-5C84-CA61FDBB42E9}"/>
              </a:ext>
            </a:extLst>
          </p:cNvPr>
          <p:cNvSpPr txBox="1"/>
          <p:nvPr/>
        </p:nvSpPr>
        <p:spPr>
          <a:xfrm>
            <a:off x="2749153" y="584073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Measure in a pilot: </a:t>
            </a:r>
            <a:endParaRPr lang="en-US" sz="1560" dirty="0" err="1">
              <a:solidFill>
                <a:srgbClr val="1A1A1A"/>
              </a:solidFill>
              <a:latin typeface="Segoe UI" panose="020B0502040204020203" pitchFamily="34" charset="0"/>
            </a:endParaRPr>
          </a:p>
        </p:txBody>
      </p:sp>
      <p:sp>
        <p:nvSpPr>
          <p:cNvPr id="26" name="Text 019 STRONG">
            <a:extLst>
              <a:ext uri="{FF2B5EF4-FFF2-40B4-BE49-F238E27FC236}">
                <a16:creationId xmlns:a16="http://schemas.microsoft.com/office/drawing/2014/main" id="{5CE73BA4-64C5-D47B-972F-D49DD23EE24E}"/>
              </a:ext>
            </a:extLst>
          </p:cNvPr>
          <p:cNvSpPr txBox="1"/>
          <p:nvPr/>
        </p:nvSpPr>
        <p:spPr>
          <a:xfrm>
            <a:off x="4416742" y="5840730"/>
            <a:ext cx="65" cy="307777"/>
          </a:xfrm>
          <a:prstGeom prst="rect">
            <a:avLst/>
          </a:prstGeom>
          <a:noFill/>
        </p:spPr>
        <p:txBody>
          <a:bodyPr vert="horz" wrap="none" lIns="0" tIns="0" rIns="0" bIns="0" rtlCol="0" anchor="t">
            <a:noAutofit/>
          </a:bodyPr>
          <a:lstStyle/>
          <a:p>
            <a:r>
              <a:rPr lang="en-US" sz="1560">
                <a:solidFill>
                  <a:srgbClr val="00599F"/>
                </a:solidFill>
                <a:latin typeface="Segoe UI Semibold" panose="020B0702040204020203" pitchFamily="34" charset="0"/>
              </a:rPr>
              <a:t>handling time, correction rate and approval turnaround.</a:t>
            </a:r>
            <a:endParaRPr lang="en-US" sz="1560" dirty="0" err="1">
              <a:solidFill>
                <a:srgbClr val="00599F"/>
              </a:solidFill>
              <a:latin typeface="Segoe UI Semibold" panose="020B0702040204020203" pitchFamily="34" charset="0"/>
            </a:endParaRPr>
          </a:p>
        </p:txBody>
      </p:sp>
      <p:sp>
        <p:nvSpPr>
          <p:cNvPr id="27" name="Text 020 FOOTER">
            <a:extLst>
              <a:ext uri="{FF2B5EF4-FFF2-40B4-BE49-F238E27FC236}">
                <a16:creationId xmlns:a16="http://schemas.microsoft.com/office/drawing/2014/main" id="{DDE5670C-A0C5-F185-74B0-DE0099614DE6}"/>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Expected benefits to validate in a pilot - no measured ROI is claimed.</a:t>
            </a:r>
            <a:endParaRPr lang="en-US" sz="840" dirty="0" err="1">
              <a:solidFill>
                <a:srgbClr val="425466"/>
              </a:solidFill>
              <a:latin typeface="Segoe UI" panose="020B0502040204020203" pitchFamily="34" charset="0"/>
            </a:endParaRPr>
          </a:p>
        </p:txBody>
      </p:sp>
      <p:sp>
        <p:nvSpPr>
          <p:cNvPr id="28" name="Text 021 FOOTER">
            <a:extLst>
              <a:ext uri="{FF2B5EF4-FFF2-40B4-BE49-F238E27FC236}">
                <a16:creationId xmlns:a16="http://schemas.microsoft.com/office/drawing/2014/main" id="{DE87AAE3-A737-2100-E383-353072C2CB9D}"/>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05 / 23</a:t>
            </a:r>
            <a:endParaRPr lang="en-US" sz="840" dirty="0" err="1">
              <a:solidFill>
                <a:srgbClr val="425466"/>
              </a:solidFill>
              <a:latin typeface="Segoe UI" panose="020B0502040204020203" pitchFamily="34" charset="0"/>
            </a:endParaRPr>
          </a:p>
        </p:txBody>
      </p:sp>
    </p:spTree>
    <p:extLst>
      <p:ext uri="{BB962C8B-B14F-4D97-AF65-F5344CB8AC3E}">
        <p14:creationId xmlns:p14="http://schemas.microsoft.com/office/powerpoint/2010/main" val="474490609"/>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Process-06">
    <p:spTree>
      <p:nvGrpSpPr>
        <p:cNvPr id="1" name="">
          <a:extLst>
            <a:ext uri="{FF2B5EF4-FFF2-40B4-BE49-F238E27FC236}">
              <a16:creationId xmlns:a16="http://schemas.microsoft.com/office/drawing/2014/main" id="{45E204F7-B12F-72AC-C9AA-76598E84CC14}"/>
            </a:ext>
          </a:extLst>
        </p:cNvPr>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82EA159C-5B36-CBD3-6B16-1F37BA2994B0}"/>
              </a:ext>
            </a:extLst>
          </p:cNvPr>
          <p:cNvPicPr>
            <a:picLocks/>
          </p:cNvPicPr>
          <p:nvPr/>
        </p:nvPicPr>
        <p:blipFill>
          <a:blip r:embed="rId3"/>
          <a:stretch>
            <a:fillRect/>
          </a:stretch>
        </p:blipFill>
        <p:spPr>
          <a:xfrm>
            <a:off x="0" y="0"/>
            <a:ext cx="12192000" cy="6858000"/>
          </a:xfrm>
          <a:prstGeom prst="rect">
            <a:avLst/>
          </a:prstGeom>
        </p:spPr>
      </p:pic>
      <p:sp>
        <p:nvSpPr>
          <p:cNvPr id="8" name="Text 001 SPAN">
            <a:extLst>
              <a:ext uri="{FF2B5EF4-FFF2-40B4-BE49-F238E27FC236}">
                <a16:creationId xmlns:a16="http://schemas.microsoft.com/office/drawing/2014/main" id="{61741B26-F7DD-1661-5956-3FDC9E91708B}"/>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02 / ORDER PROCESSING</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3FB3B5B5-0D12-8F27-4F60-3BE0136F809A}"/>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72">
                <a:solidFill>
                  <a:srgbClr val="1A1A1A"/>
                </a:solidFill>
                <a:latin typeface="Segoe UI Semibold" panose="020B0702040204020203" pitchFamily="34" charset="0"/>
              </a:rPr>
              <a:t>From incoming order to SAP-ready payload</a:t>
            </a:r>
            <a:endParaRPr lang="en-US" sz="2880" spc="-72" dirty="0" err="1">
              <a:solidFill>
                <a:srgbClr val="1A1A1A"/>
              </a:solidFill>
              <a:latin typeface="Segoe UI Semibold" panose="020B0702040204020203" pitchFamily="34" charset="0"/>
            </a:endParaRPr>
          </a:p>
        </p:txBody>
      </p:sp>
      <p:sp>
        <p:nvSpPr>
          <p:cNvPr id="10" name="Text 003 P">
            <a:extLst>
              <a:ext uri="{FF2B5EF4-FFF2-40B4-BE49-F238E27FC236}">
                <a16:creationId xmlns:a16="http://schemas.microsoft.com/office/drawing/2014/main" id="{F11314C1-15B9-3FC7-97E3-D2E14C4CB3DB}"/>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a:solidFill>
                  <a:srgbClr val="343B48"/>
                </a:solidFill>
                <a:latin typeface="Segoe UI" panose="020B0502040204020203" pitchFamily="34" charset="0"/>
              </a:rPr>
              <a:t>Four workflows. Two explicit human gates. One traceable process instance.</a:t>
            </a:r>
            <a:endParaRPr lang="en-US" sz="1500" dirty="0" err="1">
              <a:solidFill>
                <a:srgbClr val="343B48"/>
              </a:solidFill>
              <a:latin typeface="Segoe UI" panose="020B0502040204020203" pitchFamily="34" charset="0"/>
            </a:endParaRPr>
          </a:p>
        </p:txBody>
      </p:sp>
      <p:sp>
        <p:nvSpPr>
          <p:cNvPr id="11" name="Text 004 LI">
            <a:extLst>
              <a:ext uri="{FF2B5EF4-FFF2-40B4-BE49-F238E27FC236}">
                <a16:creationId xmlns:a16="http://schemas.microsoft.com/office/drawing/2014/main" id="{A1D8720B-B20E-A3F0-645E-B102CC1A4297}"/>
              </a:ext>
            </a:extLst>
          </p:cNvPr>
          <p:cNvSpPr txBox="1"/>
          <p:nvPr/>
        </p:nvSpPr>
        <p:spPr>
          <a:xfrm>
            <a:off x="716280" y="2087880"/>
            <a:ext cx="65" cy="307777"/>
          </a:xfrm>
          <a:prstGeom prst="rect">
            <a:avLst/>
          </a:prstGeom>
          <a:noFill/>
        </p:spPr>
        <p:txBody>
          <a:bodyPr vert="horz" wrap="none" lIns="0" tIns="0" rIns="0" bIns="0" rtlCol="0" anchor="t">
            <a:noAutofit/>
          </a:bodyPr>
          <a:lstStyle/>
          <a:p>
            <a:r>
              <a:rPr lang="en-US" sz="840" spc="48">
                <a:solidFill>
                  <a:srgbClr val="00599F"/>
                </a:solidFill>
                <a:latin typeface="Segoe UI Semibold" panose="020B0702040204020203" pitchFamily="34" charset="0"/>
              </a:rPr>
              <a:t>WORKFLOW 1</a:t>
            </a:r>
            <a:endParaRPr lang="en-US" sz="840" spc="48" dirty="0" err="1">
              <a:solidFill>
                <a:srgbClr val="00599F"/>
              </a:solidFill>
              <a:latin typeface="Segoe UI Semibold" panose="020B0702040204020203" pitchFamily="34" charset="0"/>
            </a:endParaRPr>
          </a:p>
        </p:txBody>
      </p:sp>
      <p:sp>
        <p:nvSpPr>
          <p:cNvPr id="12" name="Text 005 H2">
            <a:extLst>
              <a:ext uri="{FF2B5EF4-FFF2-40B4-BE49-F238E27FC236}">
                <a16:creationId xmlns:a16="http://schemas.microsoft.com/office/drawing/2014/main" id="{B09862E1-5E22-D346-3532-898B542B3006}"/>
              </a:ext>
            </a:extLst>
          </p:cNvPr>
          <p:cNvSpPr txBox="1"/>
          <p:nvPr/>
        </p:nvSpPr>
        <p:spPr>
          <a:xfrm>
            <a:off x="716280" y="2392918"/>
            <a:ext cx="65" cy="307777"/>
          </a:xfrm>
          <a:prstGeom prst="rect">
            <a:avLst/>
          </a:prstGeom>
          <a:noFill/>
        </p:spPr>
        <p:txBody>
          <a:bodyPr vert="horz" wrap="none" lIns="0" tIns="0" rIns="0" bIns="0" rtlCol="0" anchor="t">
            <a:noAutofit/>
          </a:bodyPr>
          <a:lstStyle/>
          <a:p>
            <a:r>
              <a:rPr lang="en-US" sz="1860" spc="-30">
                <a:solidFill>
                  <a:srgbClr val="00599F"/>
                </a:solidFill>
                <a:latin typeface="Segoe UI Semibold" panose="020B0702040204020203" pitchFamily="34" charset="0"/>
              </a:rPr>
              <a:t>Receive</a:t>
            </a:r>
            <a:endParaRPr lang="en-US" sz="1860" spc="-30" dirty="0" err="1">
              <a:solidFill>
                <a:srgbClr val="00599F"/>
              </a:solidFill>
              <a:latin typeface="Segoe UI Semibold" panose="020B0702040204020203" pitchFamily="34" charset="0"/>
            </a:endParaRPr>
          </a:p>
        </p:txBody>
      </p:sp>
      <p:sp>
        <p:nvSpPr>
          <p:cNvPr id="13" name="Text 006 P">
            <a:extLst>
              <a:ext uri="{FF2B5EF4-FFF2-40B4-BE49-F238E27FC236}">
                <a16:creationId xmlns:a16="http://schemas.microsoft.com/office/drawing/2014/main" id="{5488F145-BF75-47D6-D24A-8315845F4F1F}"/>
              </a:ext>
            </a:extLst>
          </p:cNvPr>
          <p:cNvSpPr txBox="1"/>
          <p:nvPr/>
        </p:nvSpPr>
        <p:spPr>
          <a:xfrm>
            <a:off x="716280" y="2824758"/>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Email arrives in</a:t>
            </a:r>
            <a:endParaRPr lang="en-US" sz="1380" dirty="0" err="1">
              <a:solidFill>
                <a:srgbClr val="1A1A1A"/>
              </a:solidFill>
              <a:latin typeface="Segoe UI" panose="020B0502040204020203" pitchFamily="34" charset="0"/>
            </a:endParaRPr>
          </a:p>
        </p:txBody>
      </p:sp>
      <p:sp>
        <p:nvSpPr>
          <p:cNvPr id="14" name="Text 007 P">
            <a:extLst>
              <a:ext uri="{FF2B5EF4-FFF2-40B4-BE49-F238E27FC236}">
                <a16:creationId xmlns:a16="http://schemas.microsoft.com/office/drawing/2014/main" id="{50AF095E-3768-021D-ADB7-83A3B1BB414E}"/>
              </a:ext>
            </a:extLst>
          </p:cNvPr>
          <p:cNvSpPr txBox="1"/>
          <p:nvPr/>
        </p:nvSpPr>
        <p:spPr>
          <a:xfrm>
            <a:off x="716280" y="3063002"/>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the shared</a:t>
            </a:r>
            <a:endParaRPr lang="en-US" sz="1380" dirty="0" err="1">
              <a:solidFill>
                <a:srgbClr val="1A1A1A"/>
              </a:solidFill>
              <a:latin typeface="Segoe UI" panose="020B0502040204020203" pitchFamily="34" charset="0"/>
            </a:endParaRPr>
          </a:p>
        </p:txBody>
      </p:sp>
      <p:sp>
        <p:nvSpPr>
          <p:cNvPr id="15" name="Text 008 P">
            <a:extLst>
              <a:ext uri="{FF2B5EF4-FFF2-40B4-BE49-F238E27FC236}">
                <a16:creationId xmlns:a16="http://schemas.microsoft.com/office/drawing/2014/main" id="{075FBC14-B0A4-84A9-7A1A-0108CD8C6862}"/>
              </a:ext>
            </a:extLst>
          </p:cNvPr>
          <p:cNvSpPr txBox="1"/>
          <p:nvPr/>
        </p:nvSpPr>
        <p:spPr>
          <a:xfrm>
            <a:off x="716280" y="3301246"/>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mailbox.</a:t>
            </a:r>
            <a:endParaRPr lang="en-US" sz="1380" dirty="0" err="1">
              <a:solidFill>
                <a:srgbClr val="1A1A1A"/>
              </a:solidFill>
              <a:latin typeface="Segoe UI" panose="020B0502040204020203" pitchFamily="34" charset="0"/>
            </a:endParaRPr>
          </a:p>
        </p:txBody>
      </p:sp>
      <p:sp>
        <p:nvSpPr>
          <p:cNvPr id="16" name="Text 009 LI">
            <a:extLst>
              <a:ext uri="{FF2B5EF4-FFF2-40B4-BE49-F238E27FC236}">
                <a16:creationId xmlns:a16="http://schemas.microsoft.com/office/drawing/2014/main" id="{F1699066-02CB-A1A6-60F9-689478FCC866}"/>
              </a:ext>
            </a:extLst>
          </p:cNvPr>
          <p:cNvSpPr txBox="1"/>
          <p:nvPr/>
        </p:nvSpPr>
        <p:spPr>
          <a:xfrm>
            <a:off x="716280" y="4105751"/>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Document stored</a:t>
            </a:r>
            <a:endParaRPr lang="en-US" sz="1200" dirty="0" err="1">
              <a:solidFill>
                <a:srgbClr val="343B48"/>
              </a:solidFill>
              <a:latin typeface="Segoe UI" panose="020B0502040204020203" pitchFamily="34" charset="0"/>
            </a:endParaRPr>
          </a:p>
        </p:txBody>
      </p:sp>
      <p:sp>
        <p:nvSpPr>
          <p:cNvPr id="17" name="Text 010 LI">
            <a:extLst>
              <a:ext uri="{FF2B5EF4-FFF2-40B4-BE49-F238E27FC236}">
                <a16:creationId xmlns:a16="http://schemas.microsoft.com/office/drawing/2014/main" id="{5919EC2C-AB39-E4A8-0329-C30CD33678DB}"/>
              </a:ext>
            </a:extLst>
          </p:cNvPr>
          <p:cNvSpPr txBox="1"/>
          <p:nvPr/>
        </p:nvSpPr>
        <p:spPr>
          <a:xfrm>
            <a:off x="2583180" y="2087880"/>
            <a:ext cx="65" cy="307777"/>
          </a:xfrm>
          <a:prstGeom prst="rect">
            <a:avLst/>
          </a:prstGeom>
          <a:noFill/>
        </p:spPr>
        <p:txBody>
          <a:bodyPr vert="horz" wrap="none" lIns="0" tIns="0" rIns="0" bIns="0" rtlCol="0" anchor="t">
            <a:noAutofit/>
          </a:bodyPr>
          <a:lstStyle/>
          <a:p>
            <a:r>
              <a:rPr lang="en-US" sz="840" spc="48">
                <a:solidFill>
                  <a:srgbClr val="00599F"/>
                </a:solidFill>
                <a:latin typeface="Segoe UI Semibold" panose="020B0702040204020203" pitchFamily="34" charset="0"/>
              </a:rPr>
              <a:t>WORKFLOW 2</a:t>
            </a:r>
            <a:endParaRPr lang="en-US" sz="840" spc="48" dirty="0" err="1">
              <a:solidFill>
                <a:srgbClr val="00599F"/>
              </a:solidFill>
              <a:latin typeface="Segoe UI Semibold" panose="020B0702040204020203" pitchFamily="34" charset="0"/>
            </a:endParaRPr>
          </a:p>
        </p:txBody>
      </p:sp>
      <p:sp>
        <p:nvSpPr>
          <p:cNvPr id="18" name="Text 011 H2">
            <a:extLst>
              <a:ext uri="{FF2B5EF4-FFF2-40B4-BE49-F238E27FC236}">
                <a16:creationId xmlns:a16="http://schemas.microsoft.com/office/drawing/2014/main" id="{9D212226-BC0F-79CF-1F7F-E4ADC14F1633}"/>
              </a:ext>
            </a:extLst>
          </p:cNvPr>
          <p:cNvSpPr txBox="1"/>
          <p:nvPr/>
        </p:nvSpPr>
        <p:spPr>
          <a:xfrm>
            <a:off x="2583180" y="2392918"/>
            <a:ext cx="65" cy="307777"/>
          </a:xfrm>
          <a:prstGeom prst="rect">
            <a:avLst/>
          </a:prstGeom>
          <a:noFill/>
        </p:spPr>
        <p:txBody>
          <a:bodyPr vert="horz" wrap="none" lIns="0" tIns="0" rIns="0" bIns="0" rtlCol="0" anchor="t">
            <a:noAutofit/>
          </a:bodyPr>
          <a:lstStyle/>
          <a:p>
            <a:r>
              <a:rPr lang="en-US" sz="1860" spc="-30">
                <a:solidFill>
                  <a:srgbClr val="00599F"/>
                </a:solidFill>
                <a:latin typeface="Segoe UI Semibold" panose="020B0702040204020203" pitchFamily="34" charset="0"/>
              </a:rPr>
              <a:t>Extract</a:t>
            </a:r>
            <a:endParaRPr lang="en-US" sz="1860" spc="-30" dirty="0" err="1">
              <a:solidFill>
                <a:srgbClr val="00599F"/>
              </a:solidFill>
              <a:latin typeface="Segoe UI Semibold" panose="020B0702040204020203" pitchFamily="34" charset="0"/>
            </a:endParaRPr>
          </a:p>
        </p:txBody>
      </p:sp>
      <p:sp>
        <p:nvSpPr>
          <p:cNvPr id="19" name="Text 012 P">
            <a:extLst>
              <a:ext uri="{FF2B5EF4-FFF2-40B4-BE49-F238E27FC236}">
                <a16:creationId xmlns:a16="http://schemas.microsoft.com/office/drawing/2014/main" id="{0249792B-F93A-380C-4C17-BD50354E8FC6}"/>
              </a:ext>
            </a:extLst>
          </p:cNvPr>
          <p:cNvSpPr txBox="1"/>
          <p:nvPr/>
        </p:nvSpPr>
        <p:spPr>
          <a:xfrm>
            <a:off x="2583180" y="2824758"/>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Agent reads the</a:t>
            </a:r>
            <a:endParaRPr lang="en-US" sz="1380" dirty="0" err="1">
              <a:solidFill>
                <a:srgbClr val="1A1A1A"/>
              </a:solidFill>
              <a:latin typeface="Segoe UI" panose="020B0502040204020203" pitchFamily="34" charset="0"/>
            </a:endParaRPr>
          </a:p>
        </p:txBody>
      </p:sp>
      <p:sp>
        <p:nvSpPr>
          <p:cNvPr id="20" name="Text 013 P">
            <a:extLst>
              <a:ext uri="{FF2B5EF4-FFF2-40B4-BE49-F238E27FC236}">
                <a16:creationId xmlns:a16="http://schemas.microsoft.com/office/drawing/2014/main" id="{B29DB594-001D-35BE-C406-873DD07A2C06}"/>
              </a:ext>
            </a:extLst>
          </p:cNvPr>
          <p:cNvSpPr txBox="1"/>
          <p:nvPr/>
        </p:nvSpPr>
        <p:spPr>
          <a:xfrm>
            <a:off x="2583180" y="3063002"/>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document into a</a:t>
            </a:r>
            <a:endParaRPr lang="en-US" sz="1380" dirty="0" err="1">
              <a:solidFill>
                <a:srgbClr val="1A1A1A"/>
              </a:solidFill>
              <a:latin typeface="Segoe UI" panose="020B0502040204020203" pitchFamily="34" charset="0"/>
            </a:endParaRPr>
          </a:p>
        </p:txBody>
      </p:sp>
      <p:sp>
        <p:nvSpPr>
          <p:cNvPr id="21" name="Text 014 P">
            <a:extLst>
              <a:ext uri="{FF2B5EF4-FFF2-40B4-BE49-F238E27FC236}">
                <a16:creationId xmlns:a16="http://schemas.microsoft.com/office/drawing/2014/main" id="{B9CE4F05-E34A-1E58-31EA-AB2A21FD35B0}"/>
              </a:ext>
            </a:extLst>
          </p:cNvPr>
          <p:cNvSpPr txBox="1"/>
          <p:nvPr/>
        </p:nvSpPr>
        <p:spPr>
          <a:xfrm>
            <a:off x="2583180" y="3301246"/>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fixed JSON</a:t>
            </a:r>
            <a:endParaRPr lang="en-US" sz="1380" dirty="0" err="1">
              <a:solidFill>
                <a:srgbClr val="1A1A1A"/>
              </a:solidFill>
              <a:latin typeface="Segoe UI" panose="020B0502040204020203" pitchFamily="34" charset="0"/>
            </a:endParaRPr>
          </a:p>
        </p:txBody>
      </p:sp>
      <p:sp>
        <p:nvSpPr>
          <p:cNvPr id="22" name="Text 015 P">
            <a:extLst>
              <a:ext uri="{FF2B5EF4-FFF2-40B4-BE49-F238E27FC236}">
                <a16:creationId xmlns:a16="http://schemas.microsoft.com/office/drawing/2014/main" id="{B3A52A8A-E497-A2E7-ADBF-FBDC2F42EBB4}"/>
              </a:ext>
            </a:extLst>
          </p:cNvPr>
          <p:cNvSpPr txBox="1"/>
          <p:nvPr/>
        </p:nvSpPr>
        <p:spPr>
          <a:xfrm>
            <a:off x="2583180" y="3539490"/>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contract.</a:t>
            </a:r>
            <a:endParaRPr lang="en-US" sz="1380" dirty="0" err="1">
              <a:solidFill>
                <a:srgbClr val="1A1A1A"/>
              </a:solidFill>
              <a:latin typeface="Segoe UI" panose="020B0502040204020203" pitchFamily="34" charset="0"/>
            </a:endParaRPr>
          </a:p>
        </p:txBody>
      </p:sp>
      <p:sp>
        <p:nvSpPr>
          <p:cNvPr id="23" name="Text 016 LI">
            <a:extLst>
              <a:ext uri="{FF2B5EF4-FFF2-40B4-BE49-F238E27FC236}">
                <a16:creationId xmlns:a16="http://schemas.microsoft.com/office/drawing/2014/main" id="{F314EE0E-C24A-F02B-CE01-80C5457AFFEC}"/>
              </a:ext>
            </a:extLst>
          </p:cNvPr>
          <p:cNvSpPr txBox="1"/>
          <p:nvPr/>
        </p:nvSpPr>
        <p:spPr>
          <a:xfrm>
            <a:off x="2583180" y="4105751"/>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Structured order</a:t>
            </a:r>
            <a:endParaRPr lang="en-US" sz="1200" dirty="0" err="1">
              <a:solidFill>
                <a:srgbClr val="343B48"/>
              </a:solidFill>
              <a:latin typeface="Segoe UI" panose="020B0502040204020203" pitchFamily="34" charset="0"/>
            </a:endParaRPr>
          </a:p>
        </p:txBody>
      </p:sp>
      <p:sp>
        <p:nvSpPr>
          <p:cNvPr id="24" name="Text 017 LI">
            <a:extLst>
              <a:ext uri="{FF2B5EF4-FFF2-40B4-BE49-F238E27FC236}">
                <a16:creationId xmlns:a16="http://schemas.microsoft.com/office/drawing/2014/main" id="{7FA6EBE1-6673-0C3C-0126-20E491438DF7}"/>
              </a:ext>
            </a:extLst>
          </p:cNvPr>
          <p:cNvSpPr txBox="1"/>
          <p:nvPr/>
        </p:nvSpPr>
        <p:spPr>
          <a:xfrm>
            <a:off x="4450080" y="2087880"/>
            <a:ext cx="65" cy="307777"/>
          </a:xfrm>
          <a:prstGeom prst="rect">
            <a:avLst/>
          </a:prstGeom>
          <a:noFill/>
        </p:spPr>
        <p:txBody>
          <a:bodyPr vert="horz" wrap="none" lIns="0" tIns="0" rIns="0" bIns="0" rtlCol="0" anchor="t">
            <a:noAutofit/>
          </a:bodyPr>
          <a:lstStyle/>
          <a:p>
            <a:r>
              <a:rPr lang="en-US" sz="840" spc="48">
                <a:solidFill>
                  <a:srgbClr val="453793"/>
                </a:solidFill>
                <a:latin typeface="Segoe UI Semibold" panose="020B0702040204020203" pitchFamily="34" charset="0"/>
              </a:rPr>
              <a:t>HUMAN GATE 1</a:t>
            </a:r>
            <a:endParaRPr lang="en-US" sz="840" spc="48" dirty="0" err="1">
              <a:solidFill>
                <a:srgbClr val="453793"/>
              </a:solidFill>
              <a:latin typeface="Segoe UI Semibold" panose="020B0702040204020203" pitchFamily="34" charset="0"/>
            </a:endParaRPr>
          </a:p>
        </p:txBody>
      </p:sp>
      <p:sp>
        <p:nvSpPr>
          <p:cNvPr id="25" name="Text 018 H2">
            <a:extLst>
              <a:ext uri="{FF2B5EF4-FFF2-40B4-BE49-F238E27FC236}">
                <a16:creationId xmlns:a16="http://schemas.microsoft.com/office/drawing/2014/main" id="{1D53548B-E363-DC95-7E46-4522D2CD09B4}"/>
              </a:ext>
            </a:extLst>
          </p:cNvPr>
          <p:cNvSpPr txBox="1"/>
          <p:nvPr/>
        </p:nvSpPr>
        <p:spPr>
          <a:xfrm>
            <a:off x="4450080" y="2392918"/>
            <a:ext cx="65" cy="307777"/>
          </a:xfrm>
          <a:prstGeom prst="rect">
            <a:avLst/>
          </a:prstGeom>
          <a:noFill/>
        </p:spPr>
        <p:txBody>
          <a:bodyPr vert="horz" wrap="none" lIns="0" tIns="0" rIns="0" bIns="0" rtlCol="0" anchor="t">
            <a:noAutofit/>
          </a:bodyPr>
          <a:lstStyle/>
          <a:p>
            <a:r>
              <a:rPr lang="en-US" sz="1860" spc="-30">
                <a:solidFill>
                  <a:srgbClr val="00599F"/>
                </a:solidFill>
                <a:latin typeface="Segoe UI Semibold" panose="020B0702040204020203" pitchFamily="34" charset="0"/>
              </a:rPr>
              <a:t>Review</a:t>
            </a:r>
            <a:endParaRPr lang="en-US" sz="1860" spc="-30" dirty="0" err="1">
              <a:solidFill>
                <a:srgbClr val="00599F"/>
              </a:solidFill>
              <a:latin typeface="Segoe UI Semibold" panose="020B0702040204020203" pitchFamily="34" charset="0"/>
            </a:endParaRPr>
          </a:p>
        </p:txBody>
      </p:sp>
      <p:sp>
        <p:nvSpPr>
          <p:cNvPr id="26" name="Text 019 P">
            <a:extLst>
              <a:ext uri="{FF2B5EF4-FFF2-40B4-BE49-F238E27FC236}">
                <a16:creationId xmlns:a16="http://schemas.microsoft.com/office/drawing/2014/main" id="{D7642FD2-4C1A-F8A2-E75B-8F0E1833E46B}"/>
              </a:ext>
            </a:extLst>
          </p:cNvPr>
          <p:cNvSpPr txBox="1"/>
          <p:nvPr/>
        </p:nvSpPr>
        <p:spPr>
          <a:xfrm>
            <a:off x="4450080" y="2824758"/>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Verify and correct</a:t>
            </a:r>
            <a:endParaRPr lang="en-US" sz="1380" dirty="0" err="1">
              <a:solidFill>
                <a:srgbClr val="1A1A1A"/>
              </a:solidFill>
              <a:latin typeface="Segoe UI" panose="020B0502040204020203" pitchFamily="34" charset="0"/>
            </a:endParaRPr>
          </a:p>
        </p:txBody>
      </p:sp>
      <p:sp>
        <p:nvSpPr>
          <p:cNvPr id="27" name="Text 020 P">
            <a:extLst>
              <a:ext uri="{FF2B5EF4-FFF2-40B4-BE49-F238E27FC236}">
                <a16:creationId xmlns:a16="http://schemas.microsoft.com/office/drawing/2014/main" id="{35A186C5-D5C0-6D20-7FB3-1B450F4B78E2}"/>
              </a:ext>
            </a:extLst>
          </p:cNvPr>
          <p:cNvSpPr txBox="1"/>
          <p:nvPr/>
        </p:nvSpPr>
        <p:spPr>
          <a:xfrm>
            <a:off x="4450080" y="3063002"/>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the extracted</a:t>
            </a:r>
            <a:endParaRPr lang="en-US" sz="1380" dirty="0" err="1">
              <a:solidFill>
                <a:srgbClr val="1A1A1A"/>
              </a:solidFill>
              <a:latin typeface="Segoe UI" panose="020B0502040204020203" pitchFamily="34" charset="0"/>
            </a:endParaRPr>
          </a:p>
        </p:txBody>
      </p:sp>
      <p:sp>
        <p:nvSpPr>
          <p:cNvPr id="28" name="Text 021 P">
            <a:extLst>
              <a:ext uri="{FF2B5EF4-FFF2-40B4-BE49-F238E27FC236}">
                <a16:creationId xmlns:a16="http://schemas.microsoft.com/office/drawing/2014/main" id="{DECB8FC4-7E13-AEEA-52C7-46B38677D4E5}"/>
              </a:ext>
            </a:extLst>
          </p:cNvPr>
          <p:cNvSpPr txBox="1"/>
          <p:nvPr/>
        </p:nvSpPr>
        <p:spPr>
          <a:xfrm>
            <a:off x="4450080" y="3301246"/>
            <a:ext cx="65" cy="307777"/>
          </a:xfrm>
          <a:prstGeom prst="rect">
            <a:avLst/>
          </a:prstGeom>
          <a:noFill/>
        </p:spPr>
        <p:txBody>
          <a:bodyPr vert="horz" wrap="none" lIns="0" tIns="0" rIns="0" bIns="0" rtlCol="0" anchor="t">
            <a:noAutofit/>
          </a:bodyPr>
          <a:lstStyle/>
          <a:p>
            <a:r>
              <a:rPr lang="en-US" sz="1380" spc="27">
                <a:solidFill>
                  <a:srgbClr val="1A1A1A"/>
                </a:solidFill>
                <a:latin typeface="Segoe UI" panose="020B0502040204020203" pitchFamily="34" charset="0"/>
              </a:rPr>
              <a:t>order.</a:t>
            </a:r>
            <a:endParaRPr lang="en-US" sz="1380" spc="27" dirty="0" err="1">
              <a:solidFill>
                <a:srgbClr val="1A1A1A"/>
              </a:solidFill>
              <a:latin typeface="Segoe UI" panose="020B0502040204020203" pitchFamily="34" charset="0"/>
            </a:endParaRPr>
          </a:p>
        </p:txBody>
      </p:sp>
      <p:sp>
        <p:nvSpPr>
          <p:cNvPr id="29" name="Text 022 LI">
            <a:extLst>
              <a:ext uri="{FF2B5EF4-FFF2-40B4-BE49-F238E27FC236}">
                <a16:creationId xmlns:a16="http://schemas.microsoft.com/office/drawing/2014/main" id="{D4CB5105-E973-6AB0-8E5F-1FE27F6E82F0}"/>
              </a:ext>
            </a:extLst>
          </p:cNvPr>
          <p:cNvSpPr txBox="1"/>
          <p:nvPr/>
        </p:nvSpPr>
        <p:spPr>
          <a:xfrm>
            <a:off x="4450080" y="4105751"/>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Reviewer decision</a:t>
            </a:r>
            <a:endParaRPr lang="en-US" sz="1200" dirty="0" err="1">
              <a:solidFill>
                <a:srgbClr val="343B48"/>
              </a:solidFill>
              <a:latin typeface="Segoe UI" panose="020B0502040204020203" pitchFamily="34" charset="0"/>
            </a:endParaRPr>
          </a:p>
        </p:txBody>
      </p:sp>
      <p:sp>
        <p:nvSpPr>
          <p:cNvPr id="40" name="Text 023 LI">
            <a:extLst>
              <a:ext uri="{FF2B5EF4-FFF2-40B4-BE49-F238E27FC236}">
                <a16:creationId xmlns:a16="http://schemas.microsoft.com/office/drawing/2014/main" id="{4C3A5422-F779-2B55-E619-762FA23FA6C6}"/>
              </a:ext>
            </a:extLst>
          </p:cNvPr>
          <p:cNvSpPr txBox="1"/>
          <p:nvPr/>
        </p:nvSpPr>
        <p:spPr>
          <a:xfrm>
            <a:off x="6316980" y="2087880"/>
            <a:ext cx="65" cy="307777"/>
          </a:xfrm>
          <a:prstGeom prst="rect">
            <a:avLst/>
          </a:prstGeom>
          <a:noFill/>
        </p:spPr>
        <p:txBody>
          <a:bodyPr vert="horz" wrap="none" lIns="0" tIns="0" rIns="0" bIns="0" rtlCol="0" anchor="t">
            <a:noAutofit/>
          </a:bodyPr>
          <a:lstStyle/>
          <a:p>
            <a:r>
              <a:rPr lang="en-US" sz="840" spc="48">
                <a:solidFill>
                  <a:srgbClr val="00599F"/>
                </a:solidFill>
                <a:latin typeface="Segoe UI Semibold" panose="020B0702040204020203" pitchFamily="34" charset="0"/>
              </a:rPr>
              <a:t>WORKFLOW 3</a:t>
            </a:r>
            <a:endParaRPr lang="en-US" sz="840" spc="48" dirty="0" err="1">
              <a:solidFill>
                <a:srgbClr val="00599F"/>
              </a:solidFill>
              <a:latin typeface="Segoe UI Semibold" panose="020B0702040204020203" pitchFamily="34" charset="0"/>
            </a:endParaRPr>
          </a:p>
        </p:txBody>
      </p:sp>
      <p:sp>
        <p:nvSpPr>
          <p:cNvPr id="47" name="Text 024 H2">
            <a:extLst>
              <a:ext uri="{FF2B5EF4-FFF2-40B4-BE49-F238E27FC236}">
                <a16:creationId xmlns:a16="http://schemas.microsoft.com/office/drawing/2014/main" id="{D17E0225-EF0C-52CB-1FEA-7CFB1E6A0AE0}"/>
              </a:ext>
            </a:extLst>
          </p:cNvPr>
          <p:cNvSpPr txBox="1"/>
          <p:nvPr/>
        </p:nvSpPr>
        <p:spPr>
          <a:xfrm>
            <a:off x="6316980" y="2392918"/>
            <a:ext cx="65" cy="307777"/>
          </a:xfrm>
          <a:prstGeom prst="rect">
            <a:avLst/>
          </a:prstGeom>
          <a:noFill/>
        </p:spPr>
        <p:txBody>
          <a:bodyPr vert="horz" wrap="none" lIns="0" tIns="0" rIns="0" bIns="0" rtlCol="0" anchor="t">
            <a:noAutofit/>
          </a:bodyPr>
          <a:lstStyle/>
          <a:p>
            <a:r>
              <a:rPr lang="en-US" sz="1860" spc="-30">
                <a:solidFill>
                  <a:srgbClr val="00599F"/>
                </a:solidFill>
                <a:latin typeface="Segoe UI Semibold" panose="020B0702040204020203" pitchFamily="34" charset="0"/>
              </a:rPr>
              <a:t>Validate</a:t>
            </a:r>
            <a:endParaRPr lang="en-US" sz="1860" spc="-30" dirty="0" err="1">
              <a:solidFill>
                <a:srgbClr val="00599F"/>
              </a:solidFill>
              <a:latin typeface="Segoe UI Semibold" panose="020B0702040204020203" pitchFamily="34" charset="0"/>
            </a:endParaRPr>
          </a:p>
        </p:txBody>
      </p:sp>
      <p:sp>
        <p:nvSpPr>
          <p:cNvPr id="48" name="Text 025 P">
            <a:extLst>
              <a:ext uri="{FF2B5EF4-FFF2-40B4-BE49-F238E27FC236}">
                <a16:creationId xmlns:a16="http://schemas.microsoft.com/office/drawing/2014/main" id="{847EA764-C625-0F8D-D985-B08D761341E0}"/>
              </a:ext>
            </a:extLst>
          </p:cNvPr>
          <p:cNvSpPr txBox="1"/>
          <p:nvPr/>
        </p:nvSpPr>
        <p:spPr>
          <a:xfrm>
            <a:off x="6316980" y="2824758"/>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Check products,</a:t>
            </a:r>
            <a:endParaRPr lang="en-US" sz="1380" dirty="0" err="1">
              <a:solidFill>
                <a:srgbClr val="1A1A1A"/>
              </a:solidFill>
              <a:latin typeface="Segoe UI" panose="020B0502040204020203" pitchFamily="34" charset="0"/>
            </a:endParaRPr>
          </a:p>
        </p:txBody>
      </p:sp>
      <p:sp>
        <p:nvSpPr>
          <p:cNvPr id="49" name="Text 026 P">
            <a:extLst>
              <a:ext uri="{FF2B5EF4-FFF2-40B4-BE49-F238E27FC236}">
                <a16:creationId xmlns:a16="http://schemas.microsoft.com/office/drawing/2014/main" id="{177DE5F9-80AD-60AC-384A-CE1F735C8EC7}"/>
              </a:ext>
            </a:extLst>
          </p:cNvPr>
          <p:cNvSpPr txBox="1"/>
          <p:nvPr/>
        </p:nvSpPr>
        <p:spPr>
          <a:xfrm>
            <a:off x="6316980" y="3063002"/>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inventory and</a:t>
            </a:r>
            <a:endParaRPr lang="en-US" sz="1380" dirty="0" err="1">
              <a:solidFill>
                <a:srgbClr val="1A1A1A"/>
              </a:solidFill>
              <a:latin typeface="Segoe UI" panose="020B0502040204020203" pitchFamily="34" charset="0"/>
            </a:endParaRPr>
          </a:p>
        </p:txBody>
      </p:sp>
      <p:sp>
        <p:nvSpPr>
          <p:cNvPr id="50" name="Text 027 P">
            <a:extLst>
              <a:ext uri="{FF2B5EF4-FFF2-40B4-BE49-F238E27FC236}">
                <a16:creationId xmlns:a16="http://schemas.microsoft.com/office/drawing/2014/main" id="{3DAFDD03-77EF-742C-1E92-11AA83B8C34C}"/>
              </a:ext>
            </a:extLst>
          </p:cNvPr>
          <p:cNvSpPr txBox="1"/>
          <p:nvPr/>
        </p:nvSpPr>
        <p:spPr>
          <a:xfrm>
            <a:off x="6316980" y="3301246"/>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promotions.</a:t>
            </a:r>
            <a:endParaRPr lang="en-US" sz="1380" dirty="0" err="1">
              <a:solidFill>
                <a:srgbClr val="1A1A1A"/>
              </a:solidFill>
              <a:latin typeface="Segoe UI" panose="020B0502040204020203" pitchFamily="34" charset="0"/>
            </a:endParaRPr>
          </a:p>
        </p:txBody>
      </p:sp>
      <p:sp>
        <p:nvSpPr>
          <p:cNvPr id="51" name="Text 028 LI">
            <a:extLst>
              <a:ext uri="{FF2B5EF4-FFF2-40B4-BE49-F238E27FC236}">
                <a16:creationId xmlns:a16="http://schemas.microsoft.com/office/drawing/2014/main" id="{E77F7C17-EB98-F293-FBC6-17343560AF9B}"/>
              </a:ext>
            </a:extLst>
          </p:cNvPr>
          <p:cNvSpPr txBox="1"/>
          <p:nvPr/>
        </p:nvSpPr>
        <p:spPr>
          <a:xfrm>
            <a:off x="6316980" y="4105751"/>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Explained findings</a:t>
            </a:r>
            <a:endParaRPr lang="en-US" sz="1200" dirty="0" err="1">
              <a:solidFill>
                <a:srgbClr val="343B48"/>
              </a:solidFill>
              <a:latin typeface="Segoe UI" panose="020B0502040204020203" pitchFamily="34" charset="0"/>
            </a:endParaRPr>
          </a:p>
        </p:txBody>
      </p:sp>
      <p:sp>
        <p:nvSpPr>
          <p:cNvPr id="52" name="Text 029 LI">
            <a:extLst>
              <a:ext uri="{FF2B5EF4-FFF2-40B4-BE49-F238E27FC236}">
                <a16:creationId xmlns:a16="http://schemas.microsoft.com/office/drawing/2014/main" id="{B1390068-85D6-9312-49D5-1AB90C15D4F2}"/>
              </a:ext>
            </a:extLst>
          </p:cNvPr>
          <p:cNvSpPr txBox="1"/>
          <p:nvPr/>
        </p:nvSpPr>
        <p:spPr>
          <a:xfrm>
            <a:off x="8183880" y="2087880"/>
            <a:ext cx="65" cy="307777"/>
          </a:xfrm>
          <a:prstGeom prst="rect">
            <a:avLst/>
          </a:prstGeom>
          <a:noFill/>
        </p:spPr>
        <p:txBody>
          <a:bodyPr vert="horz" wrap="none" lIns="0" tIns="0" rIns="0" bIns="0" rtlCol="0" anchor="t">
            <a:noAutofit/>
          </a:bodyPr>
          <a:lstStyle/>
          <a:p>
            <a:r>
              <a:rPr lang="en-US" sz="840" spc="48">
                <a:solidFill>
                  <a:srgbClr val="453793"/>
                </a:solidFill>
                <a:latin typeface="Segoe UI Semibold" panose="020B0702040204020203" pitchFamily="34" charset="0"/>
              </a:rPr>
              <a:t>HUMAN GATE 2</a:t>
            </a:r>
            <a:endParaRPr lang="en-US" sz="840" spc="48" dirty="0" err="1">
              <a:solidFill>
                <a:srgbClr val="453793"/>
              </a:solidFill>
              <a:latin typeface="Segoe UI Semibold" panose="020B0702040204020203" pitchFamily="34" charset="0"/>
            </a:endParaRPr>
          </a:p>
        </p:txBody>
      </p:sp>
      <p:sp>
        <p:nvSpPr>
          <p:cNvPr id="53" name="Text 030 H2">
            <a:extLst>
              <a:ext uri="{FF2B5EF4-FFF2-40B4-BE49-F238E27FC236}">
                <a16:creationId xmlns:a16="http://schemas.microsoft.com/office/drawing/2014/main" id="{CD0246C5-FC1A-FB5D-500F-12AF5DA35A89}"/>
              </a:ext>
            </a:extLst>
          </p:cNvPr>
          <p:cNvSpPr txBox="1"/>
          <p:nvPr/>
        </p:nvSpPr>
        <p:spPr>
          <a:xfrm>
            <a:off x="8183880" y="2392918"/>
            <a:ext cx="65" cy="307777"/>
          </a:xfrm>
          <a:prstGeom prst="rect">
            <a:avLst/>
          </a:prstGeom>
          <a:noFill/>
        </p:spPr>
        <p:txBody>
          <a:bodyPr vert="horz" wrap="none" lIns="0" tIns="0" rIns="0" bIns="0" rtlCol="0" anchor="t">
            <a:noAutofit/>
          </a:bodyPr>
          <a:lstStyle/>
          <a:p>
            <a:r>
              <a:rPr lang="en-US" sz="1860" spc="-30">
                <a:solidFill>
                  <a:srgbClr val="00599F"/>
                </a:solidFill>
                <a:latin typeface="Segoe UI Semibold" panose="020B0702040204020203" pitchFamily="34" charset="0"/>
              </a:rPr>
              <a:t>Approve</a:t>
            </a:r>
            <a:endParaRPr lang="en-US" sz="1860" spc="-30" dirty="0" err="1">
              <a:solidFill>
                <a:srgbClr val="00599F"/>
              </a:solidFill>
              <a:latin typeface="Segoe UI Semibold" panose="020B0702040204020203" pitchFamily="34" charset="0"/>
            </a:endParaRPr>
          </a:p>
        </p:txBody>
      </p:sp>
      <p:sp>
        <p:nvSpPr>
          <p:cNvPr id="54" name="Text 031 P">
            <a:extLst>
              <a:ext uri="{FF2B5EF4-FFF2-40B4-BE49-F238E27FC236}">
                <a16:creationId xmlns:a16="http://schemas.microsoft.com/office/drawing/2014/main" id="{11DE6149-E521-D8C1-FB10-3B66BAE84D0B}"/>
              </a:ext>
            </a:extLst>
          </p:cNvPr>
          <p:cNvSpPr txBox="1"/>
          <p:nvPr/>
        </p:nvSpPr>
        <p:spPr>
          <a:xfrm>
            <a:off x="8183880" y="2824758"/>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Accept or reject</a:t>
            </a:r>
            <a:endParaRPr lang="en-US" sz="1380" dirty="0" err="1">
              <a:solidFill>
                <a:srgbClr val="1A1A1A"/>
              </a:solidFill>
              <a:latin typeface="Segoe UI" panose="020B0502040204020203" pitchFamily="34" charset="0"/>
            </a:endParaRPr>
          </a:p>
        </p:txBody>
      </p:sp>
      <p:sp>
        <p:nvSpPr>
          <p:cNvPr id="55" name="Text 032 P">
            <a:extLst>
              <a:ext uri="{FF2B5EF4-FFF2-40B4-BE49-F238E27FC236}">
                <a16:creationId xmlns:a16="http://schemas.microsoft.com/office/drawing/2014/main" id="{363F1664-6231-1938-DEE5-62D2E074EBC0}"/>
              </a:ext>
            </a:extLst>
          </p:cNvPr>
          <p:cNvSpPr txBox="1"/>
          <p:nvPr/>
        </p:nvSpPr>
        <p:spPr>
          <a:xfrm>
            <a:off x="8183880" y="3063002"/>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the agent's</a:t>
            </a:r>
            <a:endParaRPr lang="en-US" sz="1380" dirty="0" err="1">
              <a:solidFill>
                <a:srgbClr val="1A1A1A"/>
              </a:solidFill>
              <a:latin typeface="Segoe UI" panose="020B0502040204020203" pitchFamily="34" charset="0"/>
            </a:endParaRPr>
          </a:p>
        </p:txBody>
      </p:sp>
      <p:sp>
        <p:nvSpPr>
          <p:cNvPr id="56" name="Text 033 P">
            <a:extLst>
              <a:ext uri="{FF2B5EF4-FFF2-40B4-BE49-F238E27FC236}">
                <a16:creationId xmlns:a16="http://schemas.microsoft.com/office/drawing/2014/main" id="{01B8F083-9F0E-E828-2628-E207D89BD392}"/>
              </a:ext>
            </a:extLst>
          </p:cNvPr>
          <p:cNvSpPr txBox="1"/>
          <p:nvPr/>
        </p:nvSpPr>
        <p:spPr>
          <a:xfrm>
            <a:off x="8183880" y="3301246"/>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evaluation.</a:t>
            </a:r>
            <a:endParaRPr lang="en-US" sz="1380" dirty="0" err="1">
              <a:solidFill>
                <a:srgbClr val="1A1A1A"/>
              </a:solidFill>
              <a:latin typeface="Segoe UI" panose="020B0502040204020203" pitchFamily="34" charset="0"/>
            </a:endParaRPr>
          </a:p>
        </p:txBody>
      </p:sp>
      <p:sp>
        <p:nvSpPr>
          <p:cNvPr id="57" name="Text 034 LI">
            <a:extLst>
              <a:ext uri="{FF2B5EF4-FFF2-40B4-BE49-F238E27FC236}">
                <a16:creationId xmlns:a16="http://schemas.microsoft.com/office/drawing/2014/main" id="{4C4A92F1-C04D-CEFD-4B87-54683AB02953}"/>
              </a:ext>
            </a:extLst>
          </p:cNvPr>
          <p:cNvSpPr txBox="1"/>
          <p:nvPr/>
        </p:nvSpPr>
        <p:spPr>
          <a:xfrm>
            <a:off x="8183880" y="4105751"/>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Approver decision</a:t>
            </a:r>
            <a:endParaRPr lang="en-US" sz="1200" dirty="0" err="1">
              <a:solidFill>
                <a:srgbClr val="343B48"/>
              </a:solidFill>
              <a:latin typeface="Segoe UI" panose="020B0502040204020203" pitchFamily="34" charset="0"/>
            </a:endParaRPr>
          </a:p>
        </p:txBody>
      </p:sp>
      <p:sp>
        <p:nvSpPr>
          <p:cNvPr id="58" name="Text 035 LI">
            <a:extLst>
              <a:ext uri="{FF2B5EF4-FFF2-40B4-BE49-F238E27FC236}">
                <a16:creationId xmlns:a16="http://schemas.microsoft.com/office/drawing/2014/main" id="{4FA9ACDB-BAD0-55B4-7ADF-A8CF36A06DA9}"/>
              </a:ext>
            </a:extLst>
          </p:cNvPr>
          <p:cNvSpPr txBox="1"/>
          <p:nvPr/>
        </p:nvSpPr>
        <p:spPr>
          <a:xfrm>
            <a:off x="10050780" y="2087880"/>
            <a:ext cx="65" cy="307777"/>
          </a:xfrm>
          <a:prstGeom prst="rect">
            <a:avLst/>
          </a:prstGeom>
          <a:noFill/>
        </p:spPr>
        <p:txBody>
          <a:bodyPr vert="horz" wrap="none" lIns="0" tIns="0" rIns="0" bIns="0" rtlCol="0" anchor="t">
            <a:noAutofit/>
          </a:bodyPr>
          <a:lstStyle/>
          <a:p>
            <a:r>
              <a:rPr lang="en-US" sz="840" spc="48">
                <a:solidFill>
                  <a:srgbClr val="00599F"/>
                </a:solidFill>
                <a:latin typeface="Segoe UI Semibold" panose="020B0702040204020203" pitchFamily="34" charset="0"/>
              </a:rPr>
              <a:t>WORKFLOW 4</a:t>
            </a:r>
            <a:endParaRPr lang="en-US" sz="840" spc="48" dirty="0" err="1">
              <a:solidFill>
                <a:srgbClr val="00599F"/>
              </a:solidFill>
              <a:latin typeface="Segoe UI Semibold" panose="020B0702040204020203" pitchFamily="34" charset="0"/>
            </a:endParaRPr>
          </a:p>
        </p:txBody>
      </p:sp>
      <p:sp>
        <p:nvSpPr>
          <p:cNvPr id="59" name="Text 036 H2">
            <a:extLst>
              <a:ext uri="{FF2B5EF4-FFF2-40B4-BE49-F238E27FC236}">
                <a16:creationId xmlns:a16="http://schemas.microsoft.com/office/drawing/2014/main" id="{CFFF84E5-631B-14B6-C202-C4499AEA152A}"/>
              </a:ext>
            </a:extLst>
          </p:cNvPr>
          <p:cNvSpPr txBox="1"/>
          <p:nvPr/>
        </p:nvSpPr>
        <p:spPr>
          <a:xfrm>
            <a:off x="10050780" y="2392918"/>
            <a:ext cx="65" cy="307777"/>
          </a:xfrm>
          <a:prstGeom prst="rect">
            <a:avLst/>
          </a:prstGeom>
          <a:noFill/>
        </p:spPr>
        <p:txBody>
          <a:bodyPr vert="horz" wrap="none" lIns="0" tIns="0" rIns="0" bIns="0" rtlCol="0" anchor="t">
            <a:noAutofit/>
          </a:bodyPr>
          <a:lstStyle/>
          <a:p>
            <a:r>
              <a:rPr lang="en-US" sz="1860" spc="-30">
                <a:solidFill>
                  <a:srgbClr val="00599F"/>
                </a:solidFill>
                <a:latin typeface="Segoe UI Semibold" panose="020B0702040204020203" pitchFamily="34" charset="0"/>
              </a:rPr>
              <a:t>Finalize</a:t>
            </a:r>
            <a:endParaRPr lang="en-US" sz="1860" spc="-30" dirty="0" err="1">
              <a:solidFill>
                <a:srgbClr val="00599F"/>
              </a:solidFill>
              <a:latin typeface="Segoe UI Semibold" panose="020B0702040204020203" pitchFamily="34" charset="0"/>
            </a:endParaRPr>
          </a:p>
        </p:txBody>
      </p:sp>
      <p:sp>
        <p:nvSpPr>
          <p:cNvPr id="60" name="Text 037 P">
            <a:extLst>
              <a:ext uri="{FF2B5EF4-FFF2-40B4-BE49-F238E27FC236}">
                <a16:creationId xmlns:a16="http://schemas.microsoft.com/office/drawing/2014/main" id="{C1D2946A-21A6-2D00-40B5-C9FABC6F2926}"/>
              </a:ext>
            </a:extLst>
          </p:cNvPr>
          <p:cNvSpPr txBox="1"/>
          <p:nvPr/>
        </p:nvSpPr>
        <p:spPr>
          <a:xfrm>
            <a:off x="10050780" y="2824758"/>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Generate and</a:t>
            </a:r>
            <a:endParaRPr lang="en-US" sz="1380" dirty="0" err="1">
              <a:solidFill>
                <a:srgbClr val="1A1A1A"/>
              </a:solidFill>
              <a:latin typeface="Segoe UI" panose="020B0502040204020203" pitchFamily="34" charset="0"/>
            </a:endParaRPr>
          </a:p>
        </p:txBody>
      </p:sp>
      <p:sp>
        <p:nvSpPr>
          <p:cNvPr id="61" name="Text 038 P">
            <a:extLst>
              <a:ext uri="{FF2B5EF4-FFF2-40B4-BE49-F238E27FC236}">
                <a16:creationId xmlns:a16="http://schemas.microsoft.com/office/drawing/2014/main" id="{E7093440-95B3-08B1-43EF-E0134B2D71AB}"/>
              </a:ext>
            </a:extLst>
          </p:cNvPr>
          <p:cNvSpPr txBox="1"/>
          <p:nvPr/>
        </p:nvSpPr>
        <p:spPr>
          <a:xfrm>
            <a:off x="10050780" y="3063002"/>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store a schema-</a:t>
            </a:r>
            <a:endParaRPr lang="en-US" sz="1380" dirty="0" err="1">
              <a:solidFill>
                <a:srgbClr val="1A1A1A"/>
              </a:solidFill>
              <a:latin typeface="Segoe UI" panose="020B0502040204020203" pitchFamily="34" charset="0"/>
            </a:endParaRPr>
          </a:p>
        </p:txBody>
      </p:sp>
      <p:sp>
        <p:nvSpPr>
          <p:cNvPr id="62" name="Text 039 P">
            <a:extLst>
              <a:ext uri="{FF2B5EF4-FFF2-40B4-BE49-F238E27FC236}">
                <a16:creationId xmlns:a16="http://schemas.microsoft.com/office/drawing/2014/main" id="{0B0AEBE4-2BD6-69AE-94BD-517438F74FAA}"/>
              </a:ext>
            </a:extLst>
          </p:cNvPr>
          <p:cNvSpPr txBox="1"/>
          <p:nvPr/>
        </p:nvSpPr>
        <p:spPr>
          <a:xfrm>
            <a:off x="10050780" y="3301246"/>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bound SAP</a:t>
            </a:r>
            <a:endParaRPr lang="en-US" sz="1380" dirty="0" err="1">
              <a:solidFill>
                <a:srgbClr val="1A1A1A"/>
              </a:solidFill>
              <a:latin typeface="Segoe UI" panose="020B0502040204020203" pitchFamily="34" charset="0"/>
            </a:endParaRPr>
          </a:p>
        </p:txBody>
      </p:sp>
      <p:sp>
        <p:nvSpPr>
          <p:cNvPr id="63" name="Text 040 P">
            <a:extLst>
              <a:ext uri="{FF2B5EF4-FFF2-40B4-BE49-F238E27FC236}">
                <a16:creationId xmlns:a16="http://schemas.microsoft.com/office/drawing/2014/main" id="{337081CA-59F8-1109-44FD-DCF32FD0B7F4}"/>
              </a:ext>
            </a:extLst>
          </p:cNvPr>
          <p:cNvSpPr txBox="1"/>
          <p:nvPr/>
        </p:nvSpPr>
        <p:spPr>
          <a:xfrm>
            <a:off x="10050780" y="3539490"/>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payload.</a:t>
            </a:r>
            <a:endParaRPr lang="en-US" sz="1380" dirty="0" err="1">
              <a:solidFill>
                <a:srgbClr val="1A1A1A"/>
              </a:solidFill>
              <a:latin typeface="Segoe UI" panose="020B0502040204020203" pitchFamily="34" charset="0"/>
            </a:endParaRPr>
          </a:p>
        </p:txBody>
      </p:sp>
      <p:sp>
        <p:nvSpPr>
          <p:cNvPr id="64" name="Text 041 LI">
            <a:extLst>
              <a:ext uri="{FF2B5EF4-FFF2-40B4-BE49-F238E27FC236}">
                <a16:creationId xmlns:a16="http://schemas.microsoft.com/office/drawing/2014/main" id="{67478966-8060-6CAF-5319-820A1B0D6284}"/>
              </a:ext>
            </a:extLst>
          </p:cNvPr>
          <p:cNvSpPr txBox="1"/>
          <p:nvPr/>
        </p:nvSpPr>
        <p:spPr>
          <a:xfrm>
            <a:off x="10050780" y="4105751"/>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Downloadable JSON</a:t>
            </a:r>
            <a:endParaRPr lang="en-US" sz="1200" dirty="0" err="1">
              <a:solidFill>
                <a:srgbClr val="343B48"/>
              </a:solidFill>
              <a:latin typeface="Segoe UI" panose="020B0502040204020203" pitchFamily="34" charset="0"/>
            </a:endParaRPr>
          </a:p>
        </p:txBody>
      </p:sp>
      <p:sp>
        <p:nvSpPr>
          <p:cNvPr id="65" name="Text 042 DIV">
            <a:extLst>
              <a:ext uri="{FF2B5EF4-FFF2-40B4-BE49-F238E27FC236}">
                <a16:creationId xmlns:a16="http://schemas.microsoft.com/office/drawing/2014/main" id="{6C04AE4D-FDF4-1FCA-9A18-FEC4331ACA61}"/>
              </a:ext>
            </a:extLst>
          </p:cNvPr>
          <p:cNvSpPr txBox="1"/>
          <p:nvPr/>
        </p:nvSpPr>
        <p:spPr>
          <a:xfrm>
            <a:off x="792480" y="4678680"/>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Agent / workflow execution</a:t>
            </a:r>
            <a:endParaRPr lang="en-US" sz="1200" dirty="0" err="1">
              <a:solidFill>
                <a:srgbClr val="343B48"/>
              </a:solidFill>
              <a:latin typeface="Segoe UI" panose="020B0502040204020203" pitchFamily="34" charset="0"/>
            </a:endParaRPr>
          </a:p>
        </p:txBody>
      </p:sp>
      <p:sp>
        <p:nvSpPr>
          <p:cNvPr id="66" name="Text 043 DIV">
            <a:extLst>
              <a:ext uri="{FF2B5EF4-FFF2-40B4-BE49-F238E27FC236}">
                <a16:creationId xmlns:a16="http://schemas.microsoft.com/office/drawing/2014/main" id="{7726083A-BEB9-BDF4-AB94-A40AF75BCE4D}"/>
              </a:ext>
            </a:extLst>
          </p:cNvPr>
          <p:cNvSpPr txBox="1"/>
          <p:nvPr/>
        </p:nvSpPr>
        <p:spPr>
          <a:xfrm>
            <a:off x="3087052" y="4678680"/>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Human control</a:t>
            </a:r>
            <a:endParaRPr lang="en-US" sz="1200" dirty="0" err="1">
              <a:solidFill>
                <a:srgbClr val="343B48"/>
              </a:solidFill>
              <a:latin typeface="Segoe UI" panose="020B0502040204020203" pitchFamily="34" charset="0"/>
            </a:endParaRPr>
          </a:p>
        </p:txBody>
      </p:sp>
      <p:sp>
        <p:nvSpPr>
          <p:cNvPr id="67" name="Text 044 SPAN">
            <a:extLst>
              <a:ext uri="{FF2B5EF4-FFF2-40B4-BE49-F238E27FC236}">
                <a16:creationId xmlns:a16="http://schemas.microsoft.com/office/drawing/2014/main" id="{C7A58724-E2BB-3974-4A85-C4169B9E768F}"/>
              </a:ext>
            </a:extLst>
          </p:cNvPr>
          <p:cNvSpPr txBox="1"/>
          <p:nvPr/>
        </p:nvSpPr>
        <p:spPr>
          <a:xfrm>
            <a:off x="8905160" y="4678680"/>
            <a:ext cx="65" cy="307777"/>
          </a:xfrm>
          <a:prstGeom prst="rect">
            <a:avLst/>
          </a:prstGeom>
          <a:noFill/>
        </p:spPr>
        <p:txBody>
          <a:bodyPr vert="horz" wrap="none" lIns="0" tIns="0" rIns="0" bIns="0" rtlCol="0" anchor="t">
            <a:noAutofit/>
          </a:bodyPr>
          <a:lstStyle/>
          <a:p>
            <a:r>
              <a:rPr lang="en-US" sz="1200" spc="4">
                <a:solidFill>
                  <a:srgbClr val="343B48"/>
                </a:solidFill>
                <a:latin typeface="Segoe UI" panose="020B0502040204020203" pitchFamily="34" charset="0"/>
              </a:rPr>
              <a:t>Rejection at either gate stops that order.</a:t>
            </a:r>
            <a:endParaRPr lang="en-US" sz="1200" spc="4" dirty="0" err="1">
              <a:solidFill>
                <a:srgbClr val="343B48"/>
              </a:solidFill>
              <a:latin typeface="Segoe UI" panose="020B0502040204020203" pitchFamily="34" charset="0"/>
            </a:endParaRPr>
          </a:p>
        </p:txBody>
      </p:sp>
      <p:sp>
        <p:nvSpPr>
          <p:cNvPr id="68" name="Text 045 DIV">
            <a:extLst>
              <a:ext uri="{FF2B5EF4-FFF2-40B4-BE49-F238E27FC236}">
                <a16:creationId xmlns:a16="http://schemas.microsoft.com/office/drawing/2014/main" id="{C355D61D-A61F-6AAD-5539-03DB2D8CD1F6}"/>
              </a:ext>
            </a:extLst>
          </p:cNvPr>
          <p:cNvSpPr txBox="1"/>
          <p:nvPr/>
        </p:nvSpPr>
        <p:spPr>
          <a:xfrm>
            <a:off x="2889528" y="584073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The sample </a:t>
            </a:r>
            <a:endParaRPr lang="en-US" sz="1560" dirty="0" err="1">
              <a:solidFill>
                <a:srgbClr val="1A1A1A"/>
              </a:solidFill>
              <a:latin typeface="Segoe UI" panose="020B0502040204020203" pitchFamily="34" charset="0"/>
            </a:endParaRPr>
          </a:p>
        </p:txBody>
      </p:sp>
      <p:sp>
        <p:nvSpPr>
          <p:cNvPr id="69" name="Text 046 STRONG">
            <a:extLst>
              <a:ext uri="{FF2B5EF4-FFF2-40B4-BE49-F238E27FC236}">
                <a16:creationId xmlns:a16="http://schemas.microsoft.com/office/drawing/2014/main" id="{E5001EF1-CE0E-5381-51E8-738529765715}"/>
              </a:ext>
            </a:extLst>
          </p:cNvPr>
          <p:cNvSpPr txBox="1"/>
          <p:nvPr/>
        </p:nvSpPr>
        <p:spPr>
          <a:xfrm>
            <a:off x="3941207" y="5840730"/>
            <a:ext cx="65" cy="307777"/>
          </a:xfrm>
          <a:prstGeom prst="rect">
            <a:avLst/>
          </a:prstGeom>
          <a:noFill/>
        </p:spPr>
        <p:txBody>
          <a:bodyPr vert="horz" wrap="none" lIns="0" tIns="0" rIns="0" bIns="0" rtlCol="0" anchor="t">
            <a:noAutofit/>
          </a:bodyPr>
          <a:lstStyle/>
          <a:p>
            <a:r>
              <a:rPr lang="en-US" sz="1560">
                <a:solidFill>
                  <a:srgbClr val="00599F"/>
                </a:solidFill>
                <a:latin typeface="Segoe UI Semibold" panose="020B0702040204020203" pitchFamily="34" charset="0"/>
              </a:rPr>
              <a:t>generates the SAP payload</a:t>
            </a:r>
            <a:endParaRPr lang="en-US" sz="1560" dirty="0" err="1">
              <a:solidFill>
                <a:srgbClr val="00599F"/>
              </a:solidFill>
              <a:latin typeface="Segoe UI Semibold" panose="020B0702040204020203" pitchFamily="34" charset="0"/>
            </a:endParaRPr>
          </a:p>
        </p:txBody>
      </p:sp>
      <p:sp>
        <p:nvSpPr>
          <p:cNvPr id="70" name="Text 047 DIV">
            <a:extLst>
              <a:ext uri="{FF2B5EF4-FFF2-40B4-BE49-F238E27FC236}">
                <a16:creationId xmlns:a16="http://schemas.microsoft.com/office/drawing/2014/main" id="{DECACA03-ACD4-4865-87F6-1B038FBD5C0E}"/>
              </a:ext>
            </a:extLst>
          </p:cNvPr>
          <p:cNvSpPr txBox="1"/>
          <p:nvPr/>
        </p:nvSpPr>
        <p:spPr>
          <a:xfrm>
            <a:off x="6348531" y="5840730"/>
            <a:ext cx="65" cy="307777"/>
          </a:xfrm>
          <a:prstGeom prst="rect">
            <a:avLst/>
          </a:prstGeom>
          <a:noFill/>
        </p:spPr>
        <p:txBody>
          <a:bodyPr vert="horz" wrap="none" lIns="0" tIns="0" rIns="0" bIns="0" rtlCol="0" anchor="t">
            <a:noAutofit/>
          </a:bodyPr>
          <a:lstStyle/>
          <a:p>
            <a:r>
              <a:rPr lang="en-US" sz="1560" spc="11">
                <a:solidFill>
                  <a:srgbClr val="1A1A1A"/>
                </a:solidFill>
                <a:latin typeface="Segoe UI" panose="020B0502040204020203" pitchFamily="34" charset="0"/>
              </a:rPr>
              <a:t>. It does not post an order to SAP.</a:t>
            </a:r>
            <a:endParaRPr lang="en-US" sz="1560" spc="11" dirty="0" err="1">
              <a:solidFill>
                <a:srgbClr val="1A1A1A"/>
              </a:solidFill>
              <a:latin typeface="Segoe UI" panose="020B0502040204020203" pitchFamily="34" charset="0"/>
            </a:endParaRPr>
          </a:p>
        </p:txBody>
      </p:sp>
      <p:sp>
        <p:nvSpPr>
          <p:cNvPr id="71" name="Text 048 FOOTER">
            <a:extLst>
              <a:ext uri="{FF2B5EF4-FFF2-40B4-BE49-F238E27FC236}">
                <a16:creationId xmlns:a16="http://schemas.microsoft.com/office/drawing/2014/main" id="{237693C0-A810-4915-711F-F3ABE4E53E5E}"/>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Agentic Business Process Automation on Copilot Studio</a:t>
            </a:r>
            <a:endParaRPr lang="en-US" sz="840" dirty="0" err="1">
              <a:solidFill>
                <a:srgbClr val="425466"/>
              </a:solidFill>
              <a:latin typeface="Segoe UI" panose="020B0502040204020203" pitchFamily="34" charset="0"/>
            </a:endParaRPr>
          </a:p>
        </p:txBody>
      </p:sp>
      <p:sp>
        <p:nvSpPr>
          <p:cNvPr id="72" name="Text 049 FOOTER">
            <a:extLst>
              <a:ext uri="{FF2B5EF4-FFF2-40B4-BE49-F238E27FC236}">
                <a16:creationId xmlns:a16="http://schemas.microsoft.com/office/drawing/2014/main" id="{1DD829EF-5A7E-312B-F5C5-EBCFB453C52B}"/>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06 / 23</a:t>
            </a:r>
            <a:endParaRPr lang="en-US" sz="840" dirty="0" err="1">
              <a:solidFill>
                <a:srgbClr val="425466"/>
              </a:solidFill>
              <a:latin typeface="Segoe UI" panose="020B0502040204020203" pitchFamily="34" charset="0"/>
            </a:endParaRPr>
          </a:p>
        </p:txBody>
      </p:sp>
    </p:spTree>
    <p:extLst>
      <p:ext uri="{BB962C8B-B14F-4D97-AF65-F5344CB8AC3E}">
        <p14:creationId xmlns:p14="http://schemas.microsoft.com/office/powerpoint/2010/main" val="3449261514"/>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Process-07">
    <p:spTree>
      <p:nvGrpSpPr>
        <p:cNvPr id="1" name=""/>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55087AB1-BBBE-185A-21A1-BE26D9F908FB}"/>
              </a:ext>
            </a:extLst>
          </p:cNvPr>
          <p:cNvPicPr>
            <a:picLocks/>
          </p:cNvPicPr>
          <p:nvPr/>
        </p:nvPicPr>
        <p:blipFill>
          <a:blip r:embed="rId3"/>
          <a:stretch>
            <a:fillRect/>
          </a:stretch>
        </p:blipFill>
        <p:spPr>
          <a:xfrm>
            <a:off x="0" y="0"/>
            <a:ext cx="12192000" cy="6858000"/>
          </a:xfrm>
          <a:prstGeom prst="rect">
            <a:avLst/>
          </a:prstGeom>
        </p:spPr>
      </p:pic>
      <p:pic>
        <p:nvPicPr>
          <p:cNvPr id="10" name="Product image 3" descr="Workflow Console extracted order data review: source purchase order preview above editable order summary, supplier and buyer fields.">
            <a:extLst>
              <a:ext uri="{FF2B5EF4-FFF2-40B4-BE49-F238E27FC236}">
                <a16:creationId xmlns:a16="http://schemas.microsoft.com/office/drawing/2014/main" id="{A89CCC9A-FF68-CC8A-8EA3-21F35715C6D1}"/>
              </a:ext>
            </a:extLst>
          </p:cNvPr>
          <p:cNvPicPr>
            <a:picLocks/>
          </p:cNvPicPr>
          <p:nvPr/>
        </p:nvPicPr>
        <p:blipFill>
          <a:blip r:embed="rId4"/>
          <a:stretch>
            <a:fillRect/>
          </a:stretch>
        </p:blipFill>
        <p:spPr>
          <a:xfrm>
            <a:off x="4288052" y="335280"/>
            <a:ext cx="6877256" cy="6187440"/>
          </a:xfrm>
          <a:prstGeom prst="rect">
            <a:avLst/>
          </a:prstGeom>
        </p:spPr>
      </p:pic>
      <p:sp>
        <p:nvSpPr>
          <p:cNvPr id="12" name="Text 001 H1">
            <a:extLst>
              <a:ext uri="{FF2B5EF4-FFF2-40B4-BE49-F238E27FC236}">
                <a16:creationId xmlns:a16="http://schemas.microsoft.com/office/drawing/2014/main" id="{56BFB663-2451-502A-AD0E-AD7C342C8957}"/>
              </a:ext>
            </a:extLst>
          </p:cNvPr>
          <p:cNvSpPr txBox="1"/>
          <p:nvPr/>
        </p:nvSpPr>
        <p:spPr>
          <a:xfrm>
            <a:off x="480060" y="457200"/>
            <a:ext cx="65" cy="307777"/>
          </a:xfrm>
          <a:prstGeom prst="rect">
            <a:avLst/>
          </a:prstGeom>
          <a:noFill/>
        </p:spPr>
        <p:txBody>
          <a:bodyPr vert="horz" wrap="none" lIns="0" tIns="0" rIns="0" bIns="0" rtlCol="0" anchor="t">
            <a:noAutofit/>
          </a:bodyPr>
          <a:lstStyle/>
          <a:p>
            <a:r>
              <a:rPr lang="en-US" sz="2040" spc="-48">
                <a:solidFill>
                  <a:srgbClr val="1A1A1A"/>
                </a:solidFill>
                <a:latin typeface="Segoe UI Semibold" panose="020B0702040204020203" pitchFamily="34" charset="0"/>
              </a:rPr>
              <a:t>Review what the agent</a:t>
            </a:r>
            <a:endParaRPr lang="en-US" sz="2040" spc="-48" dirty="0" err="1">
              <a:solidFill>
                <a:srgbClr val="1A1A1A"/>
              </a:solidFill>
              <a:latin typeface="Segoe UI Semibold" panose="020B0702040204020203" pitchFamily="34" charset="0"/>
            </a:endParaRPr>
          </a:p>
        </p:txBody>
      </p:sp>
      <p:sp>
        <p:nvSpPr>
          <p:cNvPr id="16" name="Text 002 H1">
            <a:extLst>
              <a:ext uri="{FF2B5EF4-FFF2-40B4-BE49-F238E27FC236}">
                <a16:creationId xmlns:a16="http://schemas.microsoft.com/office/drawing/2014/main" id="{7F843BA9-AC63-9530-8890-143862C5D02E}"/>
              </a:ext>
            </a:extLst>
          </p:cNvPr>
          <p:cNvSpPr txBox="1"/>
          <p:nvPr/>
        </p:nvSpPr>
        <p:spPr>
          <a:xfrm>
            <a:off x="480060" y="762833"/>
            <a:ext cx="65" cy="307777"/>
          </a:xfrm>
          <a:prstGeom prst="rect">
            <a:avLst/>
          </a:prstGeom>
          <a:noFill/>
        </p:spPr>
        <p:txBody>
          <a:bodyPr vert="horz" wrap="none" lIns="0" tIns="0" rIns="0" bIns="0" rtlCol="0" anchor="t">
            <a:noAutofit/>
          </a:bodyPr>
          <a:lstStyle/>
          <a:p>
            <a:r>
              <a:rPr lang="en-US" sz="2040" spc="-48">
                <a:solidFill>
                  <a:srgbClr val="1A1A1A"/>
                </a:solidFill>
                <a:latin typeface="Segoe UI Semibold" panose="020B0702040204020203" pitchFamily="34" charset="0"/>
              </a:rPr>
              <a:t>actually read</a:t>
            </a:r>
            <a:endParaRPr lang="en-US" sz="2040" spc="-48" dirty="0" err="1">
              <a:solidFill>
                <a:srgbClr val="1A1A1A"/>
              </a:solidFill>
              <a:latin typeface="Segoe UI Semibold" panose="020B0702040204020203" pitchFamily="34" charset="0"/>
            </a:endParaRPr>
          </a:p>
        </p:txBody>
      </p:sp>
      <p:sp>
        <p:nvSpPr>
          <p:cNvPr id="17" name="Text 003 P">
            <a:extLst>
              <a:ext uri="{FF2B5EF4-FFF2-40B4-BE49-F238E27FC236}">
                <a16:creationId xmlns:a16="http://schemas.microsoft.com/office/drawing/2014/main" id="{AE706CBF-ABB5-0BDB-000C-2DE152CD9764}"/>
              </a:ext>
            </a:extLst>
          </p:cNvPr>
          <p:cNvSpPr txBox="1"/>
          <p:nvPr/>
        </p:nvSpPr>
        <p:spPr>
          <a:xfrm>
            <a:off x="480060" y="1205627"/>
            <a:ext cx="65" cy="307777"/>
          </a:xfrm>
          <a:prstGeom prst="rect">
            <a:avLst/>
          </a:prstGeom>
          <a:noFill/>
        </p:spPr>
        <p:txBody>
          <a:bodyPr vert="horz" wrap="none" lIns="0" tIns="0" rIns="0" bIns="0" rtlCol="0" anchor="t">
            <a:noAutofit/>
          </a:bodyPr>
          <a:lstStyle/>
          <a:p>
            <a:r>
              <a:rPr lang="en-US" sz="1140">
                <a:solidFill>
                  <a:srgbClr val="343B48"/>
                </a:solidFill>
                <a:latin typeface="Segoe UI" panose="020B0502040204020203" pitchFamily="34" charset="0"/>
              </a:rPr>
              <a:t>Human gate 1 / extracted order data</a:t>
            </a:r>
            <a:endParaRPr lang="en-US" sz="1140" dirty="0" err="1">
              <a:solidFill>
                <a:srgbClr val="343B48"/>
              </a:solidFill>
              <a:latin typeface="Segoe UI" panose="020B0502040204020203" pitchFamily="34" charset="0"/>
            </a:endParaRPr>
          </a:p>
        </p:txBody>
      </p:sp>
      <p:sp>
        <p:nvSpPr>
          <p:cNvPr id="18" name="Text 004 P">
            <a:extLst>
              <a:ext uri="{FF2B5EF4-FFF2-40B4-BE49-F238E27FC236}">
                <a16:creationId xmlns:a16="http://schemas.microsoft.com/office/drawing/2014/main" id="{1FD68B31-7974-F380-5156-B0A674BF221E}"/>
              </a:ext>
            </a:extLst>
          </p:cNvPr>
          <p:cNvSpPr txBox="1"/>
          <p:nvPr/>
        </p:nvSpPr>
        <p:spPr>
          <a:xfrm>
            <a:off x="480060" y="1401008"/>
            <a:ext cx="65" cy="307777"/>
          </a:xfrm>
          <a:prstGeom prst="rect">
            <a:avLst/>
          </a:prstGeom>
          <a:noFill/>
        </p:spPr>
        <p:txBody>
          <a:bodyPr vert="horz" wrap="none" lIns="0" tIns="0" rIns="0" bIns="0" rtlCol="0" anchor="t">
            <a:noAutofit/>
          </a:bodyPr>
          <a:lstStyle/>
          <a:p>
            <a:r>
              <a:rPr lang="en-US" sz="1140">
                <a:solidFill>
                  <a:srgbClr val="343B48"/>
                </a:solidFill>
                <a:latin typeface="Segoe UI" panose="020B0502040204020203" pitchFamily="34" charset="0"/>
              </a:rPr>
              <a:t>review</a:t>
            </a:r>
            <a:endParaRPr lang="en-US" sz="1140" dirty="0" err="1">
              <a:solidFill>
                <a:srgbClr val="343B48"/>
              </a:solidFill>
              <a:latin typeface="Segoe UI" panose="020B0502040204020203" pitchFamily="34" charset="0"/>
            </a:endParaRPr>
          </a:p>
        </p:txBody>
      </p:sp>
      <p:sp>
        <p:nvSpPr>
          <p:cNvPr id="19" name="Text 005 H2">
            <a:extLst>
              <a:ext uri="{FF2B5EF4-FFF2-40B4-BE49-F238E27FC236}">
                <a16:creationId xmlns:a16="http://schemas.microsoft.com/office/drawing/2014/main" id="{11ADDD83-730F-973D-CF3E-7E04594247CA}"/>
              </a:ext>
            </a:extLst>
          </p:cNvPr>
          <p:cNvSpPr txBox="1"/>
          <p:nvPr/>
        </p:nvSpPr>
        <p:spPr>
          <a:xfrm>
            <a:off x="480060" y="1771650"/>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Review source and extracted data</a:t>
            </a:r>
            <a:endParaRPr lang="en-US" sz="1320" spc="-30" dirty="0" err="1">
              <a:solidFill>
                <a:srgbClr val="00599F"/>
              </a:solidFill>
              <a:latin typeface="Segoe UI Semibold" panose="020B0702040204020203" pitchFamily="34" charset="0"/>
            </a:endParaRPr>
          </a:p>
        </p:txBody>
      </p:sp>
      <p:sp>
        <p:nvSpPr>
          <p:cNvPr id="20" name="Text 006 P">
            <a:extLst>
              <a:ext uri="{FF2B5EF4-FFF2-40B4-BE49-F238E27FC236}">
                <a16:creationId xmlns:a16="http://schemas.microsoft.com/office/drawing/2014/main" id="{A2907E18-ECB9-60E0-E770-EC0A86DD1B82}"/>
              </a:ext>
            </a:extLst>
          </p:cNvPr>
          <p:cNvSpPr txBox="1"/>
          <p:nvPr/>
        </p:nvSpPr>
        <p:spPr>
          <a:xfrm>
            <a:off x="480060" y="2049780"/>
            <a:ext cx="65" cy="307777"/>
          </a:xfrm>
          <a:prstGeom prst="rect">
            <a:avLst/>
          </a:prstGeom>
          <a:noFill/>
        </p:spPr>
        <p:txBody>
          <a:bodyPr vert="horz" wrap="none" lIns="0" tIns="0" rIns="0" bIns="0" rtlCol="0" anchor="t">
            <a:noAutofit/>
          </a:bodyPr>
          <a:lstStyle/>
          <a:p>
            <a:r>
              <a:rPr lang="en-US" sz="1200" spc="3">
                <a:solidFill>
                  <a:srgbClr val="1A1A1A"/>
                </a:solidFill>
                <a:latin typeface="Segoe UI" panose="020B0502040204020203" pitchFamily="34" charset="0"/>
              </a:rPr>
              <a:t>Compare the original document with</a:t>
            </a:r>
            <a:endParaRPr lang="en-US" sz="1200" spc="3" dirty="0" err="1">
              <a:solidFill>
                <a:srgbClr val="1A1A1A"/>
              </a:solidFill>
              <a:latin typeface="Segoe UI" panose="020B0502040204020203" pitchFamily="34" charset="0"/>
            </a:endParaRPr>
          </a:p>
        </p:txBody>
      </p:sp>
      <p:sp>
        <p:nvSpPr>
          <p:cNvPr id="21" name="Text 007 P">
            <a:extLst>
              <a:ext uri="{FF2B5EF4-FFF2-40B4-BE49-F238E27FC236}">
                <a16:creationId xmlns:a16="http://schemas.microsoft.com/office/drawing/2014/main" id="{40A9FC41-E60B-6207-261C-6FE4E3CB5A0B}"/>
              </a:ext>
            </a:extLst>
          </p:cNvPr>
          <p:cNvSpPr txBox="1"/>
          <p:nvPr/>
        </p:nvSpPr>
        <p:spPr>
          <a:xfrm>
            <a:off x="480060" y="225552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the agent's interpretation.</a:t>
            </a:r>
            <a:endParaRPr lang="en-US" sz="1200" dirty="0" err="1">
              <a:solidFill>
                <a:srgbClr val="1A1A1A"/>
              </a:solidFill>
              <a:latin typeface="Segoe UI" panose="020B0502040204020203" pitchFamily="34" charset="0"/>
            </a:endParaRPr>
          </a:p>
        </p:txBody>
      </p:sp>
      <p:sp>
        <p:nvSpPr>
          <p:cNvPr id="24" name="Text 008 H2">
            <a:extLst>
              <a:ext uri="{FF2B5EF4-FFF2-40B4-BE49-F238E27FC236}">
                <a16:creationId xmlns:a16="http://schemas.microsoft.com/office/drawing/2014/main" id="{024FC81D-832B-5593-ACF8-5B33B6744780}"/>
              </a:ext>
            </a:extLst>
          </p:cNvPr>
          <p:cNvSpPr txBox="1"/>
          <p:nvPr/>
        </p:nvSpPr>
        <p:spPr>
          <a:xfrm>
            <a:off x="480060" y="2613660"/>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Correct before proceeding</a:t>
            </a:r>
            <a:endParaRPr lang="en-US" sz="1320" spc="-30" dirty="0" err="1">
              <a:solidFill>
                <a:srgbClr val="00599F"/>
              </a:solidFill>
              <a:latin typeface="Segoe UI Semibold" panose="020B0702040204020203" pitchFamily="34" charset="0"/>
            </a:endParaRPr>
          </a:p>
        </p:txBody>
      </p:sp>
      <p:sp>
        <p:nvSpPr>
          <p:cNvPr id="25" name="Text 009 P">
            <a:extLst>
              <a:ext uri="{FF2B5EF4-FFF2-40B4-BE49-F238E27FC236}">
                <a16:creationId xmlns:a16="http://schemas.microsoft.com/office/drawing/2014/main" id="{7EB6AD7B-82D2-173E-253D-50CCF7FCF18F}"/>
              </a:ext>
            </a:extLst>
          </p:cNvPr>
          <p:cNvSpPr txBox="1"/>
          <p:nvPr/>
        </p:nvSpPr>
        <p:spPr>
          <a:xfrm>
            <a:off x="480060" y="289179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Fix identifiers, quantities and other</a:t>
            </a:r>
            <a:endParaRPr lang="en-US" sz="1200" dirty="0" err="1">
              <a:solidFill>
                <a:srgbClr val="1A1A1A"/>
              </a:solidFill>
              <a:latin typeface="Segoe UI" panose="020B0502040204020203" pitchFamily="34" charset="0"/>
            </a:endParaRPr>
          </a:p>
        </p:txBody>
      </p:sp>
      <p:sp>
        <p:nvSpPr>
          <p:cNvPr id="26" name="Text 010 P">
            <a:extLst>
              <a:ext uri="{FF2B5EF4-FFF2-40B4-BE49-F238E27FC236}">
                <a16:creationId xmlns:a16="http://schemas.microsoft.com/office/drawing/2014/main" id="{9B6CF1EA-31CD-4198-BE3C-D5669846BE61}"/>
              </a:ext>
            </a:extLst>
          </p:cNvPr>
          <p:cNvSpPr txBox="1"/>
          <p:nvPr/>
        </p:nvSpPr>
        <p:spPr>
          <a:xfrm>
            <a:off x="480060" y="309753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extracted values.</a:t>
            </a:r>
            <a:endParaRPr lang="en-US" sz="1200" dirty="0" err="1">
              <a:solidFill>
                <a:srgbClr val="1A1A1A"/>
              </a:solidFill>
              <a:latin typeface="Segoe UI" panose="020B0502040204020203" pitchFamily="34" charset="0"/>
            </a:endParaRPr>
          </a:p>
        </p:txBody>
      </p:sp>
      <p:sp>
        <p:nvSpPr>
          <p:cNvPr id="27" name="Text 011 H2">
            <a:extLst>
              <a:ext uri="{FF2B5EF4-FFF2-40B4-BE49-F238E27FC236}">
                <a16:creationId xmlns:a16="http://schemas.microsoft.com/office/drawing/2014/main" id="{CCF92869-3F77-8E96-E4D9-B449BC3DF293}"/>
              </a:ext>
            </a:extLst>
          </p:cNvPr>
          <p:cNvSpPr txBox="1"/>
          <p:nvPr/>
        </p:nvSpPr>
        <p:spPr>
          <a:xfrm>
            <a:off x="480060" y="3455670"/>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Keep the human decision</a:t>
            </a:r>
            <a:endParaRPr lang="en-US" sz="1320" spc="-30" dirty="0" err="1">
              <a:solidFill>
                <a:srgbClr val="00599F"/>
              </a:solidFill>
              <a:latin typeface="Segoe UI Semibold" panose="020B0702040204020203" pitchFamily="34" charset="0"/>
            </a:endParaRPr>
          </a:p>
        </p:txBody>
      </p:sp>
      <p:sp>
        <p:nvSpPr>
          <p:cNvPr id="28" name="Text 012 P">
            <a:extLst>
              <a:ext uri="{FF2B5EF4-FFF2-40B4-BE49-F238E27FC236}">
                <a16:creationId xmlns:a16="http://schemas.microsoft.com/office/drawing/2014/main" id="{B6371882-89A9-BE0E-CB31-E37C1D34F791}"/>
              </a:ext>
            </a:extLst>
          </p:cNvPr>
          <p:cNvSpPr txBox="1"/>
          <p:nvPr/>
        </p:nvSpPr>
        <p:spPr>
          <a:xfrm>
            <a:off x="480060" y="373380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Save the reviewed data and outcome</a:t>
            </a:r>
            <a:endParaRPr lang="en-US" sz="1200" dirty="0" err="1">
              <a:solidFill>
                <a:srgbClr val="1A1A1A"/>
              </a:solidFill>
              <a:latin typeface="Segoe UI" panose="020B0502040204020203" pitchFamily="34" charset="0"/>
            </a:endParaRPr>
          </a:p>
        </p:txBody>
      </p:sp>
      <p:sp>
        <p:nvSpPr>
          <p:cNvPr id="29" name="Text 013 P">
            <a:extLst>
              <a:ext uri="{FF2B5EF4-FFF2-40B4-BE49-F238E27FC236}">
                <a16:creationId xmlns:a16="http://schemas.microsoft.com/office/drawing/2014/main" id="{08F1C49B-0643-1DA7-0426-EA4316AF77C4}"/>
              </a:ext>
            </a:extLst>
          </p:cNvPr>
          <p:cNvSpPr txBox="1"/>
          <p:nvPr/>
        </p:nvSpPr>
        <p:spPr>
          <a:xfrm>
            <a:off x="480060" y="393954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with the process.</a:t>
            </a:r>
            <a:endParaRPr lang="en-US" sz="1200" dirty="0" err="1">
              <a:solidFill>
                <a:srgbClr val="1A1A1A"/>
              </a:solidFill>
              <a:latin typeface="Segoe UI" panose="020B0502040204020203" pitchFamily="34" charset="0"/>
            </a:endParaRPr>
          </a:p>
        </p:txBody>
      </p:sp>
      <p:sp>
        <p:nvSpPr>
          <p:cNvPr id="30" name="Text 014 DIV">
            <a:extLst>
              <a:ext uri="{FF2B5EF4-FFF2-40B4-BE49-F238E27FC236}">
                <a16:creationId xmlns:a16="http://schemas.microsoft.com/office/drawing/2014/main" id="{E016D415-1DE7-753B-B269-D1F27DF79CAC}"/>
              </a:ext>
            </a:extLst>
          </p:cNvPr>
          <p:cNvSpPr txBox="1"/>
          <p:nvPr/>
        </p:nvSpPr>
        <p:spPr>
          <a:xfrm>
            <a:off x="624840" y="561594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Customer value: </a:t>
            </a:r>
            <a:endParaRPr lang="en-US" sz="1200" dirty="0" err="1">
              <a:solidFill>
                <a:srgbClr val="1A1A1A"/>
              </a:solidFill>
              <a:latin typeface="Segoe UI" panose="020B0502040204020203" pitchFamily="34" charset="0"/>
            </a:endParaRPr>
          </a:p>
        </p:txBody>
      </p:sp>
      <p:sp>
        <p:nvSpPr>
          <p:cNvPr id="31" name="Text 015 STRONG">
            <a:extLst>
              <a:ext uri="{FF2B5EF4-FFF2-40B4-BE49-F238E27FC236}">
                <a16:creationId xmlns:a16="http://schemas.microsoft.com/office/drawing/2014/main" id="{6EF180AA-43EC-3B10-FC14-11CF12A85CFD}"/>
              </a:ext>
            </a:extLst>
          </p:cNvPr>
          <p:cNvSpPr txBox="1"/>
          <p:nvPr/>
        </p:nvSpPr>
        <p:spPr>
          <a:xfrm>
            <a:off x="1744980" y="561594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reduce</a:t>
            </a:r>
            <a:endParaRPr lang="en-US" sz="1200" dirty="0" err="1">
              <a:solidFill>
                <a:srgbClr val="00599F"/>
              </a:solidFill>
              <a:latin typeface="Segoe UI Semibold" panose="020B0702040204020203" pitchFamily="34" charset="0"/>
            </a:endParaRPr>
          </a:p>
        </p:txBody>
      </p:sp>
      <p:sp>
        <p:nvSpPr>
          <p:cNvPr id="32" name="Text 016 STRONG">
            <a:extLst>
              <a:ext uri="{FF2B5EF4-FFF2-40B4-BE49-F238E27FC236}">
                <a16:creationId xmlns:a16="http://schemas.microsoft.com/office/drawing/2014/main" id="{C466C63F-5416-0A9F-6DC2-8FC24187687C}"/>
              </a:ext>
            </a:extLst>
          </p:cNvPr>
          <p:cNvSpPr txBox="1"/>
          <p:nvPr/>
        </p:nvSpPr>
        <p:spPr>
          <a:xfrm>
            <a:off x="624840" y="582168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transcription effort without</a:t>
            </a:r>
            <a:endParaRPr lang="en-US" sz="1200" dirty="0" err="1">
              <a:solidFill>
                <a:srgbClr val="00599F"/>
              </a:solidFill>
              <a:latin typeface="Segoe UI Semibold" panose="020B0702040204020203" pitchFamily="34" charset="0"/>
            </a:endParaRPr>
          </a:p>
        </p:txBody>
      </p:sp>
      <p:sp>
        <p:nvSpPr>
          <p:cNvPr id="33" name="Text 017 STRONG">
            <a:extLst>
              <a:ext uri="{FF2B5EF4-FFF2-40B4-BE49-F238E27FC236}">
                <a16:creationId xmlns:a16="http://schemas.microsoft.com/office/drawing/2014/main" id="{88C2F6E8-A86B-2B7E-B082-224289797F01}"/>
              </a:ext>
            </a:extLst>
          </p:cNvPr>
          <p:cNvSpPr txBox="1"/>
          <p:nvPr/>
        </p:nvSpPr>
        <p:spPr>
          <a:xfrm>
            <a:off x="624840" y="602742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surrendering control.</a:t>
            </a:r>
            <a:endParaRPr lang="en-US" sz="1200" dirty="0" err="1">
              <a:solidFill>
                <a:srgbClr val="00599F"/>
              </a:solidFill>
              <a:latin typeface="Segoe UI Semibold" panose="020B0702040204020203" pitchFamily="34" charset="0"/>
            </a:endParaRPr>
          </a:p>
        </p:txBody>
      </p:sp>
    </p:spTree>
    <p:extLst>
      <p:ext uri="{BB962C8B-B14F-4D97-AF65-F5344CB8AC3E}">
        <p14:creationId xmlns:p14="http://schemas.microsoft.com/office/powerpoint/2010/main" val="804283791"/>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Process-08">
    <p:spTree>
      <p:nvGrpSpPr>
        <p:cNvPr id="1" name=""/>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2C8C7A26-9999-6F59-5312-86C88D98C708}"/>
              </a:ext>
            </a:extLst>
          </p:cNvPr>
          <p:cNvPicPr>
            <a:picLocks/>
          </p:cNvPicPr>
          <p:nvPr/>
        </p:nvPicPr>
        <p:blipFill>
          <a:blip r:embed="rId3"/>
          <a:stretch>
            <a:fillRect/>
          </a:stretch>
        </p:blipFill>
        <p:spPr>
          <a:xfrm>
            <a:off x="0" y="0"/>
            <a:ext cx="12192000" cy="6858000"/>
          </a:xfrm>
          <a:prstGeom prst="rect">
            <a:avLst/>
          </a:prstGeom>
        </p:spPr>
      </p:pic>
      <p:pic>
        <p:nvPicPr>
          <p:cNvPr id="10" name="Product image 3" descr="Order evaluation review showing three skill results, pricing and line adjustments, reviewer notes, and Approve, Reject and Needs more info controls.">
            <a:extLst>
              <a:ext uri="{FF2B5EF4-FFF2-40B4-BE49-F238E27FC236}">
                <a16:creationId xmlns:a16="http://schemas.microsoft.com/office/drawing/2014/main" id="{70374CA2-9F9D-D6C2-7A89-9702988CC94A}"/>
              </a:ext>
            </a:extLst>
          </p:cNvPr>
          <p:cNvPicPr>
            <a:picLocks/>
          </p:cNvPicPr>
          <p:nvPr/>
        </p:nvPicPr>
        <p:blipFill>
          <a:blip r:embed="rId4"/>
          <a:stretch>
            <a:fillRect/>
          </a:stretch>
        </p:blipFill>
        <p:spPr>
          <a:xfrm>
            <a:off x="4222320" y="335280"/>
            <a:ext cx="7008720" cy="6187440"/>
          </a:xfrm>
          <a:prstGeom prst="rect">
            <a:avLst/>
          </a:prstGeom>
        </p:spPr>
      </p:pic>
      <p:sp>
        <p:nvSpPr>
          <p:cNvPr id="12" name="Text 001 H1">
            <a:extLst>
              <a:ext uri="{FF2B5EF4-FFF2-40B4-BE49-F238E27FC236}">
                <a16:creationId xmlns:a16="http://schemas.microsoft.com/office/drawing/2014/main" id="{01ED62B0-D7BD-EF46-0BB9-EEDBAB6A0DC5}"/>
              </a:ext>
            </a:extLst>
          </p:cNvPr>
          <p:cNvSpPr txBox="1"/>
          <p:nvPr/>
        </p:nvSpPr>
        <p:spPr>
          <a:xfrm>
            <a:off x="480060" y="457200"/>
            <a:ext cx="65" cy="307777"/>
          </a:xfrm>
          <a:prstGeom prst="rect">
            <a:avLst/>
          </a:prstGeom>
          <a:noFill/>
        </p:spPr>
        <p:txBody>
          <a:bodyPr vert="horz" wrap="none" lIns="0" tIns="0" rIns="0" bIns="0" rtlCol="0" anchor="t">
            <a:noAutofit/>
          </a:bodyPr>
          <a:lstStyle/>
          <a:p>
            <a:r>
              <a:rPr lang="en-US" sz="2040" spc="-48">
                <a:solidFill>
                  <a:srgbClr val="1A1A1A"/>
                </a:solidFill>
                <a:latin typeface="Segoe UI Semibold" panose="020B0702040204020203" pitchFamily="34" charset="0"/>
              </a:rPr>
              <a:t>Validate business rules</a:t>
            </a:r>
            <a:endParaRPr lang="en-US" sz="2040" spc="-48" dirty="0" err="1">
              <a:solidFill>
                <a:srgbClr val="1A1A1A"/>
              </a:solidFill>
              <a:latin typeface="Segoe UI Semibold" panose="020B0702040204020203" pitchFamily="34" charset="0"/>
            </a:endParaRPr>
          </a:p>
        </p:txBody>
      </p:sp>
      <p:sp>
        <p:nvSpPr>
          <p:cNvPr id="16" name="Text 002 H1">
            <a:extLst>
              <a:ext uri="{FF2B5EF4-FFF2-40B4-BE49-F238E27FC236}">
                <a16:creationId xmlns:a16="http://schemas.microsoft.com/office/drawing/2014/main" id="{DF5C5EBD-557A-9F76-97E4-ADADDC9A9675}"/>
              </a:ext>
            </a:extLst>
          </p:cNvPr>
          <p:cNvSpPr txBox="1"/>
          <p:nvPr/>
        </p:nvSpPr>
        <p:spPr>
          <a:xfrm>
            <a:off x="480060" y="762833"/>
            <a:ext cx="65" cy="307777"/>
          </a:xfrm>
          <a:prstGeom prst="rect">
            <a:avLst/>
          </a:prstGeom>
          <a:noFill/>
        </p:spPr>
        <p:txBody>
          <a:bodyPr vert="horz" wrap="none" lIns="0" tIns="0" rIns="0" bIns="0" rtlCol="0" anchor="t">
            <a:noAutofit/>
          </a:bodyPr>
          <a:lstStyle/>
          <a:p>
            <a:r>
              <a:rPr lang="en-US" sz="2040" spc="-48">
                <a:solidFill>
                  <a:srgbClr val="1A1A1A"/>
                </a:solidFill>
                <a:latin typeface="Segoe UI Semibold" panose="020B0702040204020203" pitchFamily="34" charset="0"/>
              </a:rPr>
              <a:t>- not just fields</a:t>
            </a:r>
            <a:endParaRPr lang="en-US" sz="2040" spc="-48" dirty="0" err="1">
              <a:solidFill>
                <a:srgbClr val="1A1A1A"/>
              </a:solidFill>
              <a:latin typeface="Segoe UI Semibold" panose="020B0702040204020203" pitchFamily="34" charset="0"/>
            </a:endParaRPr>
          </a:p>
        </p:txBody>
      </p:sp>
      <p:sp>
        <p:nvSpPr>
          <p:cNvPr id="17" name="Text 003 P">
            <a:extLst>
              <a:ext uri="{FF2B5EF4-FFF2-40B4-BE49-F238E27FC236}">
                <a16:creationId xmlns:a16="http://schemas.microsoft.com/office/drawing/2014/main" id="{9ACF64A6-E195-3BA3-B0AC-31354C7B8C25}"/>
              </a:ext>
            </a:extLst>
          </p:cNvPr>
          <p:cNvSpPr txBox="1"/>
          <p:nvPr/>
        </p:nvSpPr>
        <p:spPr>
          <a:xfrm>
            <a:off x="480060" y="1205627"/>
            <a:ext cx="65" cy="307777"/>
          </a:xfrm>
          <a:prstGeom prst="rect">
            <a:avLst/>
          </a:prstGeom>
          <a:noFill/>
        </p:spPr>
        <p:txBody>
          <a:bodyPr vert="horz" wrap="none" lIns="0" tIns="0" rIns="0" bIns="0" rtlCol="0" anchor="t">
            <a:noAutofit/>
          </a:bodyPr>
          <a:lstStyle/>
          <a:p>
            <a:r>
              <a:rPr lang="en-US" sz="1140">
                <a:solidFill>
                  <a:srgbClr val="343B48"/>
                </a:solidFill>
                <a:latin typeface="Segoe UI" panose="020B0502040204020203" pitchFamily="34" charset="0"/>
              </a:rPr>
              <a:t>Human gate 2 / inspect skill results,</a:t>
            </a:r>
            <a:endParaRPr lang="en-US" sz="1140" dirty="0" err="1">
              <a:solidFill>
                <a:srgbClr val="343B48"/>
              </a:solidFill>
              <a:latin typeface="Segoe UI" panose="020B0502040204020203" pitchFamily="34" charset="0"/>
            </a:endParaRPr>
          </a:p>
        </p:txBody>
      </p:sp>
      <p:sp>
        <p:nvSpPr>
          <p:cNvPr id="18" name="Text 004 P">
            <a:extLst>
              <a:ext uri="{FF2B5EF4-FFF2-40B4-BE49-F238E27FC236}">
                <a16:creationId xmlns:a16="http://schemas.microsoft.com/office/drawing/2014/main" id="{DD27BA21-CE66-366E-D2A4-CAB6D4584953}"/>
              </a:ext>
            </a:extLst>
          </p:cNvPr>
          <p:cNvSpPr txBox="1"/>
          <p:nvPr/>
        </p:nvSpPr>
        <p:spPr>
          <a:xfrm>
            <a:off x="480060" y="1401008"/>
            <a:ext cx="65" cy="307777"/>
          </a:xfrm>
          <a:prstGeom prst="rect">
            <a:avLst/>
          </a:prstGeom>
          <a:noFill/>
        </p:spPr>
        <p:txBody>
          <a:bodyPr vert="horz" wrap="none" lIns="0" tIns="0" rIns="0" bIns="0" rtlCol="0" anchor="t">
            <a:noAutofit/>
          </a:bodyPr>
          <a:lstStyle/>
          <a:p>
            <a:r>
              <a:rPr lang="en-US" sz="1140">
                <a:solidFill>
                  <a:srgbClr val="343B48"/>
                </a:solidFill>
                <a:latin typeface="Segoe UI" panose="020B0502040204020203" pitchFamily="34" charset="0"/>
              </a:rPr>
              <a:t>pricing adjustments and decision</a:t>
            </a:r>
            <a:endParaRPr lang="en-US" sz="1140" dirty="0" err="1">
              <a:solidFill>
                <a:srgbClr val="343B48"/>
              </a:solidFill>
              <a:latin typeface="Segoe UI" panose="020B0502040204020203" pitchFamily="34" charset="0"/>
            </a:endParaRPr>
          </a:p>
        </p:txBody>
      </p:sp>
      <p:sp>
        <p:nvSpPr>
          <p:cNvPr id="19" name="Text 005 P">
            <a:extLst>
              <a:ext uri="{FF2B5EF4-FFF2-40B4-BE49-F238E27FC236}">
                <a16:creationId xmlns:a16="http://schemas.microsoft.com/office/drawing/2014/main" id="{3DB49653-82C9-7623-E711-6DE0D6CE167A}"/>
              </a:ext>
            </a:extLst>
          </p:cNvPr>
          <p:cNvSpPr txBox="1"/>
          <p:nvPr/>
        </p:nvSpPr>
        <p:spPr>
          <a:xfrm>
            <a:off x="480060" y="1596390"/>
            <a:ext cx="65" cy="307777"/>
          </a:xfrm>
          <a:prstGeom prst="rect">
            <a:avLst/>
          </a:prstGeom>
          <a:noFill/>
        </p:spPr>
        <p:txBody>
          <a:bodyPr vert="horz" wrap="none" lIns="0" tIns="0" rIns="0" bIns="0" rtlCol="0" anchor="t">
            <a:noAutofit/>
          </a:bodyPr>
          <a:lstStyle/>
          <a:p>
            <a:r>
              <a:rPr lang="en-US" sz="1140">
                <a:solidFill>
                  <a:srgbClr val="343B48"/>
                </a:solidFill>
                <a:latin typeface="Segoe UI" panose="020B0502040204020203" pitchFamily="34" charset="0"/>
              </a:rPr>
              <a:t>controls</a:t>
            </a:r>
            <a:endParaRPr lang="en-US" sz="1140" dirty="0" err="1">
              <a:solidFill>
                <a:srgbClr val="343B48"/>
              </a:solidFill>
              <a:latin typeface="Segoe UI" panose="020B0502040204020203" pitchFamily="34" charset="0"/>
            </a:endParaRPr>
          </a:p>
        </p:txBody>
      </p:sp>
      <p:sp>
        <p:nvSpPr>
          <p:cNvPr id="20" name="Text 006 H2">
            <a:extLst>
              <a:ext uri="{FF2B5EF4-FFF2-40B4-BE49-F238E27FC236}">
                <a16:creationId xmlns:a16="http://schemas.microsoft.com/office/drawing/2014/main" id="{08644F88-3F76-3391-B8F9-C66D122C2C72}"/>
              </a:ext>
            </a:extLst>
          </p:cNvPr>
          <p:cNvSpPr txBox="1"/>
          <p:nvPr/>
        </p:nvSpPr>
        <p:spPr>
          <a:xfrm>
            <a:off x="480060" y="1967031"/>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01 / Product identity</a:t>
            </a:r>
            <a:endParaRPr lang="en-US" sz="1320" spc="-30" dirty="0" err="1">
              <a:solidFill>
                <a:srgbClr val="00599F"/>
              </a:solidFill>
              <a:latin typeface="Segoe UI Semibold" panose="020B0702040204020203" pitchFamily="34" charset="0"/>
            </a:endParaRPr>
          </a:p>
        </p:txBody>
      </p:sp>
      <p:sp>
        <p:nvSpPr>
          <p:cNvPr id="21" name="Text 007 P">
            <a:extLst>
              <a:ext uri="{FF2B5EF4-FFF2-40B4-BE49-F238E27FC236}">
                <a16:creationId xmlns:a16="http://schemas.microsoft.com/office/drawing/2014/main" id="{9692E4CA-8C1C-A3DC-1A55-681E2D99FBF7}"/>
              </a:ext>
            </a:extLst>
          </p:cNvPr>
          <p:cNvSpPr txBox="1"/>
          <p:nvPr/>
        </p:nvSpPr>
        <p:spPr>
          <a:xfrm>
            <a:off x="480060" y="2245162"/>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Resolve SKUs, barcodes and</a:t>
            </a:r>
            <a:endParaRPr lang="en-US" sz="1200" dirty="0" err="1">
              <a:solidFill>
                <a:srgbClr val="1A1A1A"/>
              </a:solidFill>
              <a:latin typeface="Segoe UI" panose="020B0502040204020203" pitchFamily="34" charset="0"/>
            </a:endParaRPr>
          </a:p>
        </p:txBody>
      </p:sp>
      <p:sp>
        <p:nvSpPr>
          <p:cNvPr id="24" name="Text 008 P">
            <a:extLst>
              <a:ext uri="{FF2B5EF4-FFF2-40B4-BE49-F238E27FC236}">
                <a16:creationId xmlns:a16="http://schemas.microsoft.com/office/drawing/2014/main" id="{925C1CB6-755F-78FE-CDE9-CADE15A35567}"/>
              </a:ext>
            </a:extLst>
          </p:cNvPr>
          <p:cNvSpPr txBox="1"/>
          <p:nvPr/>
        </p:nvSpPr>
        <p:spPr>
          <a:xfrm>
            <a:off x="480060" y="2450902"/>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descriptions against the catalog.</a:t>
            </a:r>
            <a:endParaRPr lang="en-US" sz="1200" dirty="0" err="1">
              <a:solidFill>
                <a:srgbClr val="1A1A1A"/>
              </a:solidFill>
              <a:latin typeface="Segoe UI" panose="020B0502040204020203" pitchFamily="34" charset="0"/>
            </a:endParaRPr>
          </a:p>
        </p:txBody>
      </p:sp>
      <p:sp>
        <p:nvSpPr>
          <p:cNvPr id="25" name="Text 009 H2">
            <a:extLst>
              <a:ext uri="{FF2B5EF4-FFF2-40B4-BE49-F238E27FC236}">
                <a16:creationId xmlns:a16="http://schemas.microsoft.com/office/drawing/2014/main" id="{7D4926B6-6580-C442-0234-C57FF1E03A75}"/>
              </a:ext>
            </a:extLst>
          </p:cNvPr>
          <p:cNvSpPr txBox="1"/>
          <p:nvPr/>
        </p:nvSpPr>
        <p:spPr>
          <a:xfrm>
            <a:off x="480060" y="2809042"/>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02 / Availability</a:t>
            </a:r>
            <a:endParaRPr lang="en-US" sz="1320" spc="-30" dirty="0" err="1">
              <a:solidFill>
                <a:srgbClr val="00599F"/>
              </a:solidFill>
              <a:latin typeface="Segoe UI Semibold" panose="020B0702040204020203" pitchFamily="34" charset="0"/>
            </a:endParaRPr>
          </a:p>
        </p:txBody>
      </p:sp>
      <p:sp>
        <p:nvSpPr>
          <p:cNvPr id="26" name="Text 010 P">
            <a:extLst>
              <a:ext uri="{FF2B5EF4-FFF2-40B4-BE49-F238E27FC236}">
                <a16:creationId xmlns:a16="http://schemas.microsoft.com/office/drawing/2014/main" id="{0CCB86F2-D66F-0471-7652-EC60E1ED8F26}"/>
              </a:ext>
            </a:extLst>
          </p:cNvPr>
          <p:cNvSpPr txBox="1"/>
          <p:nvPr/>
        </p:nvSpPr>
        <p:spPr>
          <a:xfrm>
            <a:off x="480060" y="3087172"/>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Check requested quantities against</a:t>
            </a:r>
            <a:endParaRPr lang="en-US" sz="1200" dirty="0" err="1">
              <a:solidFill>
                <a:srgbClr val="1A1A1A"/>
              </a:solidFill>
              <a:latin typeface="Segoe UI" panose="020B0502040204020203" pitchFamily="34" charset="0"/>
            </a:endParaRPr>
          </a:p>
        </p:txBody>
      </p:sp>
      <p:sp>
        <p:nvSpPr>
          <p:cNvPr id="27" name="Text 011 P">
            <a:extLst>
              <a:ext uri="{FF2B5EF4-FFF2-40B4-BE49-F238E27FC236}">
                <a16:creationId xmlns:a16="http://schemas.microsoft.com/office/drawing/2014/main" id="{A51E8C9F-F376-4FC6-1F82-6FBC704A8403}"/>
              </a:ext>
            </a:extLst>
          </p:cNvPr>
          <p:cNvSpPr txBox="1"/>
          <p:nvPr/>
        </p:nvSpPr>
        <p:spPr>
          <a:xfrm>
            <a:off x="480060" y="3292911"/>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inventory.</a:t>
            </a:r>
            <a:endParaRPr lang="en-US" sz="1200" dirty="0" err="1">
              <a:solidFill>
                <a:srgbClr val="1A1A1A"/>
              </a:solidFill>
              <a:latin typeface="Segoe UI" panose="020B0502040204020203" pitchFamily="34" charset="0"/>
            </a:endParaRPr>
          </a:p>
        </p:txBody>
      </p:sp>
      <p:sp>
        <p:nvSpPr>
          <p:cNvPr id="28" name="Text 012 H2">
            <a:extLst>
              <a:ext uri="{FF2B5EF4-FFF2-40B4-BE49-F238E27FC236}">
                <a16:creationId xmlns:a16="http://schemas.microsoft.com/office/drawing/2014/main" id="{880A26D4-E699-86DA-3DC6-1A8D45015F70}"/>
              </a:ext>
            </a:extLst>
          </p:cNvPr>
          <p:cNvSpPr txBox="1"/>
          <p:nvPr/>
        </p:nvSpPr>
        <p:spPr>
          <a:xfrm>
            <a:off x="480060" y="3651052"/>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03 / Promotions</a:t>
            </a:r>
            <a:endParaRPr lang="en-US" sz="1320" spc="-30" dirty="0" err="1">
              <a:solidFill>
                <a:srgbClr val="00599F"/>
              </a:solidFill>
              <a:latin typeface="Segoe UI Semibold" panose="020B0702040204020203" pitchFamily="34" charset="0"/>
            </a:endParaRPr>
          </a:p>
        </p:txBody>
      </p:sp>
      <p:sp>
        <p:nvSpPr>
          <p:cNvPr id="29" name="Text 013 P">
            <a:extLst>
              <a:ext uri="{FF2B5EF4-FFF2-40B4-BE49-F238E27FC236}">
                <a16:creationId xmlns:a16="http://schemas.microsoft.com/office/drawing/2014/main" id="{8DFCC9F1-C584-2A9C-4B52-BDD3B33DF4FE}"/>
              </a:ext>
            </a:extLst>
          </p:cNvPr>
          <p:cNvSpPr txBox="1"/>
          <p:nvPr/>
        </p:nvSpPr>
        <p:spPr>
          <a:xfrm>
            <a:off x="480060" y="3929181"/>
            <a:ext cx="65" cy="307777"/>
          </a:xfrm>
          <a:prstGeom prst="rect">
            <a:avLst/>
          </a:prstGeom>
          <a:noFill/>
        </p:spPr>
        <p:txBody>
          <a:bodyPr vert="horz" wrap="none" lIns="0" tIns="0" rIns="0" bIns="0" rtlCol="0" anchor="t">
            <a:noAutofit/>
          </a:bodyPr>
          <a:lstStyle/>
          <a:p>
            <a:r>
              <a:rPr lang="en-US" sz="1200" spc="2">
                <a:solidFill>
                  <a:srgbClr val="1A1A1A"/>
                </a:solidFill>
                <a:latin typeface="Segoe UI" panose="020B0502040204020203" pitchFamily="34" charset="0"/>
              </a:rPr>
              <a:t>Explain eligibility and proposed pricing</a:t>
            </a:r>
            <a:endParaRPr lang="en-US" sz="1200" spc="2" dirty="0" err="1">
              <a:solidFill>
                <a:srgbClr val="1A1A1A"/>
              </a:solidFill>
              <a:latin typeface="Segoe UI" panose="020B0502040204020203" pitchFamily="34" charset="0"/>
            </a:endParaRPr>
          </a:p>
        </p:txBody>
      </p:sp>
      <p:sp>
        <p:nvSpPr>
          <p:cNvPr id="30" name="Text 014 P">
            <a:extLst>
              <a:ext uri="{FF2B5EF4-FFF2-40B4-BE49-F238E27FC236}">
                <a16:creationId xmlns:a16="http://schemas.microsoft.com/office/drawing/2014/main" id="{E784C68F-4BBC-C3A4-A634-0331BC4358C1}"/>
              </a:ext>
            </a:extLst>
          </p:cNvPr>
          <p:cNvSpPr txBox="1"/>
          <p:nvPr/>
        </p:nvSpPr>
        <p:spPr>
          <a:xfrm>
            <a:off x="480060" y="4134922"/>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adjustments.</a:t>
            </a:r>
            <a:endParaRPr lang="en-US" sz="1200" dirty="0" err="1">
              <a:solidFill>
                <a:srgbClr val="1A1A1A"/>
              </a:solidFill>
              <a:latin typeface="Segoe UI" panose="020B0502040204020203" pitchFamily="34" charset="0"/>
            </a:endParaRPr>
          </a:p>
        </p:txBody>
      </p:sp>
      <p:sp>
        <p:nvSpPr>
          <p:cNvPr id="31" name="Text 015 DIV">
            <a:extLst>
              <a:ext uri="{FF2B5EF4-FFF2-40B4-BE49-F238E27FC236}">
                <a16:creationId xmlns:a16="http://schemas.microsoft.com/office/drawing/2014/main" id="{54698FEA-EC7F-C57A-54B1-A8E108F35ED2}"/>
              </a:ext>
            </a:extLst>
          </p:cNvPr>
          <p:cNvSpPr txBox="1"/>
          <p:nvPr/>
        </p:nvSpPr>
        <p:spPr>
          <a:xfrm>
            <a:off x="624840" y="561594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Identity + availability drive the</a:t>
            </a:r>
            <a:endParaRPr lang="en-US" sz="1200" dirty="0" err="1">
              <a:solidFill>
                <a:srgbClr val="1A1A1A"/>
              </a:solidFill>
              <a:latin typeface="Segoe UI" panose="020B0502040204020203" pitchFamily="34" charset="0"/>
            </a:endParaRPr>
          </a:p>
        </p:txBody>
      </p:sp>
      <p:sp>
        <p:nvSpPr>
          <p:cNvPr id="32" name="Text 016 DIV">
            <a:extLst>
              <a:ext uri="{FF2B5EF4-FFF2-40B4-BE49-F238E27FC236}">
                <a16:creationId xmlns:a16="http://schemas.microsoft.com/office/drawing/2014/main" id="{3AF71C19-7D3D-C2E7-5111-1C92B59B42FE}"/>
              </a:ext>
            </a:extLst>
          </p:cNvPr>
          <p:cNvSpPr txBox="1"/>
          <p:nvPr/>
        </p:nvSpPr>
        <p:spPr>
          <a:xfrm>
            <a:off x="624840" y="582168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verdict. </a:t>
            </a:r>
            <a:endParaRPr lang="en-US" sz="1200" dirty="0" err="1">
              <a:solidFill>
                <a:srgbClr val="1A1A1A"/>
              </a:solidFill>
              <a:latin typeface="Segoe UI" panose="020B0502040204020203" pitchFamily="34" charset="0"/>
            </a:endParaRPr>
          </a:p>
        </p:txBody>
      </p:sp>
      <p:sp>
        <p:nvSpPr>
          <p:cNvPr id="33" name="Text 017 STRONG">
            <a:extLst>
              <a:ext uri="{FF2B5EF4-FFF2-40B4-BE49-F238E27FC236}">
                <a16:creationId xmlns:a16="http://schemas.microsoft.com/office/drawing/2014/main" id="{9016D970-ED6A-4280-3CD1-631600E6C162}"/>
              </a:ext>
            </a:extLst>
          </p:cNvPr>
          <p:cNvSpPr txBox="1"/>
          <p:nvPr/>
        </p:nvSpPr>
        <p:spPr>
          <a:xfrm>
            <a:off x="1154073" y="582168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Promotion findings do</a:t>
            </a:r>
            <a:endParaRPr lang="en-US" sz="1200" dirty="0" err="1">
              <a:solidFill>
                <a:srgbClr val="00599F"/>
              </a:solidFill>
              <a:latin typeface="Segoe UI Semibold" panose="020B0702040204020203" pitchFamily="34" charset="0"/>
            </a:endParaRPr>
          </a:p>
        </p:txBody>
      </p:sp>
      <p:sp>
        <p:nvSpPr>
          <p:cNvPr id="34" name="Text 018 STRONG">
            <a:extLst>
              <a:ext uri="{FF2B5EF4-FFF2-40B4-BE49-F238E27FC236}">
                <a16:creationId xmlns:a16="http://schemas.microsoft.com/office/drawing/2014/main" id="{2B701900-8899-9C76-C337-19F68EFC8202}"/>
              </a:ext>
            </a:extLst>
          </p:cNvPr>
          <p:cNvSpPr txBox="1"/>
          <p:nvPr/>
        </p:nvSpPr>
        <p:spPr>
          <a:xfrm>
            <a:off x="624840" y="602742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not block the order.</a:t>
            </a:r>
            <a:endParaRPr lang="en-US" sz="1200" dirty="0" err="1">
              <a:solidFill>
                <a:srgbClr val="00599F"/>
              </a:solidFill>
              <a:latin typeface="Segoe UI Semibold" panose="020B0702040204020203" pitchFamily="34" charset="0"/>
            </a:endParaRPr>
          </a:p>
        </p:txBody>
      </p:sp>
    </p:spTree>
    <p:extLst>
      <p:ext uri="{BB962C8B-B14F-4D97-AF65-F5344CB8AC3E}">
        <p14:creationId xmlns:p14="http://schemas.microsoft.com/office/powerpoint/2010/main" val="453133622"/>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Process-09">
    <p:spTree>
      <p:nvGrpSpPr>
        <p:cNvPr id="1" name=""/>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C724728A-A914-88A6-828E-09CB2087E570}"/>
              </a:ext>
            </a:extLst>
          </p:cNvPr>
          <p:cNvPicPr>
            <a:picLocks/>
          </p:cNvPicPr>
          <p:nvPr/>
        </p:nvPicPr>
        <p:blipFill>
          <a:blip r:embed="rId3"/>
          <a:stretch>
            <a:fillRect/>
          </a:stretch>
        </p:blipFill>
        <p:spPr>
          <a:xfrm>
            <a:off x="0" y="0"/>
            <a:ext cx="12192000" cy="6858000"/>
          </a:xfrm>
          <a:prstGeom prst="rect">
            <a:avLst/>
          </a:prstGeom>
        </p:spPr>
      </p:pic>
      <p:pic>
        <p:nvPicPr>
          <p:cNvPr id="10" name="Product image 3" descr="Workflow Console My tasks queue with All open, Assigned to me, My teams and By role filters; an assigned extraction-review task and a waiting evaluation-review task.">
            <a:extLst>
              <a:ext uri="{FF2B5EF4-FFF2-40B4-BE49-F238E27FC236}">
                <a16:creationId xmlns:a16="http://schemas.microsoft.com/office/drawing/2014/main" id="{30774F80-9C14-24A8-0A3B-9D89364F3A84}"/>
              </a:ext>
            </a:extLst>
          </p:cNvPr>
          <p:cNvPicPr>
            <a:picLocks/>
          </p:cNvPicPr>
          <p:nvPr/>
        </p:nvPicPr>
        <p:blipFill>
          <a:blip r:embed="rId4"/>
          <a:stretch>
            <a:fillRect/>
          </a:stretch>
        </p:blipFill>
        <p:spPr>
          <a:xfrm>
            <a:off x="3596778" y="2182177"/>
            <a:ext cx="8259804" cy="2493526"/>
          </a:xfrm>
          <a:prstGeom prst="rect">
            <a:avLst/>
          </a:prstGeom>
        </p:spPr>
      </p:pic>
      <p:sp>
        <p:nvSpPr>
          <p:cNvPr id="12" name="Text 001 H1">
            <a:extLst>
              <a:ext uri="{FF2B5EF4-FFF2-40B4-BE49-F238E27FC236}">
                <a16:creationId xmlns:a16="http://schemas.microsoft.com/office/drawing/2014/main" id="{DC34D15B-1C19-52E7-4589-ADB239481411}"/>
              </a:ext>
            </a:extLst>
          </p:cNvPr>
          <p:cNvSpPr txBox="1"/>
          <p:nvPr/>
        </p:nvSpPr>
        <p:spPr>
          <a:xfrm>
            <a:off x="480060" y="457200"/>
            <a:ext cx="65" cy="307777"/>
          </a:xfrm>
          <a:prstGeom prst="rect">
            <a:avLst/>
          </a:prstGeom>
          <a:noFill/>
        </p:spPr>
        <p:txBody>
          <a:bodyPr vert="horz" wrap="none" lIns="0" tIns="0" rIns="0" bIns="0" rtlCol="0" anchor="t">
            <a:noAutofit/>
          </a:bodyPr>
          <a:lstStyle/>
          <a:p>
            <a:r>
              <a:rPr lang="en-US" sz="2040" spc="-48">
                <a:solidFill>
                  <a:srgbClr val="1A1A1A"/>
                </a:solidFill>
                <a:latin typeface="Segoe UI Semibold" panose="020B0702040204020203" pitchFamily="34" charset="0"/>
              </a:rPr>
              <a:t>Put work in the right</a:t>
            </a:r>
            <a:endParaRPr lang="en-US" sz="2040" spc="-48" dirty="0" err="1">
              <a:solidFill>
                <a:srgbClr val="1A1A1A"/>
              </a:solidFill>
              <a:latin typeface="Segoe UI Semibold" panose="020B0702040204020203" pitchFamily="34" charset="0"/>
            </a:endParaRPr>
          </a:p>
        </p:txBody>
      </p:sp>
      <p:sp>
        <p:nvSpPr>
          <p:cNvPr id="16" name="Text 002 H1">
            <a:extLst>
              <a:ext uri="{FF2B5EF4-FFF2-40B4-BE49-F238E27FC236}">
                <a16:creationId xmlns:a16="http://schemas.microsoft.com/office/drawing/2014/main" id="{2089D416-5F2E-77E6-892B-42F630C49C5C}"/>
              </a:ext>
            </a:extLst>
          </p:cNvPr>
          <p:cNvSpPr txBox="1"/>
          <p:nvPr/>
        </p:nvSpPr>
        <p:spPr>
          <a:xfrm>
            <a:off x="480060" y="762833"/>
            <a:ext cx="65" cy="307777"/>
          </a:xfrm>
          <a:prstGeom prst="rect">
            <a:avLst/>
          </a:prstGeom>
          <a:noFill/>
        </p:spPr>
        <p:txBody>
          <a:bodyPr vert="horz" wrap="none" lIns="0" tIns="0" rIns="0" bIns="0" rtlCol="0" anchor="t">
            <a:noAutofit/>
          </a:bodyPr>
          <a:lstStyle/>
          <a:p>
            <a:r>
              <a:rPr lang="en-US" sz="2040" spc="-48">
                <a:solidFill>
                  <a:srgbClr val="1A1A1A"/>
                </a:solidFill>
                <a:latin typeface="Segoe UI Semibold" panose="020B0702040204020203" pitchFamily="34" charset="0"/>
              </a:rPr>
              <a:t>hands</a:t>
            </a:r>
            <a:endParaRPr lang="en-US" sz="2040" spc="-48" dirty="0" err="1">
              <a:solidFill>
                <a:srgbClr val="1A1A1A"/>
              </a:solidFill>
              <a:latin typeface="Segoe UI Semibold" panose="020B0702040204020203" pitchFamily="34" charset="0"/>
            </a:endParaRPr>
          </a:p>
        </p:txBody>
      </p:sp>
      <p:sp>
        <p:nvSpPr>
          <p:cNvPr id="17" name="Text 003 P">
            <a:extLst>
              <a:ext uri="{FF2B5EF4-FFF2-40B4-BE49-F238E27FC236}">
                <a16:creationId xmlns:a16="http://schemas.microsoft.com/office/drawing/2014/main" id="{BCB73104-0B3A-67D5-A00E-F175EA0AE6FB}"/>
              </a:ext>
            </a:extLst>
          </p:cNvPr>
          <p:cNvSpPr txBox="1"/>
          <p:nvPr/>
        </p:nvSpPr>
        <p:spPr>
          <a:xfrm>
            <a:off x="480060" y="1205627"/>
            <a:ext cx="65" cy="307777"/>
          </a:xfrm>
          <a:prstGeom prst="rect">
            <a:avLst/>
          </a:prstGeom>
          <a:noFill/>
        </p:spPr>
        <p:txBody>
          <a:bodyPr vert="horz" wrap="none" lIns="0" tIns="0" rIns="0" bIns="0" rtlCol="0" anchor="t">
            <a:noAutofit/>
          </a:bodyPr>
          <a:lstStyle/>
          <a:p>
            <a:r>
              <a:rPr lang="en-US" sz="1140">
                <a:solidFill>
                  <a:srgbClr val="343B48"/>
                </a:solidFill>
                <a:latin typeface="Segoe UI" panose="020B0502040204020203" pitchFamily="34" charset="0"/>
              </a:rPr>
              <a:t>A shared operating experience, with a</a:t>
            </a:r>
            <a:endParaRPr lang="en-US" sz="1140" dirty="0" err="1">
              <a:solidFill>
                <a:srgbClr val="343B48"/>
              </a:solidFill>
              <a:latin typeface="Segoe UI" panose="020B0502040204020203" pitchFamily="34" charset="0"/>
            </a:endParaRPr>
          </a:p>
        </p:txBody>
      </p:sp>
      <p:sp>
        <p:nvSpPr>
          <p:cNvPr id="18" name="Text 004 P">
            <a:extLst>
              <a:ext uri="{FF2B5EF4-FFF2-40B4-BE49-F238E27FC236}">
                <a16:creationId xmlns:a16="http://schemas.microsoft.com/office/drawing/2014/main" id="{E2EEDA1E-10FE-3091-9552-32FDE21B8777}"/>
              </a:ext>
            </a:extLst>
          </p:cNvPr>
          <p:cNvSpPr txBox="1"/>
          <p:nvPr/>
        </p:nvSpPr>
        <p:spPr>
          <a:xfrm>
            <a:off x="480060" y="1401008"/>
            <a:ext cx="65" cy="307777"/>
          </a:xfrm>
          <a:prstGeom prst="rect">
            <a:avLst/>
          </a:prstGeom>
          <a:noFill/>
        </p:spPr>
        <p:txBody>
          <a:bodyPr vert="horz" wrap="none" lIns="0" tIns="0" rIns="0" bIns="0" rtlCol="0" anchor="t">
            <a:noAutofit/>
          </a:bodyPr>
          <a:lstStyle/>
          <a:p>
            <a:r>
              <a:rPr lang="en-US" sz="1140">
                <a:solidFill>
                  <a:srgbClr val="343B48"/>
                </a:solidFill>
                <a:latin typeface="Segoe UI" panose="020B0502040204020203" pitchFamily="34" charset="0"/>
              </a:rPr>
              <a:t>clear task owner</a:t>
            </a:r>
            <a:endParaRPr lang="en-US" sz="1140" dirty="0" err="1">
              <a:solidFill>
                <a:srgbClr val="343B48"/>
              </a:solidFill>
              <a:latin typeface="Segoe UI" panose="020B0502040204020203" pitchFamily="34" charset="0"/>
            </a:endParaRPr>
          </a:p>
        </p:txBody>
      </p:sp>
      <p:sp>
        <p:nvSpPr>
          <p:cNvPr id="19" name="Text 005 H2">
            <a:extLst>
              <a:ext uri="{FF2B5EF4-FFF2-40B4-BE49-F238E27FC236}">
                <a16:creationId xmlns:a16="http://schemas.microsoft.com/office/drawing/2014/main" id="{A8187032-BA04-1D96-33F6-279C240D9AA0}"/>
              </a:ext>
            </a:extLst>
          </p:cNvPr>
          <p:cNvSpPr txBox="1"/>
          <p:nvPr/>
        </p:nvSpPr>
        <p:spPr>
          <a:xfrm>
            <a:off x="480060" y="1771650"/>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Route by capability</a:t>
            </a:r>
            <a:endParaRPr lang="en-US" sz="1320" spc="-30" dirty="0" err="1">
              <a:solidFill>
                <a:srgbClr val="00599F"/>
              </a:solidFill>
              <a:latin typeface="Segoe UI Semibold" panose="020B0702040204020203" pitchFamily="34" charset="0"/>
            </a:endParaRPr>
          </a:p>
        </p:txBody>
      </p:sp>
      <p:sp>
        <p:nvSpPr>
          <p:cNvPr id="20" name="Text 006 P">
            <a:extLst>
              <a:ext uri="{FF2B5EF4-FFF2-40B4-BE49-F238E27FC236}">
                <a16:creationId xmlns:a16="http://schemas.microsoft.com/office/drawing/2014/main" id="{CF7E444C-AABB-C411-036E-EF11B59037A6}"/>
              </a:ext>
            </a:extLst>
          </p:cNvPr>
          <p:cNvSpPr txBox="1"/>
          <p:nvPr/>
        </p:nvSpPr>
        <p:spPr>
          <a:xfrm>
            <a:off x="480060" y="2049780"/>
            <a:ext cx="65" cy="307777"/>
          </a:xfrm>
          <a:prstGeom prst="rect">
            <a:avLst/>
          </a:prstGeom>
          <a:noFill/>
        </p:spPr>
        <p:txBody>
          <a:bodyPr vert="horz" wrap="none" lIns="0" tIns="0" rIns="0" bIns="0" rtlCol="0" anchor="t">
            <a:noAutofit/>
          </a:bodyPr>
          <a:lstStyle/>
          <a:p>
            <a:r>
              <a:rPr lang="en-US" sz="1200" spc="4">
                <a:solidFill>
                  <a:srgbClr val="1A1A1A"/>
                </a:solidFill>
                <a:latin typeface="Segoe UI" panose="020B0502040204020203" pitchFamily="34" charset="0"/>
              </a:rPr>
              <a:t>Order Reviewer and Order Approver</a:t>
            </a:r>
            <a:endParaRPr lang="en-US" sz="1200" spc="4" dirty="0" err="1">
              <a:solidFill>
                <a:srgbClr val="1A1A1A"/>
              </a:solidFill>
              <a:latin typeface="Segoe UI" panose="020B0502040204020203" pitchFamily="34" charset="0"/>
            </a:endParaRPr>
          </a:p>
        </p:txBody>
      </p:sp>
      <p:sp>
        <p:nvSpPr>
          <p:cNvPr id="21" name="Text 007 P">
            <a:extLst>
              <a:ext uri="{FF2B5EF4-FFF2-40B4-BE49-F238E27FC236}">
                <a16:creationId xmlns:a16="http://schemas.microsoft.com/office/drawing/2014/main" id="{1E1D329B-09DC-AA55-91B2-7AD537E30E71}"/>
              </a:ext>
            </a:extLst>
          </p:cNvPr>
          <p:cNvSpPr txBox="1"/>
          <p:nvPr/>
        </p:nvSpPr>
        <p:spPr>
          <a:xfrm>
            <a:off x="480060" y="225552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roles determine task routing.</a:t>
            </a:r>
            <a:endParaRPr lang="en-US" sz="1200" dirty="0" err="1">
              <a:solidFill>
                <a:srgbClr val="1A1A1A"/>
              </a:solidFill>
              <a:latin typeface="Segoe UI" panose="020B0502040204020203" pitchFamily="34" charset="0"/>
            </a:endParaRPr>
          </a:p>
        </p:txBody>
      </p:sp>
      <p:sp>
        <p:nvSpPr>
          <p:cNvPr id="24" name="Text 008 H2">
            <a:extLst>
              <a:ext uri="{FF2B5EF4-FFF2-40B4-BE49-F238E27FC236}">
                <a16:creationId xmlns:a16="http://schemas.microsoft.com/office/drawing/2014/main" id="{FAE27218-41ED-4A5E-9E97-11A7E54287F0}"/>
              </a:ext>
            </a:extLst>
          </p:cNvPr>
          <p:cNvSpPr txBox="1"/>
          <p:nvPr/>
        </p:nvSpPr>
        <p:spPr>
          <a:xfrm>
            <a:off x="480060" y="2613660"/>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Notify in Teams</a:t>
            </a:r>
            <a:endParaRPr lang="en-US" sz="1320" spc="-30" dirty="0" err="1">
              <a:solidFill>
                <a:srgbClr val="00599F"/>
              </a:solidFill>
              <a:latin typeface="Segoe UI Semibold" panose="020B0702040204020203" pitchFamily="34" charset="0"/>
            </a:endParaRPr>
          </a:p>
        </p:txBody>
      </p:sp>
      <p:sp>
        <p:nvSpPr>
          <p:cNvPr id="25" name="Text 009 P">
            <a:extLst>
              <a:ext uri="{FF2B5EF4-FFF2-40B4-BE49-F238E27FC236}">
                <a16:creationId xmlns:a16="http://schemas.microsoft.com/office/drawing/2014/main" id="{63086D4E-4443-DFBD-2601-968D08BB4D87}"/>
              </a:ext>
            </a:extLst>
          </p:cNvPr>
          <p:cNvSpPr txBox="1"/>
          <p:nvPr/>
        </p:nvSpPr>
        <p:spPr>
          <a:xfrm>
            <a:off x="480060" y="2891790"/>
            <a:ext cx="65" cy="307777"/>
          </a:xfrm>
          <a:prstGeom prst="rect">
            <a:avLst/>
          </a:prstGeom>
          <a:noFill/>
        </p:spPr>
        <p:txBody>
          <a:bodyPr vert="horz" wrap="none" lIns="0" tIns="0" rIns="0" bIns="0" rtlCol="0" anchor="t">
            <a:noAutofit/>
          </a:bodyPr>
          <a:lstStyle/>
          <a:p>
            <a:r>
              <a:rPr lang="en-US" sz="1200" spc="2">
                <a:solidFill>
                  <a:srgbClr val="1A1A1A"/>
                </a:solidFill>
                <a:latin typeface="Segoe UI" panose="020B0502040204020203" pitchFamily="34" charset="0"/>
              </a:rPr>
              <a:t>Eligible users receive a deep link to the</a:t>
            </a:r>
            <a:endParaRPr lang="en-US" sz="1200" spc="2" dirty="0" err="1">
              <a:solidFill>
                <a:srgbClr val="1A1A1A"/>
              </a:solidFill>
              <a:latin typeface="Segoe UI" panose="020B0502040204020203" pitchFamily="34" charset="0"/>
            </a:endParaRPr>
          </a:p>
        </p:txBody>
      </p:sp>
      <p:sp>
        <p:nvSpPr>
          <p:cNvPr id="26" name="Text 010 P">
            <a:extLst>
              <a:ext uri="{FF2B5EF4-FFF2-40B4-BE49-F238E27FC236}">
                <a16:creationId xmlns:a16="http://schemas.microsoft.com/office/drawing/2014/main" id="{CC85555D-FA92-DAAC-5E10-F8DE93395F61}"/>
              </a:ext>
            </a:extLst>
          </p:cNvPr>
          <p:cNvSpPr txBox="1"/>
          <p:nvPr/>
        </p:nvSpPr>
        <p:spPr>
          <a:xfrm>
            <a:off x="480060" y="309753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exact task.</a:t>
            </a:r>
            <a:endParaRPr lang="en-US" sz="1200" dirty="0" err="1">
              <a:solidFill>
                <a:srgbClr val="1A1A1A"/>
              </a:solidFill>
              <a:latin typeface="Segoe UI" panose="020B0502040204020203" pitchFamily="34" charset="0"/>
            </a:endParaRPr>
          </a:p>
        </p:txBody>
      </p:sp>
      <p:sp>
        <p:nvSpPr>
          <p:cNvPr id="27" name="Text 011 H2">
            <a:extLst>
              <a:ext uri="{FF2B5EF4-FFF2-40B4-BE49-F238E27FC236}">
                <a16:creationId xmlns:a16="http://schemas.microsoft.com/office/drawing/2014/main" id="{55760808-F18F-5444-028C-2F6C6A3D5EDC}"/>
              </a:ext>
            </a:extLst>
          </p:cNvPr>
          <p:cNvSpPr txBox="1"/>
          <p:nvPr/>
        </p:nvSpPr>
        <p:spPr>
          <a:xfrm>
            <a:off x="480060" y="3455670"/>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Claim. Start. Complete.</a:t>
            </a:r>
            <a:endParaRPr lang="en-US" sz="1320" spc="-30" dirty="0" err="1">
              <a:solidFill>
                <a:srgbClr val="00599F"/>
              </a:solidFill>
              <a:latin typeface="Segoe UI Semibold" panose="020B0702040204020203" pitchFamily="34" charset="0"/>
            </a:endParaRPr>
          </a:p>
        </p:txBody>
      </p:sp>
      <p:sp>
        <p:nvSpPr>
          <p:cNvPr id="28" name="Text 012 P">
            <a:extLst>
              <a:ext uri="{FF2B5EF4-FFF2-40B4-BE49-F238E27FC236}">
                <a16:creationId xmlns:a16="http://schemas.microsoft.com/office/drawing/2014/main" id="{625410C6-E1C9-F682-FED8-2B67F5D6EF0E}"/>
              </a:ext>
            </a:extLst>
          </p:cNvPr>
          <p:cNvSpPr txBox="1"/>
          <p:nvPr/>
        </p:nvSpPr>
        <p:spPr>
          <a:xfrm>
            <a:off x="480060" y="3733800"/>
            <a:ext cx="65" cy="307777"/>
          </a:xfrm>
          <a:prstGeom prst="rect">
            <a:avLst/>
          </a:prstGeom>
          <a:noFill/>
        </p:spPr>
        <p:txBody>
          <a:bodyPr vert="horz" wrap="none" lIns="0" tIns="0" rIns="0" bIns="0" rtlCol="0" anchor="t">
            <a:noAutofit/>
          </a:bodyPr>
          <a:lstStyle/>
          <a:p>
            <a:r>
              <a:rPr lang="en-US" sz="1200" spc="2">
                <a:solidFill>
                  <a:srgbClr val="1A1A1A"/>
                </a:solidFill>
                <a:latin typeface="Segoe UI" panose="020B0502040204020203" pitchFamily="34" charset="0"/>
              </a:rPr>
              <a:t>Concurrency checks and transactional</a:t>
            </a:r>
            <a:endParaRPr lang="en-US" sz="1200" spc="2" dirty="0" err="1">
              <a:solidFill>
                <a:srgbClr val="1A1A1A"/>
              </a:solidFill>
              <a:latin typeface="Segoe UI" panose="020B0502040204020203" pitchFamily="34" charset="0"/>
            </a:endParaRPr>
          </a:p>
        </p:txBody>
      </p:sp>
      <p:sp>
        <p:nvSpPr>
          <p:cNvPr id="29" name="Text 013 P">
            <a:extLst>
              <a:ext uri="{FF2B5EF4-FFF2-40B4-BE49-F238E27FC236}">
                <a16:creationId xmlns:a16="http://schemas.microsoft.com/office/drawing/2014/main" id="{39B8E582-73E4-CFD2-C0B0-49DB75BB956C}"/>
              </a:ext>
            </a:extLst>
          </p:cNvPr>
          <p:cNvSpPr txBox="1"/>
          <p:nvPr/>
        </p:nvSpPr>
        <p:spPr>
          <a:xfrm>
            <a:off x="480060" y="393954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completion protect the decision.</a:t>
            </a:r>
            <a:endParaRPr lang="en-US" sz="1200" dirty="0" err="1">
              <a:solidFill>
                <a:srgbClr val="1A1A1A"/>
              </a:solidFill>
              <a:latin typeface="Segoe UI" panose="020B0502040204020203" pitchFamily="34" charset="0"/>
            </a:endParaRPr>
          </a:p>
        </p:txBody>
      </p:sp>
      <p:sp>
        <p:nvSpPr>
          <p:cNvPr id="30" name="Text 014 DIV">
            <a:extLst>
              <a:ext uri="{FF2B5EF4-FFF2-40B4-BE49-F238E27FC236}">
                <a16:creationId xmlns:a16="http://schemas.microsoft.com/office/drawing/2014/main" id="{C1CE1DA1-EBCD-DDDA-73A8-948B717B2BA6}"/>
              </a:ext>
            </a:extLst>
          </p:cNvPr>
          <p:cNvSpPr txBox="1"/>
          <p:nvPr/>
        </p:nvSpPr>
        <p:spPr>
          <a:xfrm>
            <a:off x="624840" y="561594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People can change. </a:t>
            </a:r>
            <a:endParaRPr lang="en-US" sz="1200" dirty="0" err="1">
              <a:solidFill>
                <a:srgbClr val="1A1A1A"/>
              </a:solidFill>
              <a:latin typeface="Segoe UI" panose="020B0502040204020203" pitchFamily="34" charset="0"/>
            </a:endParaRPr>
          </a:p>
        </p:txBody>
      </p:sp>
      <p:sp>
        <p:nvSpPr>
          <p:cNvPr id="31" name="Text 015 STRONG">
            <a:extLst>
              <a:ext uri="{FF2B5EF4-FFF2-40B4-BE49-F238E27FC236}">
                <a16:creationId xmlns:a16="http://schemas.microsoft.com/office/drawing/2014/main" id="{3A60841E-BD94-6832-8CA6-FE5808441F85}"/>
              </a:ext>
            </a:extLst>
          </p:cNvPr>
          <p:cNvSpPr txBox="1"/>
          <p:nvPr/>
        </p:nvSpPr>
        <p:spPr>
          <a:xfrm>
            <a:off x="1962150" y="561594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The process</a:t>
            </a:r>
            <a:endParaRPr lang="en-US" sz="1200" dirty="0" err="1">
              <a:solidFill>
                <a:srgbClr val="00599F"/>
              </a:solidFill>
              <a:latin typeface="Segoe UI Semibold" panose="020B0702040204020203" pitchFamily="34" charset="0"/>
            </a:endParaRPr>
          </a:p>
        </p:txBody>
      </p:sp>
      <p:sp>
        <p:nvSpPr>
          <p:cNvPr id="32" name="Text 016 STRONG">
            <a:extLst>
              <a:ext uri="{FF2B5EF4-FFF2-40B4-BE49-F238E27FC236}">
                <a16:creationId xmlns:a16="http://schemas.microsoft.com/office/drawing/2014/main" id="{DE687744-3F26-1211-B203-9B04A1F9AA65}"/>
              </a:ext>
            </a:extLst>
          </p:cNvPr>
          <p:cNvSpPr txBox="1"/>
          <p:nvPr/>
        </p:nvSpPr>
        <p:spPr>
          <a:xfrm>
            <a:off x="624840" y="582168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does not need a named person</a:t>
            </a:r>
            <a:endParaRPr lang="en-US" sz="1200" dirty="0" err="1">
              <a:solidFill>
                <a:srgbClr val="00599F"/>
              </a:solidFill>
              <a:latin typeface="Segoe UI Semibold" panose="020B0702040204020203" pitchFamily="34" charset="0"/>
            </a:endParaRPr>
          </a:p>
        </p:txBody>
      </p:sp>
      <p:sp>
        <p:nvSpPr>
          <p:cNvPr id="33" name="Text 017 STRONG">
            <a:extLst>
              <a:ext uri="{FF2B5EF4-FFF2-40B4-BE49-F238E27FC236}">
                <a16:creationId xmlns:a16="http://schemas.microsoft.com/office/drawing/2014/main" id="{1A63A707-D275-8F8F-0A68-1C59C42D9DAB}"/>
              </a:ext>
            </a:extLst>
          </p:cNvPr>
          <p:cNvSpPr txBox="1"/>
          <p:nvPr/>
        </p:nvSpPr>
        <p:spPr>
          <a:xfrm>
            <a:off x="624840" y="602742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hard-coded into it.</a:t>
            </a:r>
            <a:endParaRPr lang="en-US" sz="1200" dirty="0" err="1">
              <a:solidFill>
                <a:srgbClr val="00599F"/>
              </a:solidFill>
              <a:latin typeface="Segoe UI Semibold" panose="020B0702040204020203" pitchFamily="34" charset="0"/>
            </a:endParaRPr>
          </a:p>
        </p:txBody>
      </p:sp>
    </p:spTree>
    <p:extLst>
      <p:ext uri="{BB962C8B-B14F-4D97-AF65-F5344CB8AC3E}">
        <p14:creationId xmlns:p14="http://schemas.microsoft.com/office/powerpoint/2010/main" val="2235371921"/>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Process-10">
    <p:spTree>
      <p:nvGrpSpPr>
        <p:cNvPr id="1" name=""/>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5DE8DBCC-4E86-E130-59A2-9208D8440AAC}"/>
              </a:ext>
            </a:extLst>
          </p:cNvPr>
          <p:cNvPicPr>
            <a:picLocks/>
          </p:cNvPicPr>
          <p:nvPr/>
        </p:nvPicPr>
        <p:blipFill>
          <a:blip r:embed="rId3"/>
          <a:stretch>
            <a:fillRect/>
          </a:stretch>
        </p:blipFill>
        <p:spPr>
          <a:xfrm>
            <a:off x="0" y="0"/>
            <a:ext cx="12192000" cy="6858000"/>
          </a:xfrm>
          <a:prstGeom prst="rect">
            <a:avLst/>
          </a:prstGeom>
        </p:spPr>
      </p:pic>
      <p:pic>
        <p:nvPicPr>
          <p:cNvPr id="10" name="Product image 3" descr="Business Process Monitoring Agent in Microsoft 365 Copilot explaining that the Namshi order is waiting on an Extracted Order Data Review task, with status, assignee and required role.">
            <a:extLst>
              <a:ext uri="{FF2B5EF4-FFF2-40B4-BE49-F238E27FC236}">
                <a16:creationId xmlns:a16="http://schemas.microsoft.com/office/drawing/2014/main" id="{8E69A964-B844-D865-5FAF-97E7CF202E98}"/>
              </a:ext>
            </a:extLst>
          </p:cNvPr>
          <p:cNvPicPr>
            <a:picLocks/>
          </p:cNvPicPr>
          <p:nvPr/>
        </p:nvPicPr>
        <p:blipFill>
          <a:blip r:embed="rId4"/>
          <a:stretch>
            <a:fillRect/>
          </a:stretch>
        </p:blipFill>
        <p:spPr>
          <a:xfrm>
            <a:off x="3596640" y="597530"/>
            <a:ext cx="8260080" cy="5662939"/>
          </a:xfrm>
          <a:prstGeom prst="rect">
            <a:avLst/>
          </a:prstGeom>
        </p:spPr>
      </p:pic>
      <p:sp>
        <p:nvSpPr>
          <p:cNvPr id="12" name="Text 001 H1">
            <a:extLst>
              <a:ext uri="{FF2B5EF4-FFF2-40B4-BE49-F238E27FC236}">
                <a16:creationId xmlns:a16="http://schemas.microsoft.com/office/drawing/2014/main" id="{942FC878-F840-71A4-F91B-3F613DDDA37C}"/>
              </a:ext>
            </a:extLst>
          </p:cNvPr>
          <p:cNvSpPr txBox="1"/>
          <p:nvPr/>
        </p:nvSpPr>
        <p:spPr>
          <a:xfrm>
            <a:off x="480060" y="457200"/>
            <a:ext cx="65" cy="307777"/>
          </a:xfrm>
          <a:prstGeom prst="rect">
            <a:avLst/>
          </a:prstGeom>
          <a:noFill/>
        </p:spPr>
        <p:txBody>
          <a:bodyPr vert="horz" wrap="none" lIns="0" tIns="0" rIns="0" bIns="0" rtlCol="0" anchor="t">
            <a:noAutofit/>
          </a:bodyPr>
          <a:lstStyle/>
          <a:p>
            <a:r>
              <a:rPr lang="en-US" sz="2040" spc="-48">
                <a:solidFill>
                  <a:srgbClr val="1A1A1A"/>
                </a:solidFill>
                <a:latin typeface="Segoe UI Semibold" panose="020B0702040204020203" pitchFamily="34" charset="0"/>
              </a:rPr>
              <a:t>Ask where work is</a:t>
            </a:r>
            <a:endParaRPr lang="en-US" sz="2040" spc="-48" dirty="0" err="1">
              <a:solidFill>
                <a:srgbClr val="1A1A1A"/>
              </a:solidFill>
              <a:latin typeface="Segoe UI Semibold" panose="020B0702040204020203" pitchFamily="34" charset="0"/>
            </a:endParaRPr>
          </a:p>
        </p:txBody>
      </p:sp>
      <p:sp>
        <p:nvSpPr>
          <p:cNvPr id="16" name="Text 002 H1">
            <a:extLst>
              <a:ext uri="{FF2B5EF4-FFF2-40B4-BE49-F238E27FC236}">
                <a16:creationId xmlns:a16="http://schemas.microsoft.com/office/drawing/2014/main" id="{039DDF8B-5602-AF3D-23E2-AA3C2C753292}"/>
              </a:ext>
            </a:extLst>
          </p:cNvPr>
          <p:cNvSpPr txBox="1"/>
          <p:nvPr/>
        </p:nvSpPr>
        <p:spPr>
          <a:xfrm>
            <a:off x="480060" y="762833"/>
            <a:ext cx="65" cy="307777"/>
          </a:xfrm>
          <a:prstGeom prst="rect">
            <a:avLst/>
          </a:prstGeom>
          <a:noFill/>
        </p:spPr>
        <p:txBody>
          <a:bodyPr vert="horz" wrap="none" lIns="0" tIns="0" rIns="0" bIns="0" rtlCol="0" anchor="t">
            <a:noAutofit/>
          </a:bodyPr>
          <a:lstStyle/>
          <a:p>
            <a:r>
              <a:rPr lang="en-US" sz="2040" spc="-48">
                <a:solidFill>
                  <a:srgbClr val="1A1A1A"/>
                </a:solidFill>
                <a:latin typeface="Segoe UI Semibold" panose="020B0702040204020203" pitchFamily="34" charset="0"/>
              </a:rPr>
              <a:t>stuck</a:t>
            </a:r>
            <a:endParaRPr lang="en-US" sz="2040" spc="-48" dirty="0" err="1">
              <a:solidFill>
                <a:srgbClr val="1A1A1A"/>
              </a:solidFill>
              <a:latin typeface="Segoe UI Semibold" panose="020B0702040204020203" pitchFamily="34" charset="0"/>
            </a:endParaRPr>
          </a:p>
        </p:txBody>
      </p:sp>
      <p:sp>
        <p:nvSpPr>
          <p:cNvPr id="17" name="Text 003 P">
            <a:extLst>
              <a:ext uri="{FF2B5EF4-FFF2-40B4-BE49-F238E27FC236}">
                <a16:creationId xmlns:a16="http://schemas.microsoft.com/office/drawing/2014/main" id="{8724A308-2EFB-02F1-B2E8-F693A0759E82}"/>
              </a:ext>
            </a:extLst>
          </p:cNvPr>
          <p:cNvSpPr txBox="1"/>
          <p:nvPr/>
        </p:nvSpPr>
        <p:spPr>
          <a:xfrm>
            <a:off x="480060" y="1205627"/>
            <a:ext cx="65" cy="307777"/>
          </a:xfrm>
          <a:prstGeom prst="rect">
            <a:avLst/>
          </a:prstGeom>
          <a:noFill/>
        </p:spPr>
        <p:txBody>
          <a:bodyPr vert="horz" wrap="none" lIns="0" tIns="0" rIns="0" bIns="0" rtlCol="0" anchor="t">
            <a:noAutofit/>
          </a:bodyPr>
          <a:lstStyle/>
          <a:p>
            <a:r>
              <a:rPr lang="en-US" sz="1140">
                <a:solidFill>
                  <a:srgbClr val="343B48"/>
                </a:solidFill>
                <a:latin typeface="Segoe UI" panose="020B0502040204020203" pitchFamily="34" charset="0"/>
              </a:rPr>
              <a:t>Conversational process monitoring in</a:t>
            </a:r>
            <a:endParaRPr lang="en-US" sz="1140" dirty="0" err="1">
              <a:solidFill>
                <a:srgbClr val="343B48"/>
              </a:solidFill>
              <a:latin typeface="Segoe UI" panose="020B0502040204020203" pitchFamily="34" charset="0"/>
            </a:endParaRPr>
          </a:p>
        </p:txBody>
      </p:sp>
      <p:sp>
        <p:nvSpPr>
          <p:cNvPr id="18" name="Text 004 P">
            <a:extLst>
              <a:ext uri="{FF2B5EF4-FFF2-40B4-BE49-F238E27FC236}">
                <a16:creationId xmlns:a16="http://schemas.microsoft.com/office/drawing/2014/main" id="{5E12298C-5EF0-DDD1-023D-F5651BF6BE79}"/>
              </a:ext>
            </a:extLst>
          </p:cNvPr>
          <p:cNvSpPr txBox="1"/>
          <p:nvPr/>
        </p:nvSpPr>
        <p:spPr>
          <a:xfrm>
            <a:off x="480060" y="1401008"/>
            <a:ext cx="65" cy="307777"/>
          </a:xfrm>
          <a:prstGeom prst="rect">
            <a:avLst/>
          </a:prstGeom>
          <a:noFill/>
        </p:spPr>
        <p:txBody>
          <a:bodyPr vert="horz" wrap="none" lIns="0" tIns="0" rIns="0" bIns="0" rtlCol="0" anchor="t">
            <a:noAutofit/>
          </a:bodyPr>
          <a:lstStyle/>
          <a:p>
            <a:r>
              <a:rPr lang="en-US" sz="1140">
                <a:solidFill>
                  <a:srgbClr val="343B48"/>
                </a:solidFill>
                <a:latin typeface="Segoe UI" panose="020B0502040204020203" pitchFamily="34" charset="0"/>
              </a:rPr>
              <a:t>Microsoft 365 Copilot</a:t>
            </a:r>
            <a:endParaRPr lang="en-US" sz="1140" dirty="0" err="1">
              <a:solidFill>
                <a:srgbClr val="343B48"/>
              </a:solidFill>
              <a:latin typeface="Segoe UI" panose="020B0502040204020203" pitchFamily="34" charset="0"/>
            </a:endParaRPr>
          </a:p>
        </p:txBody>
      </p:sp>
      <p:sp>
        <p:nvSpPr>
          <p:cNvPr id="19" name="Text 005 SPAN">
            <a:extLst>
              <a:ext uri="{FF2B5EF4-FFF2-40B4-BE49-F238E27FC236}">
                <a16:creationId xmlns:a16="http://schemas.microsoft.com/office/drawing/2014/main" id="{F5BECCD5-F040-A661-1B96-CBEA8420CAA4}"/>
              </a:ext>
            </a:extLst>
          </p:cNvPr>
          <p:cNvSpPr txBox="1"/>
          <p:nvPr/>
        </p:nvSpPr>
        <p:spPr>
          <a:xfrm>
            <a:off x="601980" y="1916430"/>
            <a:ext cx="65" cy="307777"/>
          </a:xfrm>
          <a:prstGeom prst="rect">
            <a:avLst/>
          </a:prstGeom>
          <a:noFill/>
        </p:spPr>
        <p:txBody>
          <a:bodyPr vert="horz" wrap="none" lIns="0" tIns="0" rIns="0" bIns="0" rtlCol="0" anchor="t">
            <a:noAutofit/>
          </a:bodyPr>
          <a:lstStyle/>
          <a:p>
            <a:r>
              <a:rPr lang="en-US" sz="900" spc="60">
                <a:solidFill>
                  <a:srgbClr val="00599F"/>
                </a:solidFill>
                <a:latin typeface="Segoe UI Semibold" panose="020B0702040204020203" pitchFamily="34" charset="0"/>
              </a:rPr>
              <a:t>QUESTION SHOWN</a:t>
            </a:r>
            <a:endParaRPr lang="en-US" sz="900" spc="60" dirty="0" err="1">
              <a:solidFill>
                <a:srgbClr val="00599F"/>
              </a:solidFill>
              <a:latin typeface="Segoe UI Semibold" panose="020B0702040204020203" pitchFamily="34" charset="0"/>
            </a:endParaRPr>
          </a:p>
        </p:txBody>
      </p:sp>
      <p:sp>
        <p:nvSpPr>
          <p:cNvPr id="20" name="Text 006 P">
            <a:extLst>
              <a:ext uri="{FF2B5EF4-FFF2-40B4-BE49-F238E27FC236}">
                <a16:creationId xmlns:a16="http://schemas.microsoft.com/office/drawing/2014/main" id="{79AE15BF-3AF9-7CFE-2236-67A6E08D0787}"/>
              </a:ext>
            </a:extLst>
          </p:cNvPr>
          <p:cNvSpPr txBox="1"/>
          <p:nvPr/>
        </p:nvSpPr>
        <p:spPr>
          <a:xfrm>
            <a:off x="601980" y="2152650"/>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What is holding the Namshi</a:t>
            </a:r>
            <a:endParaRPr lang="en-US" sz="1260" dirty="0" err="1">
              <a:solidFill>
                <a:srgbClr val="1A1A1A"/>
              </a:solidFill>
              <a:latin typeface="Segoe UI" panose="020B0502040204020203" pitchFamily="34" charset="0"/>
            </a:endParaRPr>
          </a:p>
        </p:txBody>
      </p:sp>
      <p:sp>
        <p:nvSpPr>
          <p:cNvPr id="21" name="Text 007 P">
            <a:extLst>
              <a:ext uri="{FF2B5EF4-FFF2-40B4-BE49-F238E27FC236}">
                <a16:creationId xmlns:a16="http://schemas.microsoft.com/office/drawing/2014/main" id="{9F7DAED2-B75A-643B-2334-8C43840A483F}"/>
              </a:ext>
            </a:extLst>
          </p:cNvPr>
          <p:cNvSpPr txBox="1"/>
          <p:nvPr/>
        </p:nvSpPr>
        <p:spPr>
          <a:xfrm>
            <a:off x="601980" y="2360652"/>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order?</a:t>
            </a:r>
            <a:endParaRPr lang="en-US" sz="1260" dirty="0" err="1">
              <a:solidFill>
                <a:srgbClr val="1A1A1A"/>
              </a:solidFill>
              <a:latin typeface="Segoe UI" panose="020B0502040204020203" pitchFamily="34" charset="0"/>
            </a:endParaRPr>
          </a:p>
        </p:txBody>
      </p:sp>
      <p:sp>
        <p:nvSpPr>
          <p:cNvPr id="24" name="Text 008 H2">
            <a:extLst>
              <a:ext uri="{FF2B5EF4-FFF2-40B4-BE49-F238E27FC236}">
                <a16:creationId xmlns:a16="http://schemas.microsoft.com/office/drawing/2014/main" id="{BFE6B1E8-B9B3-197E-21C1-DAE659316767}"/>
              </a:ext>
            </a:extLst>
          </p:cNvPr>
          <p:cNvSpPr txBox="1"/>
          <p:nvPr/>
        </p:nvSpPr>
        <p:spPr>
          <a:xfrm>
            <a:off x="480060" y="2850594"/>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One process history</a:t>
            </a:r>
            <a:endParaRPr lang="en-US" sz="1320" spc="-30" dirty="0" err="1">
              <a:solidFill>
                <a:srgbClr val="00599F"/>
              </a:solidFill>
              <a:latin typeface="Segoe UI Semibold" panose="020B0702040204020203" pitchFamily="34" charset="0"/>
            </a:endParaRPr>
          </a:p>
        </p:txBody>
      </p:sp>
      <p:sp>
        <p:nvSpPr>
          <p:cNvPr id="25" name="Text 009 P">
            <a:extLst>
              <a:ext uri="{FF2B5EF4-FFF2-40B4-BE49-F238E27FC236}">
                <a16:creationId xmlns:a16="http://schemas.microsoft.com/office/drawing/2014/main" id="{41AED3B9-6A05-419E-4B78-0851B875F566}"/>
              </a:ext>
            </a:extLst>
          </p:cNvPr>
          <p:cNvSpPr txBox="1"/>
          <p:nvPr/>
        </p:nvSpPr>
        <p:spPr>
          <a:xfrm>
            <a:off x="480060" y="3128724"/>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Inspect running instances, stuck steps</a:t>
            </a:r>
            <a:endParaRPr lang="en-US" sz="1200" dirty="0" err="1">
              <a:solidFill>
                <a:srgbClr val="1A1A1A"/>
              </a:solidFill>
              <a:latin typeface="Segoe UI" panose="020B0502040204020203" pitchFamily="34" charset="0"/>
            </a:endParaRPr>
          </a:p>
        </p:txBody>
      </p:sp>
      <p:sp>
        <p:nvSpPr>
          <p:cNvPr id="26" name="Text 010 P">
            <a:extLst>
              <a:ext uri="{FF2B5EF4-FFF2-40B4-BE49-F238E27FC236}">
                <a16:creationId xmlns:a16="http://schemas.microsoft.com/office/drawing/2014/main" id="{17C831D6-D836-36AD-5FE8-1F9E1FEB617E}"/>
              </a:ext>
            </a:extLst>
          </p:cNvPr>
          <p:cNvSpPr txBox="1"/>
          <p:nvPr/>
        </p:nvSpPr>
        <p:spPr>
          <a:xfrm>
            <a:off x="480060" y="3334464"/>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and open work.</a:t>
            </a:r>
            <a:endParaRPr lang="en-US" sz="1200" dirty="0" err="1">
              <a:solidFill>
                <a:srgbClr val="1A1A1A"/>
              </a:solidFill>
              <a:latin typeface="Segoe UI" panose="020B0502040204020203" pitchFamily="34" charset="0"/>
            </a:endParaRPr>
          </a:p>
        </p:txBody>
      </p:sp>
      <p:sp>
        <p:nvSpPr>
          <p:cNvPr id="27" name="Text 011 H2">
            <a:extLst>
              <a:ext uri="{FF2B5EF4-FFF2-40B4-BE49-F238E27FC236}">
                <a16:creationId xmlns:a16="http://schemas.microsoft.com/office/drawing/2014/main" id="{2E61DD5C-AC05-FC1A-6CE1-DEF2F81503E8}"/>
              </a:ext>
            </a:extLst>
          </p:cNvPr>
          <p:cNvSpPr txBox="1"/>
          <p:nvPr/>
        </p:nvSpPr>
        <p:spPr>
          <a:xfrm>
            <a:off x="480060" y="3692604"/>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The same API surface</a:t>
            </a:r>
            <a:endParaRPr lang="en-US" sz="1320" spc="-30" dirty="0" err="1">
              <a:solidFill>
                <a:srgbClr val="00599F"/>
              </a:solidFill>
              <a:latin typeface="Segoe UI Semibold" panose="020B0702040204020203" pitchFamily="34" charset="0"/>
            </a:endParaRPr>
          </a:p>
        </p:txBody>
      </p:sp>
      <p:sp>
        <p:nvSpPr>
          <p:cNvPr id="28" name="Text 012 P">
            <a:extLst>
              <a:ext uri="{FF2B5EF4-FFF2-40B4-BE49-F238E27FC236}">
                <a16:creationId xmlns:a16="http://schemas.microsoft.com/office/drawing/2014/main" id="{7FE59794-3671-EF3C-988B-F29B118B8F88}"/>
              </a:ext>
            </a:extLst>
          </p:cNvPr>
          <p:cNvSpPr txBox="1"/>
          <p:nvPr/>
        </p:nvSpPr>
        <p:spPr>
          <a:xfrm>
            <a:off x="480060" y="3970734"/>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Monitoring and the Console share</a:t>
            </a:r>
            <a:endParaRPr lang="en-US" sz="1200" dirty="0" err="1">
              <a:solidFill>
                <a:srgbClr val="1A1A1A"/>
              </a:solidFill>
              <a:latin typeface="Segoe UI" panose="020B0502040204020203" pitchFamily="34" charset="0"/>
            </a:endParaRPr>
          </a:p>
        </p:txBody>
      </p:sp>
      <p:sp>
        <p:nvSpPr>
          <p:cNvPr id="29" name="Text 013 P">
            <a:extLst>
              <a:ext uri="{FF2B5EF4-FFF2-40B4-BE49-F238E27FC236}">
                <a16:creationId xmlns:a16="http://schemas.microsoft.com/office/drawing/2014/main" id="{FB3BE5D9-6E59-0A4C-B023-B9D6BF9F13BC}"/>
              </a:ext>
            </a:extLst>
          </p:cNvPr>
          <p:cNvSpPr txBox="1"/>
          <p:nvPr/>
        </p:nvSpPr>
        <p:spPr>
          <a:xfrm>
            <a:off x="480060" y="4176475"/>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caller-scoped process APIs.</a:t>
            </a:r>
            <a:endParaRPr lang="en-US" sz="1200" dirty="0" err="1">
              <a:solidFill>
                <a:srgbClr val="1A1A1A"/>
              </a:solidFill>
              <a:latin typeface="Segoe UI" panose="020B0502040204020203" pitchFamily="34" charset="0"/>
            </a:endParaRPr>
          </a:p>
        </p:txBody>
      </p:sp>
      <p:sp>
        <p:nvSpPr>
          <p:cNvPr id="30" name="Text 014 DIV">
            <a:extLst>
              <a:ext uri="{FF2B5EF4-FFF2-40B4-BE49-F238E27FC236}">
                <a16:creationId xmlns:a16="http://schemas.microsoft.com/office/drawing/2014/main" id="{139367CB-1FDA-8B0D-4E80-D876C21E3AB3}"/>
              </a:ext>
            </a:extLst>
          </p:cNvPr>
          <p:cNvSpPr txBox="1"/>
          <p:nvPr/>
        </p:nvSpPr>
        <p:spPr>
          <a:xfrm>
            <a:off x="624840" y="561594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Customer value: </a:t>
            </a:r>
            <a:endParaRPr lang="en-US" sz="1200" dirty="0" err="1">
              <a:solidFill>
                <a:srgbClr val="1A1A1A"/>
              </a:solidFill>
              <a:latin typeface="Segoe UI" panose="020B0502040204020203" pitchFamily="34" charset="0"/>
            </a:endParaRPr>
          </a:p>
        </p:txBody>
      </p:sp>
      <p:sp>
        <p:nvSpPr>
          <p:cNvPr id="31" name="Text 015 STRONG">
            <a:extLst>
              <a:ext uri="{FF2B5EF4-FFF2-40B4-BE49-F238E27FC236}">
                <a16:creationId xmlns:a16="http://schemas.microsoft.com/office/drawing/2014/main" id="{5893B11E-A6A3-52A3-DDC7-8063B7D359ED}"/>
              </a:ext>
            </a:extLst>
          </p:cNvPr>
          <p:cNvSpPr txBox="1"/>
          <p:nvPr/>
        </p:nvSpPr>
        <p:spPr>
          <a:xfrm>
            <a:off x="1744980" y="561594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operational</a:t>
            </a:r>
            <a:endParaRPr lang="en-US" sz="1200" dirty="0" err="1">
              <a:solidFill>
                <a:srgbClr val="00599F"/>
              </a:solidFill>
              <a:latin typeface="Segoe UI Semibold" panose="020B0702040204020203" pitchFamily="34" charset="0"/>
            </a:endParaRPr>
          </a:p>
        </p:txBody>
      </p:sp>
      <p:sp>
        <p:nvSpPr>
          <p:cNvPr id="32" name="Text 016 STRONG">
            <a:extLst>
              <a:ext uri="{FF2B5EF4-FFF2-40B4-BE49-F238E27FC236}">
                <a16:creationId xmlns:a16="http://schemas.microsoft.com/office/drawing/2014/main" id="{0526D9E8-B205-B809-4385-33C44558F51E}"/>
              </a:ext>
            </a:extLst>
          </p:cNvPr>
          <p:cNvSpPr txBox="1"/>
          <p:nvPr/>
        </p:nvSpPr>
        <p:spPr>
          <a:xfrm>
            <a:off x="624840" y="582168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visibility without investigating</a:t>
            </a:r>
            <a:endParaRPr lang="en-US" sz="1200" dirty="0" err="1">
              <a:solidFill>
                <a:srgbClr val="00599F"/>
              </a:solidFill>
              <a:latin typeface="Segoe UI Semibold" panose="020B0702040204020203" pitchFamily="34" charset="0"/>
            </a:endParaRPr>
          </a:p>
        </p:txBody>
      </p:sp>
      <p:sp>
        <p:nvSpPr>
          <p:cNvPr id="33" name="Text 017 STRONG">
            <a:extLst>
              <a:ext uri="{FF2B5EF4-FFF2-40B4-BE49-F238E27FC236}">
                <a16:creationId xmlns:a16="http://schemas.microsoft.com/office/drawing/2014/main" id="{25997BC3-D355-E720-F4BF-0E38588F8C86}"/>
              </a:ext>
            </a:extLst>
          </p:cNvPr>
          <p:cNvSpPr txBox="1"/>
          <p:nvPr/>
        </p:nvSpPr>
        <p:spPr>
          <a:xfrm>
            <a:off x="624840" y="602742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individual flow runs.</a:t>
            </a:r>
            <a:endParaRPr lang="en-US" sz="1200" dirty="0" err="1">
              <a:solidFill>
                <a:srgbClr val="00599F"/>
              </a:solidFill>
              <a:latin typeface="Segoe UI Semibold" panose="020B0702040204020203" pitchFamily="34" charset="0"/>
            </a:endParaRPr>
          </a:p>
        </p:txBody>
      </p:sp>
    </p:spTree>
    <p:extLst>
      <p:ext uri="{BB962C8B-B14F-4D97-AF65-F5344CB8AC3E}">
        <p14:creationId xmlns:p14="http://schemas.microsoft.com/office/powerpoint/2010/main" val="2482026341"/>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Process-11">
    <p:spTree>
      <p:nvGrpSpPr>
        <p:cNvPr id="1" name=""/>
        <p:cNvGrpSpPr/>
        <p:nvPr/>
      </p:nvGrpSpPr>
      <p:grpSpPr>
        <a:xfrm>
          <a:off x="0" y="0"/>
          <a:ext cx="0" cy="0"/>
          <a:chOff x="0" y="0"/>
          <a:chExt cx="0" cy="0"/>
        </a:xfrm>
      </p:grpSpPr>
      <p:pic>
        <p:nvPicPr>
          <p:cNvPr id="4" name="Approved visual layer" descr="Decorative card shapes and connectors from the approved HTML layout. Main text is editable in separate text boxes.">
            <a:extLst>
              <a:ext uri="{FF2B5EF4-FFF2-40B4-BE49-F238E27FC236}">
                <a16:creationId xmlns:a16="http://schemas.microsoft.com/office/drawing/2014/main" id="{BCE2A4D8-E7FB-5A22-4FCE-840F5130100B}"/>
              </a:ext>
            </a:extLst>
          </p:cNvPr>
          <p:cNvPicPr>
            <a:picLocks/>
          </p:cNvPicPr>
          <p:nvPr/>
        </p:nvPicPr>
        <p:blipFill>
          <a:blip r:embed="rId3"/>
          <a:stretch>
            <a:fillRect/>
          </a:stretch>
        </p:blipFill>
        <p:spPr>
          <a:xfrm>
            <a:off x="0" y="0"/>
            <a:ext cx="12192000" cy="6858000"/>
          </a:xfrm>
          <a:prstGeom prst="rect">
            <a:avLst/>
          </a:prstGeom>
        </p:spPr>
      </p:pic>
      <p:sp>
        <p:nvSpPr>
          <p:cNvPr id="5" name="Text 001 H1">
            <a:extLst>
              <a:ext uri="{FF2B5EF4-FFF2-40B4-BE49-F238E27FC236}">
                <a16:creationId xmlns:a16="http://schemas.microsoft.com/office/drawing/2014/main" id="{41CFB6C8-9E41-DBB6-D06D-9D514DCBF8AA}"/>
              </a:ext>
            </a:extLst>
          </p:cNvPr>
          <p:cNvSpPr txBox="1"/>
          <p:nvPr/>
        </p:nvSpPr>
        <p:spPr>
          <a:xfrm>
            <a:off x="579120" y="2818686"/>
            <a:ext cx="65" cy="307777"/>
          </a:xfrm>
          <a:prstGeom prst="rect">
            <a:avLst/>
          </a:prstGeom>
          <a:noFill/>
        </p:spPr>
        <p:txBody>
          <a:bodyPr vert="horz" wrap="none" lIns="0" tIns="0" rIns="0" bIns="0" rtlCol="0" anchor="t">
            <a:noAutofit/>
          </a:bodyPr>
          <a:lstStyle/>
          <a:p>
            <a:r>
              <a:rPr lang="en-US" sz="4080" spc="-90">
                <a:solidFill>
                  <a:srgbClr val="FFFFFF"/>
                </a:solidFill>
                <a:latin typeface="Segoe UI Semibold" panose="020B0702040204020203" pitchFamily="34" charset="0"/>
              </a:rPr>
              <a:t>High-Level Solution</a:t>
            </a:r>
            <a:endParaRPr lang="en-US" sz="4080" spc="-90" dirty="0" err="1">
              <a:solidFill>
                <a:srgbClr val="FFFFFF"/>
              </a:solidFill>
              <a:latin typeface="Segoe UI Semibold" panose="020B0702040204020203" pitchFamily="34" charset="0"/>
            </a:endParaRPr>
          </a:p>
        </p:txBody>
      </p:sp>
      <p:sp>
        <p:nvSpPr>
          <p:cNvPr id="6" name="Text 002 H1">
            <a:extLst>
              <a:ext uri="{FF2B5EF4-FFF2-40B4-BE49-F238E27FC236}">
                <a16:creationId xmlns:a16="http://schemas.microsoft.com/office/drawing/2014/main" id="{03E80CB5-4E69-EBA5-CCB0-34B0E0970313}"/>
              </a:ext>
            </a:extLst>
          </p:cNvPr>
          <p:cNvSpPr txBox="1"/>
          <p:nvPr/>
        </p:nvSpPr>
        <p:spPr>
          <a:xfrm>
            <a:off x="579120" y="3440430"/>
            <a:ext cx="65" cy="307777"/>
          </a:xfrm>
          <a:prstGeom prst="rect">
            <a:avLst/>
          </a:prstGeom>
          <a:noFill/>
        </p:spPr>
        <p:txBody>
          <a:bodyPr vert="horz" wrap="none" lIns="0" tIns="0" rIns="0" bIns="0" rtlCol="0" anchor="t">
            <a:noAutofit/>
          </a:bodyPr>
          <a:lstStyle/>
          <a:p>
            <a:r>
              <a:rPr lang="en-US" sz="4080" spc="-90">
                <a:solidFill>
                  <a:srgbClr val="FFFFFF"/>
                </a:solidFill>
                <a:latin typeface="Segoe UI Semibold" panose="020B0702040204020203" pitchFamily="34" charset="0"/>
              </a:rPr>
              <a:t>&amp; Reusable Core</a:t>
            </a:r>
            <a:endParaRPr lang="en-US" sz="4080" spc="-90" dirty="0" err="1">
              <a:solidFill>
                <a:srgbClr val="FFFFFF"/>
              </a:solidFill>
              <a:latin typeface="Segoe UI Semibold" panose="020B0702040204020203" pitchFamily="34" charset="0"/>
            </a:endParaRPr>
          </a:p>
        </p:txBody>
      </p:sp>
    </p:spTree>
    <p:extLst>
      <p:ext uri="{BB962C8B-B14F-4D97-AF65-F5344CB8AC3E}">
        <p14:creationId xmlns:p14="http://schemas.microsoft.com/office/powerpoint/2010/main" val="109502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Process-12">
    <p:spTree>
      <p:nvGrpSpPr>
        <p:cNvPr id="1" name=""/>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1E721D75-8399-44D4-772F-7E851F411642}"/>
              </a:ext>
            </a:extLst>
          </p:cNvPr>
          <p:cNvPicPr>
            <a:picLocks/>
          </p:cNvPicPr>
          <p:nvPr/>
        </p:nvPicPr>
        <p:blipFill>
          <a:blip r:embed="rId3"/>
          <a:stretch>
            <a:fillRect/>
          </a:stretch>
        </p:blipFill>
        <p:spPr>
          <a:xfrm>
            <a:off x="0" y="0"/>
            <a:ext cx="12192000" cy="6858000"/>
          </a:xfrm>
          <a:prstGeom prst="rect">
            <a:avLst/>
          </a:prstGeom>
        </p:spPr>
      </p:pic>
      <p:pic>
        <p:nvPicPr>
          <p:cNvPr id="10" name="Product image 3" descr="Order Processing architecture showing email intake, Copilot Studio agents and workflows, human review in the Workflow Console, Teams notifications, Dataverse process state and API, and SAP payload generation without posting.">
            <a:extLst>
              <a:ext uri="{FF2B5EF4-FFF2-40B4-BE49-F238E27FC236}">
                <a16:creationId xmlns:a16="http://schemas.microsoft.com/office/drawing/2014/main" id="{BF29E0C1-3643-D543-C991-B1B3F93F6CCE}"/>
              </a:ext>
            </a:extLst>
          </p:cNvPr>
          <p:cNvPicPr>
            <a:picLocks/>
          </p:cNvPicPr>
          <p:nvPr/>
        </p:nvPicPr>
        <p:blipFill>
          <a:blip r:embed="rId4"/>
          <a:stretch>
            <a:fillRect/>
          </a:stretch>
        </p:blipFill>
        <p:spPr>
          <a:xfrm>
            <a:off x="2474292" y="664369"/>
            <a:ext cx="7243417" cy="5949791"/>
          </a:xfrm>
          <a:prstGeom prst="rect">
            <a:avLst/>
          </a:prstGeom>
        </p:spPr>
      </p:pic>
      <p:sp>
        <p:nvSpPr>
          <p:cNvPr id="12" name="Text 001 H1">
            <a:extLst>
              <a:ext uri="{FF2B5EF4-FFF2-40B4-BE49-F238E27FC236}">
                <a16:creationId xmlns:a16="http://schemas.microsoft.com/office/drawing/2014/main" id="{763953F4-F133-A3FC-9EAE-3C50BD440F13}"/>
              </a:ext>
            </a:extLst>
          </p:cNvPr>
          <p:cNvSpPr txBox="1"/>
          <p:nvPr/>
        </p:nvSpPr>
        <p:spPr>
          <a:xfrm>
            <a:off x="274320" y="160020"/>
            <a:ext cx="65" cy="307777"/>
          </a:xfrm>
          <a:prstGeom prst="rect">
            <a:avLst/>
          </a:prstGeom>
          <a:noFill/>
        </p:spPr>
        <p:txBody>
          <a:bodyPr vert="horz" wrap="none" lIns="0" tIns="0" rIns="0" bIns="0" rtlCol="0" anchor="t">
            <a:noAutofit/>
          </a:bodyPr>
          <a:lstStyle/>
          <a:p>
            <a:r>
              <a:rPr lang="en-US" sz="2160" spc="-72">
                <a:solidFill>
                  <a:srgbClr val="FFFFFF"/>
                </a:solidFill>
                <a:latin typeface="Segoe UI Semibold" panose="020B0702040204020203" pitchFamily="34" charset="0"/>
              </a:rPr>
              <a:t>Agentic Order Intake Processing - High-Level Solution</a:t>
            </a:r>
            <a:endParaRPr lang="en-US" sz="2160" spc="-72" dirty="0" err="1">
              <a:solidFill>
                <a:srgbClr val="FFFFFF"/>
              </a:solidFill>
              <a:latin typeface="Segoe UI Semibold" panose="020B0702040204020203" pitchFamily="34" charset="0"/>
            </a:endParaRPr>
          </a:p>
        </p:txBody>
      </p:sp>
    </p:spTree>
    <p:extLst>
      <p:ext uri="{BB962C8B-B14F-4D97-AF65-F5344CB8AC3E}">
        <p14:creationId xmlns:p14="http://schemas.microsoft.com/office/powerpoint/2010/main" val="65691109"/>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Process-13">
    <p:spTree>
      <p:nvGrpSpPr>
        <p:cNvPr id="1" name="">
          <a:extLst>
            <a:ext uri="{FF2B5EF4-FFF2-40B4-BE49-F238E27FC236}">
              <a16:creationId xmlns:a16="http://schemas.microsoft.com/office/drawing/2014/main" id="{45E204F7-B12F-72AC-C9AA-76598E84CC14}"/>
            </a:ext>
          </a:extLst>
        </p:cNvPr>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B1CB1AAC-5A90-CD8E-0FAF-317B24CA7C04}"/>
              </a:ext>
            </a:extLst>
          </p:cNvPr>
          <p:cNvPicPr>
            <a:picLocks/>
          </p:cNvPicPr>
          <p:nvPr/>
        </p:nvPicPr>
        <p:blipFill>
          <a:blip r:embed="rId3"/>
          <a:stretch>
            <a:fillRect/>
          </a:stretch>
        </p:blipFill>
        <p:spPr>
          <a:xfrm>
            <a:off x="0" y="0"/>
            <a:ext cx="12192000" cy="6858000"/>
          </a:xfrm>
          <a:prstGeom prst="rect">
            <a:avLst/>
          </a:prstGeom>
        </p:spPr>
      </p:pic>
      <p:sp>
        <p:nvSpPr>
          <p:cNvPr id="8" name="Text 001 SPAN">
            <a:extLst>
              <a:ext uri="{FF2B5EF4-FFF2-40B4-BE49-F238E27FC236}">
                <a16:creationId xmlns:a16="http://schemas.microsoft.com/office/drawing/2014/main" id="{23979D43-064D-5A60-8DC3-2AF30BD4A7EB}"/>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03 / HIGH-LEVEL SOLUTION</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4301ABBF-A51B-8A32-2CAD-48FCC2DCFBD0}"/>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72">
                <a:solidFill>
                  <a:srgbClr val="1A1A1A"/>
                </a:solidFill>
                <a:latin typeface="Segoe UI Semibold" panose="020B0702040204020203" pitchFamily="34" charset="0"/>
              </a:rPr>
              <a:t>How the solution fits together</a:t>
            </a:r>
            <a:endParaRPr lang="en-US" sz="2880" spc="-72" dirty="0" err="1">
              <a:solidFill>
                <a:srgbClr val="1A1A1A"/>
              </a:solidFill>
              <a:latin typeface="Segoe UI Semibold" panose="020B0702040204020203" pitchFamily="34" charset="0"/>
            </a:endParaRPr>
          </a:p>
        </p:txBody>
      </p:sp>
      <p:sp>
        <p:nvSpPr>
          <p:cNvPr id="10" name="Text 003 P">
            <a:extLst>
              <a:ext uri="{FF2B5EF4-FFF2-40B4-BE49-F238E27FC236}">
                <a16:creationId xmlns:a16="http://schemas.microsoft.com/office/drawing/2014/main" id="{38A18CB7-59A3-531D-5043-17426ECBE03E}"/>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a:solidFill>
                  <a:srgbClr val="343B48"/>
                </a:solidFill>
                <a:latin typeface="Segoe UI" panose="020B0502040204020203" pitchFamily="34" charset="0"/>
              </a:rPr>
              <a:t>A shared process foundation; separate, business-specific execution.</a:t>
            </a:r>
            <a:endParaRPr lang="en-US" sz="1500" dirty="0" err="1">
              <a:solidFill>
                <a:srgbClr val="343B48"/>
              </a:solidFill>
              <a:latin typeface="Segoe UI" panose="020B0502040204020203" pitchFamily="34" charset="0"/>
            </a:endParaRPr>
          </a:p>
        </p:txBody>
      </p:sp>
      <p:sp>
        <p:nvSpPr>
          <p:cNvPr id="11" name="Text 004 DIV">
            <a:extLst>
              <a:ext uri="{FF2B5EF4-FFF2-40B4-BE49-F238E27FC236}">
                <a16:creationId xmlns:a16="http://schemas.microsoft.com/office/drawing/2014/main" id="{BC9F60EF-5640-FA9E-F12E-0BACC590F5D3}"/>
              </a:ext>
            </a:extLst>
          </p:cNvPr>
          <p:cNvSpPr txBox="1"/>
          <p:nvPr/>
        </p:nvSpPr>
        <p:spPr>
          <a:xfrm>
            <a:off x="2702481" y="1866900"/>
            <a:ext cx="65" cy="307777"/>
          </a:xfrm>
          <a:prstGeom prst="rect">
            <a:avLst/>
          </a:prstGeom>
          <a:noFill/>
        </p:spPr>
        <p:txBody>
          <a:bodyPr vert="horz" wrap="none" lIns="0" tIns="0" rIns="0" bIns="0" rtlCol="0" anchor="t">
            <a:noAutofit/>
          </a:bodyPr>
          <a:lstStyle/>
          <a:p>
            <a:r>
              <a:rPr lang="en-US" sz="960" spc="90">
                <a:solidFill>
                  <a:srgbClr val="FFFFFF"/>
                </a:solidFill>
                <a:latin typeface="Segoe UI Semibold" panose="020B0702040204020203" pitchFamily="34" charset="0"/>
              </a:rPr>
              <a:t>REUSABLE BUSINESS PROCESS SOLUTION</a:t>
            </a:r>
            <a:endParaRPr lang="en-US" sz="960" spc="90" dirty="0" err="1">
              <a:solidFill>
                <a:srgbClr val="FFFFFF"/>
              </a:solidFill>
              <a:latin typeface="Segoe UI Semibold" panose="020B0702040204020203" pitchFamily="34" charset="0"/>
            </a:endParaRPr>
          </a:p>
        </p:txBody>
      </p:sp>
      <p:sp>
        <p:nvSpPr>
          <p:cNvPr id="12" name="Text 005 SPAN">
            <a:extLst>
              <a:ext uri="{FF2B5EF4-FFF2-40B4-BE49-F238E27FC236}">
                <a16:creationId xmlns:a16="http://schemas.microsoft.com/office/drawing/2014/main" id="{B63C93D9-16FB-F0BB-3F68-B80892532C96}"/>
              </a:ext>
            </a:extLst>
          </p:cNvPr>
          <p:cNvSpPr txBox="1"/>
          <p:nvPr/>
        </p:nvSpPr>
        <p:spPr>
          <a:xfrm>
            <a:off x="1609844" y="2156460"/>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Reviewers &amp; approvers</a:t>
            </a:r>
            <a:endParaRPr lang="en-US" sz="1200" dirty="0" err="1">
              <a:solidFill>
                <a:srgbClr val="343B48"/>
              </a:solidFill>
              <a:latin typeface="Segoe UI" panose="020B0502040204020203" pitchFamily="34" charset="0"/>
            </a:endParaRPr>
          </a:p>
        </p:txBody>
      </p:sp>
      <p:sp>
        <p:nvSpPr>
          <p:cNvPr id="13" name="Text 006 SPAN">
            <a:extLst>
              <a:ext uri="{FF2B5EF4-FFF2-40B4-BE49-F238E27FC236}">
                <a16:creationId xmlns:a16="http://schemas.microsoft.com/office/drawing/2014/main" id="{DC2C40DF-1873-980A-7456-34FAF3C4601D}"/>
              </a:ext>
            </a:extLst>
          </p:cNvPr>
          <p:cNvSpPr txBox="1"/>
          <p:nvPr/>
        </p:nvSpPr>
        <p:spPr>
          <a:xfrm>
            <a:off x="5082778" y="2156460"/>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Operations / Teams</a:t>
            </a:r>
            <a:endParaRPr lang="en-US" sz="1200" dirty="0" err="1">
              <a:solidFill>
                <a:srgbClr val="343B48"/>
              </a:solidFill>
              <a:latin typeface="Segoe UI" panose="020B0502040204020203" pitchFamily="34" charset="0"/>
            </a:endParaRPr>
          </a:p>
        </p:txBody>
      </p:sp>
      <p:sp>
        <p:nvSpPr>
          <p:cNvPr id="14" name="Text 007 H2">
            <a:extLst>
              <a:ext uri="{FF2B5EF4-FFF2-40B4-BE49-F238E27FC236}">
                <a16:creationId xmlns:a16="http://schemas.microsoft.com/office/drawing/2014/main" id="{298059A2-7F94-0232-073D-939C5A8C2EC4}"/>
              </a:ext>
            </a:extLst>
          </p:cNvPr>
          <p:cNvSpPr txBox="1"/>
          <p:nvPr/>
        </p:nvSpPr>
        <p:spPr>
          <a:xfrm>
            <a:off x="1556742" y="2522220"/>
            <a:ext cx="65" cy="307777"/>
          </a:xfrm>
          <a:prstGeom prst="rect">
            <a:avLst/>
          </a:prstGeom>
          <a:noFill/>
        </p:spPr>
        <p:txBody>
          <a:bodyPr vert="horz" wrap="none" lIns="0" tIns="0" rIns="0" bIns="0" rtlCol="0" anchor="t">
            <a:noAutofit/>
          </a:bodyPr>
          <a:lstStyle/>
          <a:p>
            <a:r>
              <a:rPr lang="en-US" sz="1620" spc="-30">
                <a:solidFill>
                  <a:srgbClr val="1A1A1A"/>
                </a:solidFill>
                <a:latin typeface="Segoe UI Semibold" panose="020B0702040204020203" pitchFamily="34" charset="0"/>
              </a:rPr>
              <a:t>Workflow Console</a:t>
            </a:r>
            <a:endParaRPr lang="en-US" sz="1620" spc="-30" dirty="0" err="1">
              <a:solidFill>
                <a:srgbClr val="1A1A1A"/>
              </a:solidFill>
              <a:latin typeface="Segoe UI Semibold" panose="020B0702040204020203" pitchFamily="34" charset="0"/>
            </a:endParaRPr>
          </a:p>
        </p:txBody>
      </p:sp>
      <p:sp>
        <p:nvSpPr>
          <p:cNvPr id="15" name="Text 008 P">
            <a:extLst>
              <a:ext uri="{FF2B5EF4-FFF2-40B4-BE49-F238E27FC236}">
                <a16:creationId xmlns:a16="http://schemas.microsoft.com/office/drawing/2014/main" id="{C5E27980-A349-664F-7EA3-8C92C272945E}"/>
              </a:ext>
            </a:extLst>
          </p:cNvPr>
          <p:cNvSpPr txBox="1"/>
          <p:nvPr/>
        </p:nvSpPr>
        <p:spPr>
          <a:xfrm>
            <a:off x="1285161" y="2846427"/>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Queue + tailored review widgets</a:t>
            </a:r>
            <a:endParaRPr lang="en-US" sz="1200" dirty="0" err="1">
              <a:solidFill>
                <a:srgbClr val="343B48"/>
              </a:solidFill>
              <a:latin typeface="Segoe UI" panose="020B0502040204020203" pitchFamily="34" charset="0"/>
            </a:endParaRPr>
          </a:p>
        </p:txBody>
      </p:sp>
      <p:sp>
        <p:nvSpPr>
          <p:cNvPr id="16" name="Text 009 H2">
            <a:extLst>
              <a:ext uri="{FF2B5EF4-FFF2-40B4-BE49-F238E27FC236}">
                <a16:creationId xmlns:a16="http://schemas.microsoft.com/office/drawing/2014/main" id="{DA4958E4-8020-7332-4F0E-5518D46902F2}"/>
              </a:ext>
            </a:extLst>
          </p:cNvPr>
          <p:cNvSpPr txBox="1"/>
          <p:nvPr/>
        </p:nvSpPr>
        <p:spPr>
          <a:xfrm>
            <a:off x="4925973" y="2522220"/>
            <a:ext cx="65" cy="307777"/>
          </a:xfrm>
          <a:prstGeom prst="rect">
            <a:avLst/>
          </a:prstGeom>
          <a:noFill/>
        </p:spPr>
        <p:txBody>
          <a:bodyPr vert="horz" wrap="none" lIns="0" tIns="0" rIns="0" bIns="0" rtlCol="0" anchor="t">
            <a:noAutofit/>
          </a:bodyPr>
          <a:lstStyle/>
          <a:p>
            <a:r>
              <a:rPr lang="en-US" sz="1620" spc="-30">
                <a:solidFill>
                  <a:srgbClr val="1A1A1A"/>
                </a:solidFill>
                <a:latin typeface="Segoe UI Semibold" panose="020B0702040204020203" pitchFamily="34" charset="0"/>
              </a:rPr>
              <a:t>Monitoring Agent</a:t>
            </a:r>
            <a:endParaRPr lang="en-US" sz="1620" spc="-30" dirty="0" err="1">
              <a:solidFill>
                <a:srgbClr val="1A1A1A"/>
              </a:solidFill>
              <a:latin typeface="Segoe UI Semibold" panose="020B0702040204020203" pitchFamily="34" charset="0"/>
            </a:endParaRPr>
          </a:p>
        </p:txBody>
      </p:sp>
      <p:sp>
        <p:nvSpPr>
          <p:cNvPr id="17" name="Text 010 P">
            <a:extLst>
              <a:ext uri="{FF2B5EF4-FFF2-40B4-BE49-F238E27FC236}">
                <a16:creationId xmlns:a16="http://schemas.microsoft.com/office/drawing/2014/main" id="{04B9402D-25B8-B711-EF1B-3444AAC7D4C7}"/>
              </a:ext>
            </a:extLst>
          </p:cNvPr>
          <p:cNvSpPr txBox="1"/>
          <p:nvPr/>
        </p:nvSpPr>
        <p:spPr>
          <a:xfrm>
            <a:off x="4686657" y="2846427"/>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Conversational process enquiry</a:t>
            </a:r>
            <a:endParaRPr lang="en-US" sz="1200" dirty="0" err="1">
              <a:solidFill>
                <a:srgbClr val="343B48"/>
              </a:solidFill>
              <a:latin typeface="Segoe UI" panose="020B0502040204020203" pitchFamily="34" charset="0"/>
            </a:endParaRPr>
          </a:p>
        </p:txBody>
      </p:sp>
      <p:sp>
        <p:nvSpPr>
          <p:cNvPr id="18" name="Text 011 DIV">
            <a:extLst>
              <a:ext uri="{FF2B5EF4-FFF2-40B4-BE49-F238E27FC236}">
                <a16:creationId xmlns:a16="http://schemas.microsoft.com/office/drawing/2014/main" id="{33FA6697-A5A9-53B5-DD48-08356677956C}"/>
              </a:ext>
            </a:extLst>
          </p:cNvPr>
          <p:cNvSpPr txBox="1"/>
          <p:nvPr/>
        </p:nvSpPr>
        <p:spPr>
          <a:xfrm>
            <a:off x="2916674" y="3183136"/>
            <a:ext cx="65" cy="307777"/>
          </a:xfrm>
          <a:prstGeom prst="rect">
            <a:avLst/>
          </a:prstGeom>
          <a:noFill/>
        </p:spPr>
        <p:txBody>
          <a:bodyPr vert="horz" wrap="none" lIns="0" tIns="0" rIns="0" bIns="0" rtlCol="0" anchor="t">
            <a:noAutofit/>
          </a:bodyPr>
          <a:lstStyle/>
          <a:p>
            <a:r>
              <a:rPr lang="en-US" sz="1080" spc="-5">
                <a:solidFill>
                  <a:srgbClr val="453793"/>
                </a:solidFill>
                <a:latin typeface="Segoe UI" panose="020B0502040204020203" pitchFamily="34" charset="0"/>
              </a:rPr>
              <a:t>↓ Task operations and process queries</a:t>
            </a:r>
            <a:endParaRPr lang="en-US" sz="1080" spc="-5" dirty="0" err="1">
              <a:solidFill>
                <a:srgbClr val="453793"/>
              </a:solidFill>
              <a:latin typeface="Segoe UI" panose="020B0502040204020203" pitchFamily="34" charset="0"/>
            </a:endParaRPr>
          </a:p>
        </p:txBody>
      </p:sp>
      <p:sp>
        <p:nvSpPr>
          <p:cNvPr id="19" name="Text 012 H2">
            <a:extLst>
              <a:ext uri="{FF2B5EF4-FFF2-40B4-BE49-F238E27FC236}">
                <a16:creationId xmlns:a16="http://schemas.microsoft.com/office/drawing/2014/main" id="{176325C9-E299-7DAF-CD68-BF7F70F65931}"/>
              </a:ext>
            </a:extLst>
          </p:cNvPr>
          <p:cNvSpPr txBox="1"/>
          <p:nvPr/>
        </p:nvSpPr>
        <p:spPr>
          <a:xfrm>
            <a:off x="3132177" y="3487936"/>
            <a:ext cx="65" cy="307777"/>
          </a:xfrm>
          <a:prstGeom prst="rect">
            <a:avLst/>
          </a:prstGeom>
          <a:noFill/>
        </p:spPr>
        <p:txBody>
          <a:bodyPr vert="horz" wrap="none" lIns="0" tIns="0" rIns="0" bIns="0" rtlCol="0" anchor="t">
            <a:noAutofit/>
          </a:bodyPr>
          <a:lstStyle/>
          <a:p>
            <a:r>
              <a:rPr lang="en-US" sz="1620" spc="-30">
                <a:solidFill>
                  <a:srgbClr val="1A1A1A"/>
                </a:solidFill>
                <a:latin typeface="Segoe UI Semibold" panose="020B0702040204020203" pitchFamily="34" charset="0"/>
              </a:rPr>
              <a:t>Business Process API</a:t>
            </a:r>
            <a:endParaRPr lang="en-US" sz="1620" spc="-30" dirty="0" err="1">
              <a:solidFill>
                <a:srgbClr val="1A1A1A"/>
              </a:solidFill>
              <a:latin typeface="Segoe UI Semibold" panose="020B0702040204020203" pitchFamily="34" charset="0"/>
            </a:endParaRPr>
          </a:p>
        </p:txBody>
      </p:sp>
      <p:sp>
        <p:nvSpPr>
          <p:cNvPr id="20" name="Text 013 P">
            <a:extLst>
              <a:ext uri="{FF2B5EF4-FFF2-40B4-BE49-F238E27FC236}">
                <a16:creationId xmlns:a16="http://schemas.microsoft.com/office/drawing/2014/main" id="{41689767-6469-4CDD-FFFD-E50E9FD7BEC9}"/>
              </a:ext>
            </a:extLst>
          </p:cNvPr>
          <p:cNvSpPr txBox="1"/>
          <p:nvPr/>
        </p:nvSpPr>
        <p:spPr>
          <a:xfrm>
            <a:off x="2087523" y="3812143"/>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Caller-scoped reads / claim / start / transactional complete</a:t>
            </a:r>
            <a:endParaRPr lang="en-US" sz="1200" dirty="0" err="1">
              <a:solidFill>
                <a:srgbClr val="343B48"/>
              </a:solidFill>
              <a:latin typeface="Segoe UI" panose="020B0502040204020203" pitchFamily="34" charset="0"/>
            </a:endParaRPr>
          </a:p>
        </p:txBody>
      </p:sp>
      <p:sp>
        <p:nvSpPr>
          <p:cNvPr id="21" name="Text 014 DIV">
            <a:extLst>
              <a:ext uri="{FF2B5EF4-FFF2-40B4-BE49-F238E27FC236}">
                <a16:creationId xmlns:a16="http://schemas.microsoft.com/office/drawing/2014/main" id="{53924898-8908-7542-4A86-67BA7234ADB7}"/>
              </a:ext>
            </a:extLst>
          </p:cNvPr>
          <p:cNvSpPr txBox="1"/>
          <p:nvPr/>
        </p:nvSpPr>
        <p:spPr>
          <a:xfrm>
            <a:off x="3525560" y="4148852"/>
            <a:ext cx="65" cy="307777"/>
          </a:xfrm>
          <a:prstGeom prst="rect">
            <a:avLst/>
          </a:prstGeom>
          <a:noFill/>
        </p:spPr>
        <p:txBody>
          <a:bodyPr vert="horz" wrap="none" lIns="0" tIns="0" rIns="0" bIns="0" rtlCol="0" anchor="t">
            <a:noAutofit/>
          </a:bodyPr>
          <a:lstStyle/>
          <a:p>
            <a:r>
              <a:rPr lang="en-US" sz="1080">
                <a:solidFill>
                  <a:srgbClr val="453793"/>
                </a:solidFill>
                <a:latin typeface="Segoe UI" panose="020B0502040204020203" pitchFamily="34" charset="0"/>
              </a:rPr>
              <a:t>↓ Persist and read</a:t>
            </a:r>
            <a:endParaRPr lang="en-US" sz="1080" dirty="0" err="1">
              <a:solidFill>
                <a:srgbClr val="453793"/>
              </a:solidFill>
              <a:latin typeface="Segoe UI" panose="020B0502040204020203" pitchFamily="34" charset="0"/>
            </a:endParaRPr>
          </a:p>
        </p:txBody>
      </p:sp>
      <p:sp>
        <p:nvSpPr>
          <p:cNvPr id="22" name="Text 015 H2">
            <a:extLst>
              <a:ext uri="{FF2B5EF4-FFF2-40B4-BE49-F238E27FC236}">
                <a16:creationId xmlns:a16="http://schemas.microsoft.com/office/drawing/2014/main" id="{0B40DF4E-3C0D-FCF3-04F8-3A67CCEB57EE}"/>
              </a:ext>
            </a:extLst>
          </p:cNvPr>
          <p:cNvSpPr txBox="1"/>
          <p:nvPr/>
        </p:nvSpPr>
        <p:spPr>
          <a:xfrm>
            <a:off x="3003352" y="4453652"/>
            <a:ext cx="65" cy="307777"/>
          </a:xfrm>
          <a:prstGeom prst="rect">
            <a:avLst/>
          </a:prstGeom>
          <a:noFill/>
        </p:spPr>
        <p:txBody>
          <a:bodyPr vert="horz" wrap="none" lIns="0" tIns="0" rIns="0" bIns="0" rtlCol="0" anchor="t">
            <a:noAutofit/>
          </a:bodyPr>
          <a:lstStyle/>
          <a:p>
            <a:r>
              <a:rPr lang="en-US" sz="1620" spc="-30">
                <a:solidFill>
                  <a:srgbClr val="1A1A1A"/>
                </a:solidFill>
                <a:latin typeface="Segoe UI Semibold" panose="020B0702040204020203" pitchFamily="34" charset="0"/>
              </a:rPr>
              <a:t>Dataverse process state</a:t>
            </a:r>
            <a:endParaRPr lang="en-US" sz="1620" spc="-30" dirty="0" err="1">
              <a:solidFill>
                <a:srgbClr val="1A1A1A"/>
              </a:solidFill>
              <a:latin typeface="Segoe UI Semibold" panose="020B0702040204020203" pitchFamily="34" charset="0"/>
            </a:endParaRPr>
          </a:p>
        </p:txBody>
      </p:sp>
      <p:sp>
        <p:nvSpPr>
          <p:cNvPr id="23" name="Text 016 P">
            <a:extLst>
              <a:ext uri="{FF2B5EF4-FFF2-40B4-BE49-F238E27FC236}">
                <a16:creationId xmlns:a16="http://schemas.microsoft.com/office/drawing/2014/main" id="{DC1C7695-F96B-B361-5C74-3952D151C95C}"/>
              </a:ext>
            </a:extLst>
          </p:cNvPr>
          <p:cNvSpPr txBox="1"/>
          <p:nvPr/>
        </p:nvSpPr>
        <p:spPr>
          <a:xfrm>
            <a:off x="1988820" y="4777859"/>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Instances / steps / tasks / attachments / artifacts / data values</a:t>
            </a:r>
            <a:endParaRPr lang="en-US" sz="1200" dirty="0" err="1">
              <a:solidFill>
                <a:srgbClr val="343B48"/>
              </a:solidFill>
              <a:latin typeface="Segoe UI" panose="020B0502040204020203" pitchFamily="34" charset="0"/>
            </a:endParaRPr>
          </a:p>
        </p:txBody>
      </p:sp>
      <p:sp>
        <p:nvSpPr>
          <p:cNvPr id="24" name="Text 017 DIV">
            <a:extLst>
              <a:ext uri="{FF2B5EF4-FFF2-40B4-BE49-F238E27FC236}">
                <a16:creationId xmlns:a16="http://schemas.microsoft.com/office/drawing/2014/main" id="{611B582F-D4F3-B8C4-9CE4-A67944FDA27B}"/>
              </a:ext>
            </a:extLst>
          </p:cNvPr>
          <p:cNvSpPr txBox="1"/>
          <p:nvPr/>
        </p:nvSpPr>
        <p:spPr>
          <a:xfrm>
            <a:off x="8649771" y="1866900"/>
            <a:ext cx="65" cy="307777"/>
          </a:xfrm>
          <a:prstGeom prst="rect">
            <a:avLst/>
          </a:prstGeom>
          <a:noFill/>
        </p:spPr>
        <p:txBody>
          <a:bodyPr vert="horz" wrap="none" lIns="0" tIns="0" rIns="0" bIns="0" rtlCol="0" anchor="t">
            <a:noAutofit/>
          </a:bodyPr>
          <a:lstStyle/>
          <a:p>
            <a:r>
              <a:rPr lang="en-US" sz="960" spc="90">
                <a:solidFill>
                  <a:srgbClr val="FFFFFF"/>
                </a:solidFill>
                <a:latin typeface="Segoe UI Semibold" panose="020B0702040204020203" pitchFamily="34" charset="0"/>
              </a:rPr>
              <a:t>ORDER PROCESSING SOLUTION</a:t>
            </a:r>
            <a:endParaRPr lang="en-US" sz="960" spc="90" dirty="0" err="1">
              <a:solidFill>
                <a:srgbClr val="FFFFFF"/>
              </a:solidFill>
              <a:latin typeface="Segoe UI Semibold" panose="020B0702040204020203" pitchFamily="34" charset="0"/>
            </a:endParaRPr>
          </a:p>
        </p:txBody>
      </p:sp>
      <p:sp>
        <p:nvSpPr>
          <p:cNvPr id="25" name="Text 018 H2">
            <a:extLst>
              <a:ext uri="{FF2B5EF4-FFF2-40B4-BE49-F238E27FC236}">
                <a16:creationId xmlns:a16="http://schemas.microsoft.com/office/drawing/2014/main" id="{923F6AD3-47D1-6808-98B6-1A55B3F6FD70}"/>
              </a:ext>
            </a:extLst>
          </p:cNvPr>
          <p:cNvSpPr txBox="1"/>
          <p:nvPr/>
        </p:nvSpPr>
        <p:spPr>
          <a:xfrm>
            <a:off x="8838962" y="2225040"/>
            <a:ext cx="65" cy="307777"/>
          </a:xfrm>
          <a:prstGeom prst="rect">
            <a:avLst/>
          </a:prstGeom>
          <a:noFill/>
        </p:spPr>
        <p:txBody>
          <a:bodyPr vert="horz" wrap="none" lIns="0" tIns="0" rIns="0" bIns="0" rtlCol="0" anchor="t">
            <a:noAutofit/>
          </a:bodyPr>
          <a:lstStyle/>
          <a:p>
            <a:r>
              <a:rPr lang="en-US" sz="1620" spc="-30">
                <a:solidFill>
                  <a:srgbClr val="1A1A1A"/>
                </a:solidFill>
                <a:latin typeface="Segoe UI Semibold" panose="020B0702040204020203" pitchFamily="34" charset="0"/>
              </a:rPr>
              <a:t>Domain workflows</a:t>
            </a:r>
            <a:endParaRPr lang="en-US" sz="1620" spc="-30" dirty="0" err="1">
              <a:solidFill>
                <a:srgbClr val="1A1A1A"/>
              </a:solidFill>
              <a:latin typeface="Segoe UI Semibold" panose="020B0702040204020203" pitchFamily="34" charset="0"/>
            </a:endParaRPr>
          </a:p>
        </p:txBody>
      </p:sp>
      <p:sp>
        <p:nvSpPr>
          <p:cNvPr id="26" name="Text 019 P">
            <a:extLst>
              <a:ext uri="{FF2B5EF4-FFF2-40B4-BE49-F238E27FC236}">
                <a16:creationId xmlns:a16="http://schemas.microsoft.com/office/drawing/2014/main" id="{246812D7-2C68-70EE-6A21-A74929D85618}"/>
              </a:ext>
            </a:extLst>
          </p:cNvPr>
          <p:cNvSpPr txBox="1"/>
          <p:nvPr/>
        </p:nvSpPr>
        <p:spPr>
          <a:xfrm>
            <a:off x="8536662" y="2549247"/>
            <a:ext cx="65" cy="307777"/>
          </a:xfrm>
          <a:prstGeom prst="rect">
            <a:avLst/>
          </a:prstGeom>
          <a:noFill/>
        </p:spPr>
        <p:txBody>
          <a:bodyPr vert="horz" wrap="none" lIns="0" tIns="0" rIns="0" bIns="0" rtlCol="0" anchor="t">
            <a:noAutofit/>
          </a:bodyPr>
          <a:lstStyle/>
          <a:p>
            <a:r>
              <a:rPr lang="en-US" sz="1200" spc="3">
                <a:solidFill>
                  <a:srgbClr val="343B48"/>
                </a:solidFill>
                <a:latin typeface="Segoe UI" panose="020B0502040204020203" pitchFamily="34" charset="0"/>
              </a:rPr>
              <a:t>Intake / extract / validate / finalize</a:t>
            </a:r>
            <a:endParaRPr lang="en-US" sz="1200" spc="3" dirty="0" err="1">
              <a:solidFill>
                <a:srgbClr val="343B48"/>
              </a:solidFill>
              <a:latin typeface="Segoe UI" panose="020B0502040204020203" pitchFamily="34" charset="0"/>
            </a:endParaRPr>
          </a:p>
        </p:txBody>
      </p:sp>
      <p:sp>
        <p:nvSpPr>
          <p:cNvPr id="27" name="Text 020 DIV">
            <a:extLst>
              <a:ext uri="{FF2B5EF4-FFF2-40B4-BE49-F238E27FC236}">
                <a16:creationId xmlns:a16="http://schemas.microsoft.com/office/drawing/2014/main" id="{8A553D55-FE01-3FA1-D12B-19F6714DDD04}"/>
              </a:ext>
            </a:extLst>
          </p:cNvPr>
          <p:cNvSpPr txBox="1"/>
          <p:nvPr/>
        </p:nvSpPr>
        <p:spPr>
          <a:xfrm>
            <a:off x="8863250" y="2885956"/>
            <a:ext cx="65" cy="307777"/>
          </a:xfrm>
          <a:prstGeom prst="rect">
            <a:avLst/>
          </a:prstGeom>
          <a:noFill/>
        </p:spPr>
        <p:txBody>
          <a:bodyPr vert="horz" wrap="none" lIns="0" tIns="0" rIns="0" bIns="0" rtlCol="0" anchor="t">
            <a:noAutofit/>
          </a:bodyPr>
          <a:lstStyle/>
          <a:p>
            <a:r>
              <a:rPr lang="en-US" sz="1080">
                <a:solidFill>
                  <a:srgbClr val="453793"/>
                </a:solidFill>
                <a:latin typeface="Segoe UI" panose="020B0502040204020203" pitchFamily="34" charset="0"/>
              </a:rPr>
              <a:t>↓ Invoke domain reasoning</a:t>
            </a:r>
            <a:endParaRPr lang="en-US" sz="1080" dirty="0" err="1">
              <a:solidFill>
                <a:srgbClr val="453793"/>
              </a:solidFill>
              <a:latin typeface="Segoe UI" panose="020B0502040204020203" pitchFamily="34" charset="0"/>
            </a:endParaRPr>
          </a:p>
        </p:txBody>
      </p:sp>
      <p:sp>
        <p:nvSpPr>
          <p:cNvPr id="28" name="Text 021 H2">
            <a:extLst>
              <a:ext uri="{FF2B5EF4-FFF2-40B4-BE49-F238E27FC236}">
                <a16:creationId xmlns:a16="http://schemas.microsoft.com/office/drawing/2014/main" id="{83A23600-31E7-59EF-CF0A-ED5A570CC1EB}"/>
              </a:ext>
            </a:extLst>
          </p:cNvPr>
          <p:cNvSpPr txBox="1"/>
          <p:nvPr/>
        </p:nvSpPr>
        <p:spPr>
          <a:xfrm>
            <a:off x="9030533" y="3190756"/>
            <a:ext cx="65" cy="307777"/>
          </a:xfrm>
          <a:prstGeom prst="rect">
            <a:avLst/>
          </a:prstGeom>
          <a:noFill/>
        </p:spPr>
        <p:txBody>
          <a:bodyPr vert="horz" wrap="none" lIns="0" tIns="0" rIns="0" bIns="0" rtlCol="0" anchor="t">
            <a:noAutofit/>
          </a:bodyPr>
          <a:lstStyle/>
          <a:p>
            <a:r>
              <a:rPr lang="en-US" sz="1620" spc="-30">
                <a:solidFill>
                  <a:srgbClr val="1A1A1A"/>
                </a:solidFill>
                <a:latin typeface="Segoe UI Semibold" panose="020B0702040204020203" pitchFamily="34" charset="0"/>
              </a:rPr>
              <a:t>Agents + skills</a:t>
            </a:r>
            <a:endParaRPr lang="en-US" sz="1620" spc="-30" dirty="0" err="1">
              <a:solidFill>
                <a:srgbClr val="1A1A1A"/>
              </a:solidFill>
              <a:latin typeface="Segoe UI Semibold" panose="020B0702040204020203" pitchFamily="34" charset="0"/>
            </a:endParaRPr>
          </a:p>
        </p:txBody>
      </p:sp>
      <p:sp>
        <p:nvSpPr>
          <p:cNvPr id="29" name="Text 022 P">
            <a:extLst>
              <a:ext uri="{FF2B5EF4-FFF2-40B4-BE49-F238E27FC236}">
                <a16:creationId xmlns:a16="http://schemas.microsoft.com/office/drawing/2014/main" id="{AF2CF92B-106C-BA39-761F-D052C92AB89F}"/>
              </a:ext>
            </a:extLst>
          </p:cNvPr>
          <p:cNvSpPr txBox="1"/>
          <p:nvPr/>
        </p:nvSpPr>
        <p:spPr>
          <a:xfrm>
            <a:off x="9200674" y="3514963"/>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Copilot Studio</a:t>
            </a:r>
            <a:endParaRPr lang="en-US" sz="1200" dirty="0" err="1">
              <a:solidFill>
                <a:srgbClr val="343B48"/>
              </a:solidFill>
              <a:latin typeface="Segoe UI" panose="020B0502040204020203" pitchFamily="34" charset="0"/>
            </a:endParaRPr>
          </a:p>
        </p:txBody>
      </p:sp>
      <p:sp>
        <p:nvSpPr>
          <p:cNvPr id="40" name="Text 023 P">
            <a:extLst>
              <a:ext uri="{FF2B5EF4-FFF2-40B4-BE49-F238E27FC236}">
                <a16:creationId xmlns:a16="http://schemas.microsoft.com/office/drawing/2014/main" id="{22E9BAA1-9D45-1A0F-C5D3-FEE96F2ED7DF}"/>
              </a:ext>
            </a:extLst>
          </p:cNvPr>
          <p:cNvSpPr txBox="1"/>
          <p:nvPr/>
        </p:nvSpPr>
        <p:spPr>
          <a:xfrm>
            <a:off x="8900160" y="3722132"/>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GitHub Copilot harness</a:t>
            </a:r>
            <a:endParaRPr lang="en-US" sz="1200" dirty="0" err="1">
              <a:solidFill>
                <a:srgbClr val="343B48"/>
              </a:solidFill>
              <a:latin typeface="Segoe UI" panose="020B0502040204020203" pitchFamily="34" charset="0"/>
            </a:endParaRPr>
          </a:p>
        </p:txBody>
      </p:sp>
      <p:sp>
        <p:nvSpPr>
          <p:cNvPr id="47" name="Text 024 STRONG">
            <a:extLst>
              <a:ext uri="{FF2B5EF4-FFF2-40B4-BE49-F238E27FC236}">
                <a16:creationId xmlns:a16="http://schemas.microsoft.com/office/drawing/2014/main" id="{B193E6D5-638C-DD27-9EE3-AA8F6C0AB37E}"/>
              </a:ext>
            </a:extLst>
          </p:cNvPr>
          <p:cNvSpPr txBox="1"/>
          <p:nvPr/>
        </p:nvSpPr>
        <p:spPr>
          <a:xfrm>
            <a:off x="7938850" y="4096941"/>
            <a:ext cx="65" cy="307777"/>
          </a:xfrm>
          <a:prstGeom prst="rect">
            <a:avLst/>
          </a:prstGeom>
          <a:noFill/>
        </p:spPr>
        <p:txBody>
          <a:bodyPr vert="horz" wrap="none" lIns="0" tIns="0" rIns="0" bIns="0" rtlCol="0" anchor="t">
            <a:noAutofit/>
          </a:bodyPr>
          <a:lstStyle/>
          <a:p>
            <a:r>
              <a:rPr lang="en-US" sz="1200">
                <a:solidFill>
                  <a:srgbClr val="1A1A1A"/>
                </a:solidFill>
                <a:latin typeface="Segoe UI Semibold" panose="020B0702040204020203" pitchFamily="34" charset="0"/>
              </a:rPr>
              <a:t>Process → Dataverse</a:t>
            </a:r>
            <a:endParaRPr lang="en-US" sz="1200" dirty="0" err="1">
              <a:solidFill>
                <a:srgbClr val="1A1A1A"/>
              </a:solidFill>
              <a:latin typeface="Segoe UI Semibold" panose="020B0702040204020203" pitchFamily="34" charset="0"/>
            </a:endParaRPr>
          </a:p>
        </p:txBody>
      </p:sp>
      <p:sp>
        <p:nvSpPr>
          <p:cNvPr id="48" name="Text 025 SPAN">
            <a:extLst>
              <a:ext uri="{FF2B5EF4-FFF2-40B4-BE49-F238E27FC236}">
                <a16:creationId xmlns:a16="http://schemas.microsoft.com/office/drawing/2014/main" id="{2DD7F738-F3C2-01B7-8C76-6B6CE37554C0}"/>
              </a:ext>
            </a:extLst>
          </p:cNvPr>
          <p:cNvSpPr txBox="1"/>
          <p:nvPr/>
        </p:nvSpPr>
        <p:spPr>
          <a:xfrm>
            <a:off x="7938850" y="4333161"/>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Write state, tasks and outputs.</a:t>
            </a:r>
            <a:endParaRPr lang="en-US" sz="1200" dirty="0" err="1">
              <a:solidFill>
                <a:srgbClr val="343B48"/>
              </a:solidFill>
              <a:latin typeface="Segoe UI" panose="020B0502040204020203" pitchFamily="34" charset="0"/>
            </a:endParaRPr>
          </a:p>
        </p:txBody>
      </p:sp>
      <p:sp>
        <p:nvSpPr>
          <p:cNvPr id="49" name="Text 026 STRONG">
            <a:extLst>
              <a:ext uri="{FF2B5EF4-FFF2-40B4-BE49-F238E27FC236}">
                <a16:creationId xmlns:a16="http://schemas.microsoft.com/office/drawing/2014/main" id="{3A63E2DC-590E-C058-021A-A3021EC6966B}"/>
              </a:ext>
            </a:extLst>
          </p:cNvPr>
          <p:cNvSpPr txBox="1"/>
          <p:nvPr/>
        </p:nvSpPr>
        <p:spPr>
          <a:xfrm>
            <a:off x="7938850" y="4637961"/>
            <a:ext cx="65" cy="307777"/>
          </a:xfrm>
          <a:prstGeom prst="rect">
            <a:avLst/>
          </a:prstGeom>
          <a:noFill/>
        </p:spPr>
        <p:txBody>
          <a:bodyPr vert="horz" wrap="none" lIns="0" tIns="0" rIns="0" bIns="0" rtlCol="0" anchor="t">
            <a:noAutofit/>
          </a:bodyPr>
          <a:lstStyle/>
          <a:p>
            <a:r>
              <a:rPr lang="en-US" sz="1200">
                <a:solidFill>
                  <a:srgbClr val="1A1A1A"/>
                </a:solidFill>
                <a:latin typeface="Segoe UI Semibold" panose="020B0702040204020203" pitchFamily="34" charset="0"/>
              </a:rPr>
              <a:t>Dataverse → process</a:t>
            </a:r>
            <a:endParaRPr lang="en-US" sz="1200" dirty="0" err="1">
              <a:solidFill>
                <a:srgbClr val="1A1A1A"/>
              </a:solidFill>
              <a:latin typeface="Segoe UI Semibold" panose="020B0702040204020203" pitchFamily="34" charset="0"/>
            </a:endParaRPr>
          </a:p>
        </p:txBody>
      </p:sp>
      <p:sp>
        <p:nvSpPr>
          <p:cNvPr id="50" name="Text 027 SPAN">
            <a:extLst>
              <a:ext uri="{FF2B5EF4-FFF2-40B4-BE49-F238E27FC236}">
                <a16:creationId xmlns:a16="http://schemas.microsoft.com/office/drawing/2014/main" id="{E3F57DA0-F65A-3B3A-82C4-8D0F31E3C3E8}"/>
              </a:ext>
            </a:extLst>
          </p:cNvPr>
          <p:cNvSpPr txBox="1"/>
          <p:nvPr/>
        </p:nvSpPr>
        <p:spPr>
          <a:xfrm>
            <a:off x="7938850" y="4874181"/>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Step events start the next stage.</a:t>
            </a:r>
            <a:endParaRPr lang="en-US" sz="1200" dirty="0" err="1">
              <a:solidFill>
                <a:srgbClr val="343B48"/>
              </a:solidFill>
              <a:latin typeface="Segoe UI" panose="020B0502040204020203" pitchFamily="34" charset="0"/>
            </a:endParaRPr>
          </a:p>
        </p:txBody>
      </p:sp>
      <p:sp>
        <p:nvSpPr>
          <p:cNvPr id="51" name="Text 028 P">
            <a:extLst>
              <a:ext uri="{FF2B5EF4-FFF2-40B4-BE49-F238E27FC236}">
                <a16:creationId xmlns:a16="http://schemas.microsoft.com/office/drawing/2014/main" id="{C7889C75-D901-9B54-65AE-4C35180F3E45}"/>
              </a:ext>
            </a:extLst>
          </p:cNvPr>
          <p:cNvSpPr txBox="1"/>
          <p:nvPr/>
        </p:nvSpPr>
        <p:spPr>
          <a:xfrm>
            <a:off x="7938850" y="5186600"/>
            <a:ext cx="65" cy="307777"/>
          </a:xfrm>
          <a:prstGeom prst="rect">
            <a:avLst/>
          </a:prstGeom>
          <a:noFill/>
        </p:spPr>
        <p:txBody>
          <a:bodyPr vert="horz" wrap="none" lIns="0" tIns="0" rIns="0" bIns="0" rtlCol="0" anchor="t">
            <a:noAutofit/>
          </a:bodyPr>
          <a:lstStyle/>
          <a:p>
            <a:r>
              <a:rPr lang="en-US" sz="1200">
                <a:solidFill>
                  <a:srgbClr val="453793"/>
                </a:solidFill>
                <a:latin typeface="Segoe UI" panose="020B0502040204020203" pitchFamily="34" charset="0"/>
              </a:rPr>
              <a:t>Domain widgets extend the Console.</a:t>
            </a:r>
            <a:endParaRPr lang="en-US" sz="1200" dirty="0" err="1">
              <a:solidFill>
                <a:srgbClr val="453793"/>
              </a:solidFill>
              <a:latin typeface="Segoe UI" panose="020B0502040204020203" pitchFamily="34" charset="0"/>
            </a:endParaRPr>
          </a:p>
        </p:txBody>
      </p:sp>
      <p:sp>
        <p:nvSpPr>
          <p:cNvPr id="52" name="Text 029 DIV">
            <a:extLst>
              <a:ext uri="{FF2B5EF4-FFF2-40B4-BE49-F238E27FC236}">
                <a16:creationId xmlns:a16="http://schemas.microsoft.com/office/drawing/2014/main" id="{7652117C-B3F8-B1DF-C989-1E7B49E128DD}"/>
              </a:ext>
            </a:extLst>
          </p:cNvPr>
          <p:cNvSpPr txBox="1"/>
          <p:nvPr/>
        </p:nvSpPr>
        <p:spPr>
          <a:xfrm>
            <a:off x="3086100" y="587121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Core owns the </a:t>
            </a:r>
            <a:endParaRPr lang="en-US" sz="1560" dirty="0" err="1">
              <a:solidFill>
                <a:srgbClr val="1A1A1A"/>
              </a:solidFill>
              <a:latin typeface="Segoe UI" panose="020B0502040204020203" pitchFamily="34" charset="0"/>
            </a:endParaRPr>
          </a:p>
        </p:txBody>
      </p:sp>
      <p:sp>
        <p:nvSpPr>
          <p:cNvPr id="53" name="Text 030 STRONG">
            <a:extLst>
              <a:ext uri="{FF2B5EF4-FFF2-40B4-BE49-F238E27FC236}">
                <a16:creationId xmlns:a16="http://schemas.microsoft.com/office/drawing/2014/main" id="{9A0990D9-A631-2454-F0E3-1D39814DE26C}"/>
              </a:ext>
            </a:extLst>
          </p:cNvPr>
          <p:cNvSpPr txBox="1"/>
          <p:nvPr/>
        </p:nvSpPr>
        <p:spPr>
          <a:xfrm>
            <a:off x="4398526" y="5871210"/>
            <a:ext cx="65" cy="307777"/>
          </a:xfrm>
          <a:prstGeom prst="rect">
            <a:avLst/>
          </a:prstGeom>
          <a:noFill/>
        </p:spPr>
        <p:txBody>
          <a:bodyPr vert="horz" wrap="none" lIns="0" tIns="0" rIns="0" bIns="0" rtlCol="0" anchor="t">
            <a:noAutofit/>
          </a:bodyPr>
          <a:lstStyle/>
          <a:p>
            <a:r>
              <a:rPr lang="en-US" sz="1560">
                <a:solidFill>
                  <a:srgbClr val="00599F"/>
                </a:solidFill>
                <a:latin typeface="Segoe UI Semibold" panose="020B0702040204020203" pitchFamily="34" charset="0"/>
              </a:rPr>
              <a:t>shared runtime</a:t>
            </a:r>
            <a:endParaRPr lang="en-US" sz="1560" dirty="0" err="1">
              <a:solidFill>
                <a:srgbClr val="00599F"/>
              </a:solidFill>
              <a:latin typeface="Segoe UI Semibold" panose="020B0702040204020203" pitchFamily="34" charset="0"/>
            </a:endParaRPr>
          </a:p>
        </p:txBody>
      </p:sp>
      <p:sp>
        <p:nvSpPr>
          <p:cNvPr id="54" name="Text 031 DIV">
            <a:extLst>
              <a:ext uri="{FF2B5EF4-FFF2-40B4-BE49-F238E27FC236}">
                <a16:creationId xmlns:a16="http://schemas.microsoft.com/office/drawing/2014/main" id="{E9E94492-9168-825B-C212-37B2C026B445}"/>
              </a:ext>
            </a:extLst>
          </p:cNvPr>
          <p:cNvSpPr txBox="1"/>
          <p:nvPr/>
        </p:nvSpPr>
        <p:spPr>
          <a:xfrm>
            <a:off x="5762030" y="587121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 Each process owns </a:t>
            </a:r>
            <a:endParaRPr lang="en-US" sz="1560" dirty="0" err="1">
              <a:solidFill>
                <a:srgbClr val="1A1A1A"/>
              </a:solidFill>
              <a:latin typeface="Segoe UI" panose="020B0502040204020203" pitchFamily="34" charset="0"/>
            </a:endParaRPr>
          </a:p>
        </p:txBody>
      </p:sp>
      <p:sp>
        <p:nvSpPr>
          <p:cNvPr id="55" name="Text 032 STRONG">
            <a:extLst>
              <a:ext uri="{FF2B5EF4-FFF2-40B4-BE49-F238E27FC236}">
                <a16:creationId xmlns:a16="http://schemas.microsoft.com/office/drawing/2014/main" id="{AB3D360D-379D-2EF6-9C7E-3C6AABF49193}"/>
              </a:ext>
            </a:extLst>
          </p:cNvPr>
          <p:cNvSpPr txBox="1"/>
          <p:nvPr/>
        </p:nvSpPr>
        <p:spPr>
          <a:xfrm>
            <a:off x="7546896" y="5871210"/>
            <a:ext cx="65" cy="307777"/>
          </a:xfrm>
          <a:prstGeom prst="rect">
            <a:avLst/>
          </a:prstGeom>
          <a:noFill/>
        </p:spPr>
        <p:txBody>
          <a:bodyPr vert="horz" wrap="none" lIns="0" tIns="0" rIns="0" bIns="0" rtlCol="0" anchor="t">
            <a:noAutofit/>
          </a:bodyPr>
          <a:lstStyle/>
          <a:p>
            <a:r>
              <a:rPr lang="en-US" sz="1560">
                <a:solidFill>
                  <a:srgbClr val="00599F"/>
                </a:solidFill>
                <a:latin typeface="Segoe UI Semibold" panose="020B0702040204020203" pitchFamily="34" charset="0"/>
              </a:rPr>
              <a:t>its business logic</a:t>
            </a:r>
            <a:endParaRPr lang="en-US" sz="1560" dirty="0" err="1">
              <a:solidFill>
                <a:srgbClr val="00599F"/>
              </a:solidFill>
              <a:latin typeface="Segoe UI Semibold" panose="020B0702040204020203" pitchFamily="34" charset="0"/>
            </a:endParaRPr>
          </a:p>
        </p:txBody>
      </p:sp>
      <p:sp>
        <p:nvSpPr>
          <p:cNvPr id="56" name="Text 033 DIV">
            <a:extLst>
              <a:ext uri="{FF2B5EF4-FFF2-40B4-BE49-F238E27FC236}">
                <a16:creationId xmlns:a16="http://schemas.microsoft.com/office/drawing/2014/main" id="{C61444A1-4794-980B-B3CD-8A4E3C6A0643}"/>
              </a:ext>
            </a:extLst>
          </p:cNvPr>
          <p:cNvSpPr txBox="1"/>
          <p:nvPr/>
        </p:nvSpPr>
        <p:spPr>
          <a:xfrm>
            <a:off x="9062800" y="587121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a:t>
            </a:r>
            <a:endParaRPr lang="en-US" sz="1560" dirty="0" err="1">
              <a:solidFill>
                <a:srgbClr val="1A1A1A"/>
              </a:solidFill>
              <a:latin typeface="Segoe UI" panose="020B0502040204020203" pitchFamily="34" charset="0"/>
            </a:endParaRPr>
          </a:p>
        </p:txBody>
      </p:sp>
      <p:sp>
        <p:nvSpPr>
          <p:cNvPr id="57" name="Text 034 FOOTER">
            <a:extLst>
              <a:ext uri="{FF2B5EF4-FFF2-40B4-BE49-F238E27FC236}">
                <a16:creationId xmlns:a16="http://schemas.microsoft.com/office/drawing/2014/main" id="{CA87487F-6F54-DDB1-A63B-189A72B49139}"/>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Agentic Business Process Automation on Copilot Studio</a:t>
            </a:r>
            <a:endParaRPr lang="en-US" sz="840" dirty="0" err="1">
              <a:solidFill>
                <a:srgbClr val="425466"/>
              </a:solidFill>
              <a:latin typeface="Segoe UI" panose="020B0502040204020203" pitchFamily="34" charset="0"/>
            </a:endParaRPr>
          </a:p>
        </p:txBody>
      </p:sp>
      <p:sp>
        <p:nvSpPr>
          <p:cNvPr id="58" name="Text 035 FOOTER">
            <a:extLst>
              <a:ext uri="{FF2B5EF4-FFF2-40B4-BE49-F238E27FC236}">
                <a16:creationId xmlns:a16="http://schemas.microsoft.com/office/drawing/2014/main" id="{4D32ABD7-9EA7-8B33-FB3F-AF82C7EAA25D}"/>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13 / 23</a:t>
            </a:r>
            <a:endParaRPr lang="en-US" sz="840" dirty="0" err="1">
              <a:solidFill>
                <a:srgbClr val="425466"/>
              </a:solidFill>
              <a:latin typeface="Segoe UI" panose="020B0502040204020203" pitchFamily="34" charset="0"/>
            </a:endParaRPr>
          </a:p>
        </p:txBody>
      </p:sp>
    </p:spTree>
    <p:extLst>
      <p:ext uri="{BB962C8B-B14F-4D97-AF65-F5344CB8AC3E}">
        <p14:creationId xmlns:p14="http://schemas.microsoft.com/office/powerpoint/2010/main" val="3406556926"/>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Process-14">
    <p:spTree>
      <p:nvGrpSpPr>
        <p:cNvPr id="1" name="">
          <a:extLst>
            <a:ext uri="{FF2B5EF4-FFF2-40B4-BE49-F238E27FC236}">
              <a16:creationId xmlns:a16="http://schemas.microsoft.com/office/drawing/2014/main" id="{45E204F7-B12F-72AC-C9AA-76598E84CC14}"/>
            </a:ext>
          </a:extLst>
        </p:cNvPr>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729A8D80-F6A1-07B5-3CF6-BDCCADBEC16C}"/>
              </a:ext>
            </a:extLst>
          </p:cNvPr>
          <p:cNvPicPr>
            <a:picLocks/>
          </p:cNvPicPr>
          <p:nvPr/>
        </p:nvPicPr>
        <p:blipFill>
          <a:blip r:embed="rId3"/>
          <a:stretch>
            <a:fillRect/>
          </a:stretch>
        </p:blipFill>
        <p:spPr>
          <a:xfrm>
            <a:off x="0" y="0"/>
            <a:ext cx="12192000" cy="6858000"/>
          </a:xfrm>
          <a:prstGeom prst="rect">
            <a:avLst/>
          </a:prstGeom>
        </p:spPr>
      </p:pic>
      <p:sp>
        <p:nvSpPr>
          <p:cNvPr id="8" name="Text 001 SPAN">
            <a:extLst>
              <a:ext uri="{FF2B5EF4-FFF2-40B4-BE49-F238E27FC236}">
                <a16:creationId xmlns:a16="http://schemas.microsoft.com/office/drawing/2014/main" id="{84287745-D4EF-26E4-9BAD-128B1B14E8F1}"/>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03 / HIGH-LEVEL SOLUTION</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3CF60123-4C76-483B-2FD8-CBF965645131}"/>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72">
                <a:solidFill>
                  <a:srgbClr val="1A1A1A"/>
                </a:solidFill>
                <a:latin typeface="Segoe UI Semibold" panose="020B0702040204020203" pitchFamily="34" charset="0"/>
              </a:rPr>
              <a:t>What you do not have to build again</a:t>
            </a:r>
            <a:endParaRPr lang="en-US" sz="2880" spc="-72" dirty="0" err="1">
              <a:solidFill>
                <a:srgbClr val="1A1A1A"/>
              </a:solidFill>
              <a:latin typeface="Segoe UI Semibold" panose="020B0702040204020203" pitchFamily="34" charset="0"/>
            </a:endParaRPr>
          </a:p>
        </p:txBody>
      </p:sp>
      <p:sp>
        <p:nvSpPr>
          <p:cNvPr id="10" name="Text 003 P">
            <a:extLst>
              <a:ext uri="{FF2B5EF4-FFF2-40B4-BE49-F238E27FC236}">
                <a16:creationId xmlns:a16="http://schemas.microsoft.com/office/drawing/2014/main" id="{A6E4B605-2E97-E07C-B579-C3E5E8060383}"/>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a:solidFill>
                  <a:srgbClr val="343B48"/>
                </a:solidFill>
                <a:latin typeface="Segoe UI" panose="020B0502040204020203" pitchFamily="34" charset="0"/>
              </a:rPr>
              <a:t>Business Process Solution: Business-agnostic capabilities inherited by every process.</a:t>
            </a:r>
            <a:endParaRPr lang="en-US" sz="1500" dirty="0" err="1">
              <a:solidFill>
                <a:srgbClr val="343B48"/>
              </a:solidFill>
              <a:latin typeface="Segoe UI" panose="020B0502040204020203" pitchFamily="34" charset="0"/>
            </a:endParaRPr>
          </a:p>
        </p:txBody>
      </p:sp>
      <p:sp>
        <p:nvSpPr>
          <p:cNvPr id="11" name="Text 004 SPAN">
            <a:extLst>
              <a:ext uri="{FF2B5EF4-FFF2-40B4-BE49-F238E27FC236}">
                <a16:creationId xmlns:a16="http://schemas.microsoft.com/office/drawing/2014/main" id="{28954D06-5D17-429A-243D-792983A99334}"/>
              </a:ext>
            </a:extLst>
          </p:cNvPr>
          <p:cNvSpPr txBox="1"/>
          <p:nvPr/>
        </p:nvSpPr>
        <p:spPr>
          <a:xfrm>
            <a:off x="876181" y="1977390"/>
            <a:ext cx="65" cy="307777"/>
          </a:xfrm>
          <a:prstGeom prst="rect">
            <a:avLst/>
          </a:prstGeom>
          <a:noFill/>
        </p:spPr>
        <p:txBody>
          <a:bodyPr vert="horz" wrap="none" lIns="0" tIns="0" rIns="0" bIns="0" rtlCol="0" anchor="t">
            <a:noAutofit/>
          </a:bodyPr>
          <a:lstStyle/>
          <a:p>
            <a:r>
              <a:rPr lang="en-US" sz="1380">
                <a:solidFill>
                  <a:srgbClr val="00599F"/>
                </a:solidFill>
                <a:latin typeface="Segoe UI Semibold" panose="020B0702040204020203" pitchFamily="34" charset="0"/>
              </a:rPr>
              <a:t>01</a:t>
            </a:r>
            <a:endParaRPr lang="en-US" sz="1380" dirty="0" err="1">
              <a:solidFill>
                <a:srgbClr val="00599F"/>
              </a:solidFill>
              <a:latin typeface="Segoe UI Semibold" panose="020B0702040204020203" pitchFamily="34" charset="0"/>
            </a:endParaRPr>
          </a:p>
        </p:txBody>
      </p:sp>
      <p:sp>
        <p:nvSpPr>
          <p:cNvPr id="12" name="Text 005 H2">
            <a:extLst>
              <a:ext uri="{FF2B5EF4-FFF2-40B4-BE49-F238E27FC236}">
                <a16:creationId xmlns:a16="http://schemas.microsoft.com/office/drawing/2014/main" id="{6B1A554A-3452-D349-3B87-8F0C163DF76B}"/>
              </a:ext>
            </a:extLst>
          </p:cNvPr>
          <p:cNvSpPr txBox="1"/>
          <p:nvPr/>
        </p:nvSpPr>
        <p:spPr>
          <a:xfrm>
            <a:off x="784860" y="239268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Persistent process state</a:t>
            </a:r>
            <a:endParaRPr lang="en-US" sz="1680" spc="-30" dirty="0" err="1">
              <a:solidFill>
                <a:srgbClr val="00599F"/>
              </a:solidFill>
              <a:latin typeface="Segoe UI Semibold" panose="020B0702040204020203" pitchFamily="34" charset="0"/>
            </a:endParaRPr>
          </a:p>
        </p:txBody>
      </p:sp>
      <p:sp>
        <p:nvSpPr>
          <p:cNvPr id="13" name="Text 006 P">
            <a:extLst>
              <a:ext uri="{FF2B5EF4-FFF2-40B4-BE49-F238E27FC236}">
                <a16:creationId xmlns:a16="http://schemas.microsoft.com/office/drawing/2014/main" id="{7BB07F53-2238-7417-BC50-8A974279A13F}"/>
              </a:ext>
            </a:extLst>
          </p:cNvPr>
          <p:cNvSpPr txBox="1"/>
          <p:nvPr/>
        </p:nvSpPr>
        <p:spPr>
          <a:xfrm>
            <a:off x="784860" y="276475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Instances, steps, tasks and typed</a:t>
            </a:r>
            <a:endParaRPr lang="en-US" sz="1380" dirty="0" err="1">
              <a:solidFill>
                <a:srgbClr val="343B48"/>
              </a:solidFill>
              <a:latin typeface="Segoe UI" panose="020B0502040204020203" pitchFamily="34" charset="0"/>
            </a:endParaRPr>
          </a:p>
        </p:txBody>
      </p:sp>
      <p:sp>
        <p:nvSpPr>
          <p:cNvPr id="14" name="Text 007 P">
            <a:extLst>
              <a:ext uri="{FF2B5EF4-FFF2-40B4-BE49-F238E27FC236}">
                <a16:creationId xmlns:a16="http://schemas.microsoft.com/office/drawing/2014/main" id="{092DC353-76E7-BA02-6B09-D29AC872C26A}"/>
              </a:ext>
            </a:extLst>
          </p:cNvPr>
          <p:cNvSpPr txBox="1"/>
          <p:nvPr/>
        </p:nvSpPr>
        <p:spPr>
          <a:xfrm>
            <a:off x="784860" y="3002994"/>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outputs keep the work resumable.</a:t>
            </a:r>
            <a:endParaRPr lang="en-US" sz="1380" dirty="0" err="1">
              <a:solidFill>
                <a:srgbClr val="343B48"/>
              </a:solidFill>
              <a:latin typeface="Segoe UI" panose="020B0502040204020203" pitchFamily="34" charset="0"/>
            </a:endParaRPr>
          </a:p>
        </p:txBody>
      </p:sp>
      <p:sp>
        <p:nvSpPr>
          <p:cNvPr id="15" name="Text 008 SPAN">
            <a:extLst>
              <a:ext uri="{FF2B5EF4-FFF2-40B4-BE49-F238E27FC236}">
                <a16:creationId xmlns:a16="http://schemas.microsoft.com/office/drawing/2014/main" id="{A8644977-65BD-3481-A464-EDE2CE4133B6}"/>
              </a:ext>
            </a:extLst>
          </p:cNvPr>
          <p:cNvSpPr txBox="1"/>
          <p:nvPr/>
        </p:nvSpPr>
        <p:spPr>
          <a:xfrm>
            <a:off x="4601528" y="1977390"/>
            <a:ext cx="65" cy="307777"/>
          </a:xfrm>
          <a:prstGeom prst="rect">
            <a:avLst/>
          </a:prstGeom>
          <a:noFill/>
        </p:spPr>
        <p:txBody>
          <a:bodyPr vert="horz" wrap="none" lIns="0" tIns="0" rIns="0" bIns="0" rtlCol="0" anchor="t">
            <a:noAutofit/>
          </a:bodyPr>
          <a:lstStyle/>
          <a:p>
            <a:r>
              <a:rPr lang="en-US" sz="1380">
                <a:solidFill>
                  <a:srgbClr val="00599F"/>
                </a:solidFill>
                <a:latin typeface="Segoe UI Semibold" panose="020B0702040204020203" pitchFamily="34" charset="0"/>
              </a:rPr>
              <a:t>02</a:t>
            </a:r>
            <a:endParaRPr lang="en-US" sz="1380" dirty="0" err="1">
              <a:solidFill>
                <a:srgbClr val="00599F"/>
              </a:solidFill>
              <a:latin typeface="Segoe UI Semibold" panose="020B0702040204020203" pitchFamily="34" charset="0"/>
            </a:endParaRPr>
          </a:p>
        </p:txBody>
      </p:sp>
      <p:sp>
        <p:nvSpPr>
          <p:cNvPr id="16" name="Text 009 H2">
            <a:extLst>
              <a:ext uri="{FF2B5EF4-FFF2-40B4-BE49-F238E27FC236}">
                <a16:creationId xmlns:a16="http://schemas.microsoft.com/office/drawing/2014/main" id="{B00888E5-2276-9D67-F17B-89760A748782}"/>
              </a:ext>
            </a:extLst>
          </p:cNvPr>
          <p:cNvSpPr txBox="1"/>
          <p:nvPr/>
        </p:nvSpPr>
        <p:spPr>
          <a:xfrm>
            <a:off x="4523661" y="239268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Human task lifecycle</a:t>
            </a:r>
            <a:endParaRPr lang="en-US" sz="1680" spc="-30" dirty="0" err="1">
              <a:solidFill>
                <a:srgbClr val="00599F"/>
              </a:solidFill>
              <a:latin typeface="Segoe UI Semibold" panose="020B0702040204020203" pitchFamily="34" charset="0"/>
            </a:endParaRPr>
          </a:p>
        </p:txBody>
      </p:sp>
      <p:sp>
        <p:nvSpPr>
          <p:cNvPr id="17" name="Text 010 P">
            <a:extLst>
              <a:ext uri="{FF2B5EF4-FFF2-40B4-BE49-F238E27FC236}">
                <a16:creationId xmlns:a16="http://schemas.microsoft.com/office/drawing/2014/main" id="{B5C2F813-61E8-79B0-9848-721B96253561}"/>
              </a:ext>
            </a:extLst>
          </p:cNvPr>
          <p:cNvSpPr txBox="1"/>
          <p:nvPr/>
        </p:nvSpPr>
        <p:spPr>
          <a:xfrm>
            <a:off x="4523661" y="276475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Role-based routing, claiming and</a:t>
            </a:r>
            <a:endParaRPr lang="en-US" sz="1380" dirty="0" err="1">
              <a:solidFill>
                <a:srgbClr val="343B48"/>
              </a:solidFill>
              <a:latin typeface="Segoe UI" panose="020B0502040204020203" pitchFamily="34" charset="0"/>
            </a:endParaRPr>
          </a:p>
        </p:txBody>
      </p:sp>
      <p:sp>
        <p:nvSpPr>
          <p:cNvPr id="18" name="Text 011 P">
            <a:extLst>
              <a:ext uri="{FF2B5EF4-FFF2-40B4-BE49-F238E27FC236}">
                <a16:creationId xmlns:a16="http://schemas.microsoft.com/office/drawing/2014/main" id="{E3958D84-D39E-A377-C5B4-34D6EB03A23C}"/>
              </a:ext>
            </a:extLst>
          </p:cNvPr>
          <p:cNvSpPr txBox="1"/>
          <p:nvPr/>
        </p:nvSpPr>
        <p:spPr>
          <a:xfrm>
            <a:off x="4523661" y="3002994"/>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transactional completion.</a:t>
            </a:r>
            <a:endParaRPr lang="en-US" sz="1380" dirty="0" err="1">
              <a:solidFill>
                <a:srgbClr val="343B48"/>
              </a:solidFill>
              <a:latin typeface="Segoe UI" panose="020B0502040204020203" pitchFamily="34" charset="0"/>
            </a:endParaRPr>
          </a:p>
        </p:txBody>
      </p:sp>
      <p:sp>
        <p:nvSpPr>
          <p:cNvPr id="19" name="Text 012 SPAN">
            <a:extLst>
              <a:ext uri="{FF2B5EF4-FFF2-40B4-BE49-F238E27FC236}">
                <a16:creationId xmlns:a16="http://schemas.microsoft.com/office/drawing/2014/main" id="{BD0B3F2E-66EA-BF8E-659F-B40FCA3AD432}"/>
              </a:ext>
            </a:extLst>
          </p:cNvPr>
          <p:cNvSpPr txBox="1"/>
          <p:nvPr/>
        </p:nvSpPr>
        <p:spPr>
          <a:xfrm>
            <a:off x="8340447" y="1977390"/>
            <a:ext cx="65" cy="307777"/>
          </a:xfrm>
          <a:prstGeom prst="rect">
            <a:avLst/>
          </a:prstGeom>
          <a:noFill/>
        </p:spPr>
        <p:txBody>
          <a:bodyPr vert="horz" wrap="none" lIns="0" tIns="0" rIns="0" bIns="0" rtlCol="0" anchor="t">
            <a:noAutofit/>
          </a:bodyPr>
          <a:lstStyle/>
          <a:p>
            <a:r>
              <a:rPr lang="en-US" sz="1380">
                <a:solidFill>
                  <a:srgbClr val="00599F"/>
                </a:solidFill>
                <a:latin typeface="Segoe UI Semibold" panose="020B0702040204020203" pitchFamily="34" charset="0"/>
              </a:rPr>
              <a:t>03</a:t>
            </a:r>
            <a:endParaRPr lang="en-US" sz="1380" dirty="0" err="1">
              <a:solidFill>
                <a:srgbClr val="00599F"/>
              </a:solidFill>
              <a:latin typeface="Segoe UI Semibold" panose="020B0702040204020203" pitchFamily="34" charset="0"/>
            </a:endParaRPr>
          </a:p>
        </p:txBody>
      </p:sp>
      <p:sp>
        <p:nvSpPr>
          <p:cNvPr id="20" name="Text 013 H2">
            <a:extLst>
              <a:ext uri="{FF2B5EF4-FFF2-40B4-BE49-F238E27FC236}">
                <a16:creationId xmlns:a16="http://schemas.microsoft.com/office/drawing/2014/main" id="{71A0A3E8-3DE9-6100-9BAB-F0E64A150885}"/>
              </a:ext>
            </a:extLst>
          </p:cNvPr>
          <p:cNvSpPr txBox="1"/>
          <p:nvPr/>
        </p:nvSpPr>
        <p:spPr>
          <a:xfrm>
            <a:off x="8262580" y="239268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Review experience</a:t>
            </a:r>
            <a:endParaRPr lang="en-US" sz="1680" spc="-30" dirty="0" err="1">
              <a:solidFill>
                <a:srgbClr val="00599F"/>
              </a:solidFill>
              <a:latin typeface="Segoe UI Semibold" panose="020B0702040204020203" pitchFamily="34" charset="0"/>
            </a:endParaRPr>
          </a:p>
        </p:txBody>
      </p:sp>
      <p:sp>
        <p:nvSpPr>
          <p:cNvPr id="21" name="Text 014 P">
            <a:extLst>
              <a:ext uri="{FF2B5EF4-FFF2-40B4-BE49-F238E27FC236}">
                <a16:creationId xmlns:a16="http://schemas.microsoft.com/office/drawing/2014/main" id="{E98E672B-2BE4-7361-508C-086A6BDB4FC5}"/>
              </a:ext>
            </a:extLst>
          </p:cNvPr>
          <p:cNvSpPr txBox="1"/>
          <p:nvPr/>
        </p:nvSpPr>
        <p:spPr>
          <a:xfrm>
            <a:off x="8262580" y="276475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A task queue, deep links and a host for</a:t>
            </a:r>
            <a:endParaRPr lang="en-US" sz="1380" dirty="0" err="1">
              <a:solidFill>
                <a:srgbClr val="343B48"/>
              </a:solidFill>
              <a:latin typeface="Segoe UI" panose="020B0502040204020203" pitchFamily="34" charset="0"/>
            </a:endParaRPr>
          </a:p>
        </p:txBody>
      </p:sp>
      <p:sp>
        <p:nvSpPr>
          <p:cNvPr id="22" name="Text 015 P">
            <a:extLst>
              <a:ext uri="{FF2B5EF4-FFF2-40B4-BE49-F238E27FC236}">
                <a16:creationId xmlns:a16="http://schemas.microsoft.com/office/drawing/2014/main" id="{8FCE9327-F1E6-FE5E-87D6-76682502216D}"/>
              </a:ext>
            </a:extLst>
          </p:cNvPr>
          <p:cNvSpPr txBox="1"/>
          <p:nvPr/>
        </p:nvSpPr>
        <p:spPr>
          <a:xfrm>
            <a:off x="8262580" y="3002994"/>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tailored review widgets.</a:t>
            </a:r>
            <a:endParaRPr lang="en-US" sz="1380" dirty="0" err="1">
              <a:solidFill>
                <a:srgbClr val="343B48"/>
              </a:solidFill>
              <a:latin typeface="Segoe UI" panose="020B0502040204020203" pitchFamily="34" charset="0"/>
            </a:endParaRPr>
          </a:p>
        </p:txBody>
      </p:sp>
      <p:sp>
        <p:nvSpPr>
          <p:cNvPr id="23" name="Text 016 SPAN">
            <a:extLst>
              <a:ext uri="{FF2B5EF4-FFF2-40B4-BE49-F238E27FC236}">
                <a16:creationId xmlns:a16="http://schemas.microsoft.com/office/drawing/2014/main" id="{346F1AF3-0A0D-EA3F-3738-72544102BDCF}"/>
              </a:ext>
            </a:extLst>
          </p:cNvPr>
          <p:cNvSpPr txBox="1"/>
          <p:nvPr/>
        </p:nvSpPr>
        <p:spPr>
          <a:xfrm>
            <a:off x="860941" y="4339590"/>
            <a:ext cx="65" cy="307777"/>
          </a:xfrm>
          <a:prstGeom prst="rect">
            <a:avLst/>
          </a:prstGeom>
          <a:noFill/>
        </p:spPr>
        <p:txBody>
          <a:bodyPr vert="horz" wrap="none" lIns="0" tIns="0" rIns="0" bIns="0" rtlCol="0" anchor="t">
            <a:noAutofit/>
          </a:bodyPr>
          <a:lstStyle/>
          <a:p>
            <a:r>
              <a:rPr lang="en-US" sz="1380">
                <a:solidFill>
                  <a:srgbClr val="00599F"/>
                </a:solidFill>
                <a:latin typeface="Segoe UI Semibold" panose="020B0702040204020203" pitchFamily="34" charset="0"/>
              </a:rPr>
              <a:t>04</a:t>
            </a:r>
            <a:endParaRPr lang="en-US" sz="1380" dirty="0" err="1">
              <a:solidFill>
                <a:srgbClr val="00599F"/>
              </a:solidFill>
              <a:latin typeface="Segoe UI Semibold" panose="020B0702040204020203" pitchFamily="34" charset="0"/>
            </a:endParaRPr>
          </a:p>
        </p:txBody>
      </p:sp>
      <p:sp>
        <p:nvSpPr>
          <p:cNvPr id="24" name="Text 017 H2">
            <a:extLst>
              <a:ext uri="{FF2B5EF4-FFF2-40B4-BE49-F238E27FC236}">
                <a16:creationId xmlns:a16="http://schemas.microsoft.com/office/drawing/2014/main" id="{EA0C39AC-8ECA-DCF2-4C83-6E7CE5993F8C}"/>
              </a:ext>
            </a:extLst>
          </p:cNvPr>
          <p:cNvSpPr txBox="1"/>
          <p:nvPr/>
        </p:nvSpPr>
        <p:spPr>
          <a:xfrm>
            <a:off x="784860" y="475488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Evidence &amp; history</a:t>
            </a:r>
            <a:endParaRPr lang="en-US" sz="1680" spc="-30" dirty="0" err="1">
              <a:solidFill>
                <a:srgbClr val="00599F"/>
              </a:solidFill>
              <a:latin typeface="Segoe UI Semibold" panose="020B0702040204020203" pitchFamily="34" charset="0"/>
            </a:endParaRPr>
          </a:p>
        </p:txBody>
      </p:sp>
      <p:sp>
        <p:nvSpPr>
          <p:cNvPr id="25" name="Text 018 P">
            <a:extLst>
              <a:ext uri="{FF2B5EF4-FFF2-40B4-BE49-F238E27FC236}">
                <a16:creationId xmlns:a16="http://schemas.microsoft.com/office/drawing/2014/main" id="{69BB87D8-3286-0C4C-99F9-720060D63A89}"/>
              </a:ext>
            </a:extLst>
          </p:cNvPr>
          <p:cNvSpPr txBox="1"/>
          <p:nvPr/>
        </p:nvSpPr>
        <p:spPr>
          <a:xfrm>
            <a:off x="784860" y="512695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Decisions, documents and generated</a:t>
            </a:r>
            <a:endParaRPr lang="en-US" sz="1380" dirty="0" err="1">
              <a:solidFill>
                <a:srgbClr val="343B48"/>
              </a:solidFill>
              <a:latin typeface="Segoe UI" panose="020B0502040204020203" pitchFamily="34" charset="0"/>
            </a:endParaRPr>
          </a:p>
        </p:txBody>
      </p:sp>
      <p:sp>
        <p:nvSpPr>
          <p:cNvPr id="26" name="Text 019 P">
            <a:extLst>
              <a:ext uri="{FF2B5EF4-FFF2-40B4-BE49-F238E27FC236}">
                <a16:creationId xmlns:a16="http://schemas.microsoft.com/office/drawing/2014/main" id="{F347CE1D-0B91-247B-4BAC-581B14D7C48D}"/>
              </a:ext>
            </a:extLst>
          </p:cNvPr>
          <p:cNvSpPr txBox="1"/>
          <p:nvPr/>
        </p:nvSpPr>
        <p:spPr>
          <a:xfrm>
            <a:off x="784860" y="5365194"/>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artifacts attached to the process.</a:t>
            </a:r>
            <a:endParaRPr lang="en-US" sz="1380" dirty="0" err="1">
              <a:solidFill>
                <a:srgbClr val="343B48"/>
              </a:solidFill>
              <a:latin typeface="Segoe UI" panose="020B0502040204020203" pitchFamily="34" charset="0"/>
            </a:endParaRPr>
          </a:p>
        </p:txBody>
      </p:sp>
      <p:sp>
        <p:nvSpPr>
          <p:cNvPr id="27" name="Text 020 SPAN">
            <a:extLst>
              <a:ext uri="{FF2B5EF4-FFF2-40B4-BE49-F238E27FC236}">
                <a16:creationId xmlns:a16="http://schemas.microsoft.com/office/drawing/2014/main" id="{062EE6F7-E339-0233-A808-0CE6C20C2F94}"/>
              </a:ext>
            </a:extLst>
          </p:cNvPr>
          <p:cNvSpPr txBox="1"/>
          <p:nvPr/>
        </p:nvSpPr>
        <p:spPr>
          <a:xfrm>
            <a:off x="4601528" y="4339590"/>
            <a:ext cx="65" cy="307777"/>
          </a:xfrm>
          <a:prstGeom prst="rect">
            <a:avLst/>
          </a:prstGeom>
          <a:noFill/>
        </p:spPr>
        <p:txBody>
          <a:bodyPr vert="horz" wrap="none" lIns="0" tIns="0" rIns="0" bIns="0" rtlCol="0" anchor="t">
            <a:noAutofit/>
          </a:bodyPr>
          <a:lstStyle/>
          <a:p>
            <a:r>
              <a:rPr lang="en-US" sz="1380">
                <a:solidFill>
                  <a:srgbClr val="00599F"/>
                </a:solidFill>
                <a:latin typeface="Segoe UI Semibold" panose="020B0702040204020203" pitchFamily="34" charset="0"/>
              </a:rPr>
              <a:t>05</a:t>
            </a:r>
            <a:endParaRPr lang="en-US" sz="1380" dirty="0" err="1">
              <a:solidFill>
                <a:srgbClr val="00599F"/>
              </a:solidFill>
              <a:latin typeface="Segoe UI Semibold" panose="020B0702040204020203" pitchFamily="34" charset="0"/>
            </a:endParaRPr>
          </a:p>
        </p:txBody>
      </p:sp>
      <p:sp>
        <p:nvSpPr>
          <p:cNvPr id="28" name="Text 021 H2">
            <a:extLst>
              <a:ext uri="{FF2B5EF4-FFF2-40B4-BE49-F238E27FC236}">
                <a16:creationId xmlns:a16="http://schemas.microsoft.com/office/drawing/2014/main" id="{FD64FD84-2765-7502-3E33-2E3567144C20}"/>
              </a:ext>
            </a:extLst>
          </p:cNvPr>
          <p:cNvSpPr txBox="1"/>
          <p:nvPr/>
        </p:nvSpPr>
        <p:spPr>
          <a:xfrm>
            <a:off x="4523661" y="475488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Operational monitoring</a:t>
            </a:r>
            <a:endParaRPr lang="en-US" sz="1680" spc="-30" dirty="0" err="1">
              <a:solidFill>
                <a:srgbClr val="00599F"/>
              </a:solidFill>
              <a:latin typeface="Segoe UI Semibold" panose="020B0702040204020203" pitchFamily="34" charset="0"/>
            </a:endParaRPr>
          </a:p>
        </p:txBody>
      </p:sp>
      <p:sp>
        <p:nvSpPr>
          <p:cNvPr id="29" name="Text 022 P">
            <a:extLst>
              <a:ext uri="{FF2B5EF4-FFF2-40B4-BE49-F238E27FC236}">
                <a16:creationId xmlns:a16="http://schemas.microsoft.com/office/drawing/2014/main" id="{A5FCC4CD-1CEC-2A89-72AB-2D644965B251}"/>
              </a:ext>
            </a:extLst>
          </p:cNvPr>
          <p:cNvSpPr txBox="1"/>
          <p:nvPr/>
        </p:nvSpPr>
        <p:spPr>
          <a:xfrm>
            <a:off x="4523661" y="512695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Process and task enquiry through the</a:t>
            </a:r>
            <a:endParaRPr lang="en-US" sz="1380" dirty="0" err="1">
              <a:solidFill>
                <a:srgbClr val="343B48"/>
              </a:solidFill>
              <a:latin typeface="Segoe UI" panose="020B0502040204020203" pitchFamily="34" charset="0"/>
            </a:endParaRPr>
          </a:p>
        </p:txBody>
      </p:sp>
      <p:sp>
        <p:nvSpPr>
          <p:cNvPr id="40" name="Text 023 P">
            <a:extLst>
              <a:ext uri="{FF2B5EF4-FFF2-40B4-BE49-F238E27FC236}">
                <a16:creationId xmlns:a16="http://schemas.microsoft.com/office/drawing/2014/main" id="{757EE3A2-F2EC-BFDE-C8BD-C928A4B3581F}"/>
              </a:ext>
            </a:extLst>
          </p:cNvPr>
          <p:cNvSpPr txBox="1"/>
          <p:nvPr/>
        </p:nvSpPr>
        <p:spPr>
          <a:xfrm>
            <a:off x="4523661" y="5365194"/>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Console and monitoring agent.</a:t>
            </a:r>
            <a:endParaRPr lang="en-US" sz="1380" dirty="0" err="1">
              <a:solidFill>
                <a:srgbClr val="343B48"/>
              </a:solidFill>
              <a:latin typeface="Segoe UI" panose="020B0502040204020203" pitchFamily="34" charset="0"/>
            </a:endParaRPr>
          </a:p>
        </p:txBody>
      </p:sp>
      <p:sp>
        <p:nvSpPr>
          <p:cNvPr id="47" name="Text 024 H2">
            <a:extLst>
              <a:ext uri="{FF2B5EF4-FFF2-40B4-BE49-F238E27FC236}">
                <a16:creationId xmlns:a16="http://schemas.microsoft.com/office/drawing/2014/main" id="{31CC5F2E-972F-23C6-828B-D47B55A367DF}"/>
              </a:ext>
            </a:extLst>
          </p:cNvPr>
          <p:cNvSpPr txBox="1"/>
          <p:nvPr/>
        </p:nvSpPr>
        <p:spPr>
          <a:xfrm>
            <a:off x="8262580" y="4732496"/>
            <a:ext cx="65" cy="307777"/>
          </a:xfrm>
          <a:prstGeom prst="rect">
            <a:avLst/>
          </a:prstGeom>
          <a:noFill/>
        </p:spPr>
        <p:txBody>
          <a:bodyPr vert="horz" wrap="none" lIns="0" tIns="0" rIns="0" bIns="0" rtlCol="0" anchor="t">
            <a:noAutofit/>
          </a:bodyPr>
          <a:lstStyle/>
          <a:p>
            <a:r>
              <a:rPr lang="en-US" sz="2100" spc="-30">
                <a:solidFill>
                  <a:srgbClr val="1A1A1A"/>
                </a:solidFill>
                <a:latin typeface="Segoe UI Semibold" panose="020B0702040204020203" pitchFamily="34" charset="0"/>
              </a:rPr>
              <a:t>Build the business process.</a:t>
            </a:r>
            <a:endParaRPr lang="en-US" sz="2100" spc="-30" dirty="0" err="1">
              <a:solidFill>
                <a:srgbClr val="1A1A1A"/>
              </a:solidFill>
              <a:latin typeface="Segoe UI Semibold" panose="020B0702040204020203" pitchFamily="34" charset="0"/>
            </a:endParaRPr>
          </a:p>
        </p:txBody>
      </p:sp>
      <p:sp>
        <p:nvSpPr>
          <p:cNvPr id="48" name="Text 025 H2">
            <a:extLst>
              <a:ext uri="{FF2B5EF4-FFF2-40B4-BE49-F238E27FC236}">
                <a16:creationId xmlns:a16="http://schemas.microsoft.com/office/drawing/2014/main" id="{9961F38D-79D5-21A4-5E7C-D835FB5D2FD8}"/>
              </a:ext>
            </a:extLst>
          </p:cNvPr>
          <p:cNvSpPr txBox="1"/>
          <p:nvPr/>
        </p:nvSpPr>
        <p:spPr>
          <a:xfrm>
            <a:off x="8262580" y="5073848"/>
            <a:ext cx="65" cy="307777"/>
          </a:xfrm>
          <a:prstGeom prst="rect">
            <a:avLst/>
          </a:prstGeom>
          <a:noFill/>
        </p:spPr>
        <p:txBody>
          <a:bodyPr vert="horz" wrap="none" lIns="0" tIns="0" rIns="0" bIns="0" rtlCol="0" anchor="t">
            <a:noAutofit/>
          </a:bodyPr>
          <a:lstStyle/>
          <a:p>
            <a:r>
              <a:rPr lang="en-US" sz="2100" spc="-30">
                <a:solidFill>
                  <a:srgbClr val="00599F"/>
                </a:solidFill>
                <a:latin typeface="Segoe UI Semibold" panose="020B0702040204020203" pitchFamily="34" charset="0"/>
              </a:rPr>
              <a:t>Reuse the plumbing.</a:t>
            </a:r>
            <a:endParaRPr lang="en-US" sz="2100" spc="-30" dirty="0" err="1">
              <a:solidFill>
                <a:srgbClr val="00599F"/>
              </a:solidFill>
              <a:latin typeface="Segoe UI Semibold" panose="020B0702040204020203" pitchFamily="34" charset="0"/>
            </a:endParaRPr>
          </a:p>
        </p:txBody>
      </p:sp>
      <p:sp>
        <p:nvSpPr>
          <p:cNvPr id="49" name="Text 026 P">
            <a:extLst>
              <a:ext uri="{FF2B5EF4-FFF2-40B4-BE49-F238E27FC236}">
                <a16:creationId xmlns:a16="http://schemas.microsoft.com/office/drawing/2014/main" id="{354657F5-4C09-E296-7686-34BF4D4A1D86}"/>
              </a:ext>
            </a:extLst>
          </p:cNvPr>
          <p:cNvSpPr txBox="1"/>
          <p:nvPr/>
        </p:nvSpPr>
        <p:spPr>
          <a:xfrm>
            <a:off x="8262580" y="5521881"/>
            <a:ext cx="65" cy="307777"/>
          </a:xfrm>
          <a:prstGeom prst="rect">
            <a:avLst/>
          </a:prstGeom>
          <a:noFill/>
        </p:spPr>
        <p:txBody>
          <a:bodyPr vert="horz" wrap="none" lIns="0" tIns="0" rIns="0" bIns="0" rtlCol="0" anchor="t">
            <a:noAutofit/>
          </a:bodyPr>
          <a:lstStyle/>
          <a:p>
            <a:r>
              <a:rPr lang="en-US" sz="1380" spc="2">
                <a:solidFill>
                  <a:srgbClr val="343B48"/>
                </a:solidFill>
                <a:latin typeface="Segoe UI" panose="020B0502040204020203" pitchFamily="34" charset="0"/>
              </a:rPr>
              <a:t>Dataverse security remains authoritative.</a:t>
            </a:r>
            <a:endParaRPr lang="en-US" sz="1380" spc="2" dirty="0" err="1">
              <a:solidFill>
                <a:srgbClr val="343B48"/>
              </a:solidFill>
              <a:latin typeface="Segoe UI" panose="020B0502040204020203" pitchFamily="34" charset="0"/>
            </a:endParaRPr>
          </a:p>
        </p:txBody>
      </p:sp>
      <p:sp>
        <p:nvSpPr>
          <p:cNvPr id="50" name="Text 027 FOOTER">
            <a:extLst>
              <a:ext uri="{FF2B5EF4-FFF2-40B4-BE49-F238E27FC236}">
                <a16:creationId xmlns:a16="http://schemas.microsoft.com/office/drawing/2014/main" id="{05BDF3BC-19DC-547D-CED5-6B15955BFBEB}"/>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Agentic Business Process Automation on Copilot Studio</a:t>
            </a:r>
            <a:endParaRPr lang="en-US" sz="840" dirty="0" err="1">
              <a:solidFill>
                <a:srgbClr val="425466"/>
              </a:solidFill>
              <a:latin typeface="Segoe UI" panose="020B0502040204020203" pitchFamily="34" charset="0"/>
            </a:endParaRPr>
          </a:p>
        </p:txBody>
      </p:sp>
      <p:sp>
        <p:nvSpPr>
          <p:cNvPr id="51" name="Text 028 FOOTER">
            <a:extLst>
              <a:ext uri="{FF2B5EF4-FFF2-40B4-BE49-F238E27FC236}">
                <a16:creationId xmlns:a16="http://schemas.microsoft.com/office/drawing/2014/main" id="{C139B9D1-012E-7173-BD8B-02F20235C262}"/>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14 / 23</a:t>
            </a:r>
            <a:endParaRPr lang="en-US" sz="840" dirty="0" err="1">
              <a:solidFill>
                <a:srgbClr val="425466"/>
              </a:solidFill>
              <a:latin typeface="Segoe UI" panose="020B0502040204020203" pitchFamily="34" charset="0"/>
            </a:endParaRPr>
          </a:p>
        </p:txBody>
      </p:sp>
    </p:spTree>
    <p:extLst>
      <p:ext uri="{BB962C8B-B14F-4D97-AF65-F5344CB8AC3E}">
        <p14:creationId xmlns:p14="http://schemas.microsoft.com/office/powerpoint/2010/main" val="1164277618"/>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Process-15">
    <p:spTree>
      <p:nvGrpSpPr>
        <p:cNvPr id="1" name="">
          <a:extLst>
            <a:ext uri="{FF2B5EF4-FFF2-40B4-BE49-F238E27FC236}">
              <a16:creationId xmlns:a16="http://schemas.microsoft.com/office/drawing/2014/main" id="{45E204F7-B12F-72AC-C9AA-76598E84CC14}"/>
            </a:ext>
          </a:extLst>
        </p:cNvPr>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9FD942C5-9787-BDE0-57FE-0434FFB84D42}"/>
              </a:ext>
            </a:extLst>
          </p:cNvPr>
          <p:cNvPicPr>
            <a:picLocks/>
          </p:cNvPicPr>
          <p:nvPr/>
        </p:nvPicPr>
        <p:blipFill>
          <a:blip r:embed="rId3"/>
          <a:stretch>
            <a:fillRect/>
          </a:stretch>
        </p:blipFill>
        <p:spPr>
          <a:xfrm>
            <a:off x="0" y="0"/>
            <a:ext cx="12192000" cy="6858000"/>
          </a:xfrm>
          <a:prstGeom prst="rect">
            <a:avLst/>
          </a:prstGeom>
        </p:spPr>
      </p:pic>
      <p:sp>
        <p:nvSpPr>
          <p:cNvPr id="8" name="Text 001 SPAN">
            <a:extLst>
              <a:ext uri="{FF2B5EF4-FFF2-40B4-BE49-F238E27FC236}">
                <a16:creationId xmlns:a16="http://schemas.microsoft.com/office/drawing/2014/main" id="{759A5853-A6AF-4EAE-8594-8A532F4D8562}"/>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03 / HIGH-LEVEL SOLUTION</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3A49EFE6-EB8C-7A1D-3DA3-689B1F39231B}"/>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69">
                <a:solidFill>
                  <a:srgbClr val="1A1A1A"/>
                </a:solidFill>
                <a:latin typeface="Segoe UI Semibold" panose="020B0702040204020203" pitchFamily="34" charset="0"/>
              </a:rPr>
              <a:t>Reference patterns worth repeating</a:t>
            </a:r>
            <a:endParaRPr lang="en-US" sz="2880" spc="-69" dirty="0" err="1">
              <a:solidFill>
                <a:srgbClr val="1A1A1A"/>
              </a:solidFill>
              <a:latin typeface="Segoe UI Semibold" panose="020B0702040204020203" pitchFamily="34" charset="0"/>
            </a:endParaRPr>
          </a:p>
        </p:txBody>
      </p:sp>
      <p:sp>
        <p:nvSpPr>
          <p:cNvPr id="10" name="Text 003 P">
            <a:extLst>
              <a:ext uri="{FF2B5EF4-FFF2-40B4-BE49-F238E27FC236}">
                <a16:creationId xmlns:a16="http://schemas.microsoft.com/office/drawing/2014/main" id="{A925CF88-DCB1-840F-D51C-95D54F4F25FC}"/>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a:solidFill>
                  <a:srgbClr val="343B48"/>
                </a:solidFill>
                <a:latin typeface="Segoe UI" panose="020B0502040204020203" pitchFamily="34" charset="0"/>
              </a:rPr>
              <a:t>Separate reasoning, durable process state and accountable human decisions.</a:t>
            </a:r>
            <a:endParaRPr lang="en-US" sz="1500" dirty="0" err="1">
              <a:solidFill>
                <a:srgbClr val="343B48"/>
              </a:solidFill>
              <a:latin typeface="Segoe UI" panose="020B0502040204020203" pitchFamily="34" charset="0"/>
            </a:endParaRPr>
          </a:p>
        </p:txBody>
      </p:sp>
      <p:sp>
        <p:nvSpPr>
          <p:cNvPr id="11" name="Text 004 SPAN">
            <a:extLst>
              <a:ext uri="{FF2B5EF4-FFF2-40B4-BE49-F238E27FC236}">
                <a16:creationId xmlns:a16="http://schemas.microsoft.com/office/drawing/2014/main" id="{FB359C54-F2CC-43A5-3EE8-5BE9E731233D}"/>
              </a:ext>
            </a:extLst>
          </p:cNvPr>
          <p:cNvSpPr txBox="1"/>
          <p:nvPr/>
        </p:nvSpPr>
        <p:spPr>
          <a:xfrm>
            <a:off x="899279" y="2030730"/>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01</a:t>
            </a:r>
            <a:endParaRPr lang="en-US" sz="1500" dirty="0" err="1">
              <a:solidFill>
                <a:srgbClr val="00599F"/>
              </a:solidFill>
              <a:latin typeface="Segoe UI Semibold" panose="020B0702040204020203" pitchFamily="34" charset="0"/>
            </a:endParaRPr>
          </a:p>
        </p:txBody>
      </p:sp>
      <p:sp>
        <p:nvSpPr>
          <p:cNvPr id="12" name="Text 005 H2">
            <a:extLst>
              <a:ext uri="{FF2B5EF4-FFF2-40B4-BE49-F238E27FC236}">
                <a16:creationId xmlns:a16="http://schemas.microsoft.com/office/drawing/2014/main" id="{A69F2996-F7ED-1F7C-A8AB-D1BE6C2B026E}"/>
              </a:ext>
            </a:extLst>
          </p:cNvPr>
          <p:cNvSpPr txBox="1"/>
          <p:nvPr/>
        </p:nvSpPr>
        <p:spPr>
          <a:xfrm>
            <a:off x="1417320" y="1958340"/>
            <a:ext cx="65" cy="307777"/>
          </a:xfrm>
          <a:prstGeom prst="rect">
            <a:avLst/>
          </a:prstGeom>
          <a:noFill/>
        </p:spPr>
        <p:txBody>
          <a:bodyPr vert="horz" wrap="none" lIns="0" tIns="0" rIns="0" bIns="0" rtlCol="0" anchor="t">
            <a:noAutofit/>
          </a:bodyPr>
          <a:lstStyle/>
          <a:p>
            <a:r>
              <a:rPr lang="en-US" sz="1800" spc="-30">
                <a:solidFill>
                  <a:srgbClr val="00599F"/>
                </a:solidFill>
                <a:latin typeface="Segoe UI Semibold" panose="020B0702040204020203" pitchFamily="34" charset="0"/>
              </a:rPr>
              <a:t>Persist between stages</a:t>
            </a:r>
            <a:endParaRPr lang="en-US" sz="1800" spc="-30" dirty="0" err="1">
              <a:solidFill>
                <a:srgbClr val="00599F"/>
              </a:solidFill>
              <a:latin typeface="Segoe UI Semibold" panose="020B0702040204020203" pitchFamily="34" charset="0"/>
            </a:endParaRPr>
          </a:p>
        </p:txBody>
      </p:sp>
      <p:sp>
        <p:nvSpPr>
          <p:cNvPr id="13" name="Text 006 P">
            <a:extLst>
              <a:ext uri="{FF2B5EF4-FFF2-40B4-BE49-F238E27FC236}">
                <a16:creationId xmlns:a16="http://schemas.microsoft.com/office/drawing/2014/main" id="{D2957005-D3B0-4923-F8B2-459A1B4A0591}"/>
              </a:ext>
            </a:extLst>
          </p:cNvPr>
          <p:cNvSpPr txBox="1"/>
          <p:nvPr/>
        </p:nvSpPr>
        <p:spPr>
          <a:xfrm>
            <a:off x="1417320" y="2372797"/>
            <a:ext cx="65" cy="307777"/>
          </a:xfrm>
          <a:prstGeom prst="rect">
            <a:avLst/>
          </a:prstGeom>
          <a:noFill/>
        </p:spPr>
        <p:txBody>
          <a:bodyPr vert="horz" wrap="none" lIns="0" tIns="0" rIns="0" bIns="0" rtlCol="0" anchor="t">
            <a:noAutofit/>
          </a:bodyPr>
          <a:lstStyle/>
          <a:p>
            <a:r>
              <a:rPr lang="en-US" sz="1440">
                <a:solidFill>
                  <a:srgbClr val="343B48"/>
                </a:solidFill>
                <a:latin typeface="Segoe UI" panose="020B0502040204020203" pitchFamily="34" charset="0"/>
              </a:rPr>
              <a:t>A Dataverse step event starts the next workflow.</a:t>
            </a:r>
            <a:endParaRPr lang="en-US" sz="1440" dirty="0" err="1">
              <a:solidFill>
                <a:srgbClr val="343B48"/>
              </a:solidFill>
              <a:latin typeface="Segoe UI" panose="020B0502040204020203" pitchFamily="34" charset="0"/>
            </a:endParaRPr>
          </a:p>
        </p:txBody>
      </p:sp>
      <p:sp>
        <p:nvSpPr>
          <p:cNvPr id="14" name="Text 007 P">
            <a:extLst>
              <a:ext uri="{FF2B5EF4-FFF2-40B4-BE49-F238E27FC236}">
                <a16:creationId xmlns:a16="http://schemas.microsoft.com/office/drawing/2014/main" id="{4725F9DF-E9CC-4E76-96D9-A6C246AA5D41}"/>
              </a:ext>
            </a:extLst>
          </p:cNvPr>
          <p:cNvSpPr txBox="1"/>
          <p:nvPr/>
        </p:nvSpPr>
        <p:spPr>
          <a:xfrm>
            <a:off x="1417320" y="2621399"/>
            <a:ext cx="65" cy="307777"/>
          </a:xfrm>
          <a:prstGeom prst="rect">
            <a:avLst/>
          </a:prstGeom>
          <a:noFill/>
        </p:spPr>
        <p:txBody>
          <a:bodyPr vert="horz" wrap="none" lIns="0" tIns="0" rIns="0" bIns="0" rtlCol="0" anchor="t">
            <a:noAutofit/>
          </a:bodyPr>
          <a:lstStyle/>
          <a:p>
            <a:r>
              <a:rPr lang="en-US" sz="1440">
                <a:solidFill>
                  <a:srgbClr val="343B48"/>
                </a:solidFill>
                <a:latin typeface="Segoe UI" panose="020B0502040204020203" pitchFamily="34" charset="0"/>
              </a:rPr>
              <a:t>No long-lived parent flow waits for a human.</a:t>
            </a:r>
            <a:endParaRPr lang="en-US" sz="1440" dirty="0" err="1">
              <a:solidFill>
                <a:srgbClr val="343B48"/>
              </a:solidFill>
              <a:latin typeface="Segoe UI" panose="020B0502040204020203" pitchFamily="34" charset="0"/>
            </a:endParaRPr>
          </a:p>
        </p:txBody>
      </p:sp>
      <p:sp>
        <p:nvSpPr>
          <p:cNvPr id="15" name="Text 008 SPAN">
            <a:extLst>
              <a:ext uri="{FF2B5EF4-FFF2-40B4-BE49-F238E27FC236}">
                <a16:creationId xmlns:a16="http://schemas.microsoft.com/office/drawing/2014/main" id="{90EFFED6-AB13-8DC8-8108-E3F0F1FB419C}"/>
              </a:ext>
            </a:extLst>
          </p:cNvPr>
          <p:cNvSpPr txBox="1"/>
          <p:nvPr/>
        </p:nvSpPr>
        <p:spPr>
          <a:xfrm>
            <a:off x="6493073" y="2030730"/>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02</a:t>
            </a:r>
            <a:endParaRPr lang="en-US" sz="1500" dirty="0" err="1">
              <a:solidFill>
                <a:srgbClr val="00599F"/>
              </a:solidFill>
              <a:latin typeface="Segoe UI Semibold" panose="020B0702040204020203" pitchFamily="34" charset="0"/>
            </a:endParaRPr>
          </a:p>
        </p:txBody>
      </p:sp>
      <p:sp>
        <p:nvSpPr>
          <p:cNvPr id="16" name="Text 009 H2">
            <a:extLst>
              <a:ext uri="{FF2B5EF4-FFF2-40B4-BE49-F238E27FC236}">
                <a16:creationId xmlns:a16="http://schemas.microsoft.com/office/drawing/2014/main" id="{D7EEF83A-E980-444C-D9CF-574F60EDFF11}"/>
              </a:ext>
            </a:extLst>
          </p:cNvPr>
          <p:cNvSpPr txBox="1"/>
          <p:nvPr/>
        </p:nvSpPr>
        <p:spPr>
          <a:xfrm>
            <a:off x="7025640" y="1958340"/>
            <a:ext cx="65" cy="307777"/>
          </a:xfrm>
          <a:prstGeom prst="rect">
            <a:avLst/>
          </a:prstGeom>
          <a:noFill/>
        </p:spPr>
        <p:txBody>
          <a:bodyPr vert="horz" wrap="none" lIns="0" tIns="0" rIns="0" bIns="0" rtlCol="0" anchor="t">
            <a:noAutofit/>
          </a:bodyPr>
          <a:lstStyle/>
          <a:p>
            <a:r>
              <a:rPr lang="en-US" sz="1800" spc="-30">
                <a:solidFill>
                  <a:srgbClr val="00599F"/>
                </a:solidFill>
                <a:latin typeface="Segoe UI Semibold" panose="020B0702040204020203" pitchFamily="34" charset="0"/>
              </a:rPr>
              <a:t>Keep skills focused</a:t>
            </a:r>
            <a:endParaRPr lang="en-US" sz="1800" spc="-30" dirty="0" err="1">
              <a:solidFill>
                <a:srgbClr val="00599F"/>
              </a:solidFill>
              <a:latin typeface="Segoe UI Semibold" panose="020B0702040204020203" pitchFamily="34" charset="0"/>
            </a:endParaRPr>
          </a:p>
        </p:txBody>
      </p:sp>
      <p:sp>
        <p:nvSpPr>
          <p:cNvPr id="17" name="Text 010 P">
            <a:extLst>
              <a:ext uri="{FF2B5EF4-FFF2-40B4-BE49-F238E27FC236}">
                <a16:creationId xmlns:a16="http://schemas.microsoft.com/office/drawing/2014/main" id="{66804D4B-9770-D96B-3B86-6FA1817E43EC}"/>
              </a:ext>
            </a:extLst>
          </p:cNvPr>
          <p:cNvSpPr txBox="1"/>
          <p:nvPr/>
        </p:nvSpPr>
        <p:spPr>
          <a:xfrm>
            <a:off x="7025640" y="2372797"/>
            <a:ext cx="65" cy="307777"/>
          </a:xfrm>
          <a:prstGeom prst="rect">
            <a:avLst/>
          </a:prstGeom>
          <a:noFill/>
        </p:spPr>
        <p:txBody>
          <a:bodyPr vert="horz" wrap="none" lIns="0" tIns="0" rIns="0" bIns="0" rtlCol="0" anchor="t">
            <a:noAutofit/>
          </a:bodyPr>
          <a:lstStyle/>
          <a:p>
            <a:r>
              <a:rPr lang="en-US" sz="1440">
                <a:solidFill>
                  <a:srgbClr val="343B48"/>
                </a:solidFill>
                <a:latin typeface="Segoe UI" panose="020B0502040204020203" pitchFamily="34" charset="0"/>
              </a:rPr>
              <a:t>Version business rules as focused skill packages.</a:t>
            </a:r>
            <a:endParaRPr lang="en-US" sz="1440" dirty="0" err="1">
              <a:solidFill>
                <a:srgbClr val="343B48"/>
              </a:solidFill>
              <a:latin typeface="Segoe UI" panose="020B0502040204020203" pitchFamily="34" charset="0"/>
            </a:endParaRPr>
          </a:p>
        </p:txBody>
      </p:sp>
      <p:sp>
        <p:nvSpPr>
          <p:cNvPr id="18" name="Text 011 P">
            <a:extLst>
              <a:ext uri="{FF2B5EF4-FFF2-40B4-BE49-F238E27FC236}">
                <a16:creationId xmlns:a16="http://schemas.microsoft.com/office/drawing/2014/main" id="{88FAA16B-D180-7DD5-BD36-2C4DE6F26E76}"/>
              </a:ext>
            </a:extLst>
          </p:cNvPr>
          <p:cNvSpPr txBox="1"/>
          <p:nvPr/>
        </p:nvSpPr>
        <p:spPr>
          <a:xfrm>
            <a:off x="7025640" y="2621399"/>
            <a:ext cx="65" cy="307777"/>
          </a:xfrm>
          <a:prstGeom prst="rect">
            <a:avLst/>
          </a:prstGeom>
          <a:noFill/>
        </p:spPr>
        <p:txBody>
          <a:bodyPr vert="horz" wrap="none" lIns="0" tIns="0" rIns="0" bIns="0" rtlCol="0" anchor="t">
            <a:noAutofit/>
          </a:bodyPr>
          <a:lstStyle/>
          <a:p>
            <a:r>
              <a:rPr lang="en-US" sz="1440">
                <a:solidFill>
                  <a:srgbClr val="343B48"/>
                </a:solidFill>
                <a:latin typeface="Segoe UI" panose="020B0502040204020203" pitchFamily="34" charset="0"/>
              </a:rPr>
              <a:t>Load the relevant instructions and knowledge.</a:t>
            </a:r>
            <a:endParaRPr lang="en-US" sz="1440" dirty="0" err="1">
              <a:solidFill>
                <a:srgbClr val="343B48"/>
              </a:solidFill>
              <a:latin typeface="Segoe UI" panose="020B0502040204020203" pitchFamily="34" charset="0"/>
            </a:endParaRPr>
          </a:p>
        </p:txBody>
      </p:sp>
      <p:sp>
        <p:nvSpPr>
          <p:cNvPr id="19" name="Text 012 SPAN">
            <a:extLst>
              <a:ext uri="{FF2B5EF4-FFF2-40B4-BE49-F238E27FC236}">
                <a16:creationId xmlns:a16="http://schemas.microsoft.com/office/drawing/2014/main" id="{2E74A954-F349-6858-A5D6-05C959581813}"/>
              </a:ext>
            </a:extLst>
          </p:cNvPr>
          <p:cNvSpPr txBox="1"/>
          <p:nvPr/>
        </p:nvSpPr>
        <p:spPr>
          <a:xfrm>
            <a:off x="884753" y="3890010"/>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03</a:t>
            </a:r>
            <a:endParaRPr lang="en-US" sz="1500" dirty="0" err="1">
              <a:solidFill>
                <a:srgbClr val="00599F"/>
              </a:solidFill>
              <a:latin typeface="Segoe UI Semibold" panose="020B0702040204020203" pitchFamily="34" charset="0"/>
            </a:endParaRPr>
          </a:p>
        </p:txBody>
      </p:sp>
      <p:sp>
        <p:nvSpPr>
          <p:cNvPr id="20" name="Text 013 H2">
            <a:extLst>
              <a:ext uri="{FF2B5EF4-FFF2-40B4-BE49-F238E27FC236}">
                <a16:creationId xmlns:a16="http://schemas.microsoft.com/office/drawing/2014/main" id="{95B54CA0-0436-21FC-12AC-52AF1656D1B9}"/>
              </a:ext>
            </a:extLst>
          </p:cNvPr>
          <p:cNvSpPr txBox="1"/>
          <p:nvPr/>
        </p:nvSpPr>
        <p:spPr>
          <a:xfrm>
            <a:off x="1417320" y="3817620"/>
            <a:ext cx="65" cy="307777"/>
          </a:xfrm>
          <a:prstGeom prst="rect">
            <a:avLst/>
          </a:prstGeom>
          <a:noFill/>
        </p:spPr>
        <p:txBody>
          <a:bodyPr vert="horz" wrap="none" lIns="0" tIns="0" rIns="0" bIns="0" rtlCol="0" anchor="t">
            <a:noAutofit/>
          </a:bodyPr>
          <a:lstStyle/>
          <a:p>
            <a:r>
              <a:rPr lang="en-US" sz="1800" spc="-30">
                <a:solidFill>
                  <a:srgbClr val="00599F"/>
                </a:solidFill>
                <a:latin typeface="Segoe UI Semibold" panose="020B0702040204020203" pitchFamily="34" charset="0"/>
              </a:rPr>
              <a:t>Use explicit contracts</a:t>
            </a:r>
            <a:endParaRPr lang="en-US" sz="1800" spc="-30" dirty="0" err="1">
              <a:solidFill>
                <a:srgbClr val="00599F"/>
              </a:solidFill>
              <a:latin typeface="Segoe UI Semibold" panose="020B0702040204020203" pitchFamily="34" charset="0"/>
            </a:endParaRPr>
          </a:p>
        </p:txBody>
      </p:sp>
      <p:sp>
        <p:nvSpPr>
          <p:cNvPr id="21" name="Text 014 P">
            <a:extLst>
              <a:ext uri="{FF2B5EF4-FFF2-40B4-BE49-F238E27FC236}">
                <a16:creationId xmlns:a16="http://schemas.microsoft.com/office/drawing/2014/main" id="{A29B5712-B1EB-3B8F-3900-030982846802}"/>
              </a:ext>
            </a:extLst>
          </p:cNvPr>
          <p:cNvSpPr txBox="1"/>
          <p:nvPr/>
        </p:nvSpPr>
        <p:spPr>
          <a:xfrm>
            <a:off x="1417320" y="4232077"/>
            <a:ext cx="65" cy="307777"/>
          </a:xfrm>
          <a:prstGeom prst="rect">
            <a:avLst/>
          </a:prstGeom>
          <a:noFill/>
        </p:spPr>
        <p:txBody>
          <a:bodyPr vert="horz" wrap="none" lIns="0" tIns="0" rIns="0" bIns="0" rtlCol="0" anchor="t">
            <a:noAutofit/>
          </a:bodyPr>
          <a:lstStyle/>
          <a:p>
            <a:r>
              <a:rPr lang="en-US" sz="1440">
                <a:solidFill>
                  <a:srgbClr val="343B48"/>
                </a:solidFill>
                <a:latin typeface="Segoe UI" panose="020B0502040204020203" pitchFamily="34" charset="0"/>
              </a:rPr>
              <a:t>Fixed extraction JSON; field-level evaluation;</a:t>
            </a:r>
            <a:endParaRPr lang="en-US" sz="1440" dirty="0" err="1">
              <a:solidFill>
                <a:srgbClr val="343B48"/>
              </a:solidFill>
              <a:latin typeface="Segoe UI" panose="020B0502040204020203" pitchFamily="34" charset="0"/>
            </a:endParaRPr>
          </a:p>
        </p:txBody>
      </p:sp>
      <p:sp>
        <p:nvSpPr>
          <p:cNvPr id="22" name="Text 015 P">
            <a:extLst>
              <a:ext uri="{FF2B5EF4-FFF2-40B4-BE49-F238E27FC236}">
                <a16:creationId xmlns:a16="http://schemas.microsoft.com/office/drawing/2014/main" id="{1D9F32D6-D5D1-96FB-063E-DD3B9FBE340C}"/>
              </a:ext>
            </a:extLst>
          </p:cNvPr>
          <p:cNvSpPr txBox="1"/>
          <p:nvPr/>
        </p:nvSpPr>
        <p:spPr>
          <a:xfrm>
            <a:off x="1417320" y="4480679"/>
            <a:ext cx="65" cy="307777"/>
          </a:xfrm>
          <a:prstGeom prst="rect">
            <a:avLst/>
          </a:prstGeom>
          <a:noFill/>
        </p:spPr>
        <p:txBody>
          <a:bodyPr vert="horz" wrap="none" lIns="0" tIns="0" rIns="0" bIns="0" rtlCol="0" anchor="t">
            <a:noAutofit/>
          </a:bodyPr>
          <a:lstStyle/>
          <a:p>
            <a:r>
              <a:rPr lang="en-US" sz="1440">
                <a:solidFill>
                  <a:srgbClr val="343B48"/>
                </a:solidFill>
                <a:latin typeface="Segoe UI" panose="020B0502040204020203" pitchFamily="34" charset="0"/>
              </a:rPr>
              <a:t>schema-bound SAP output with no invented fields.</a:t>
            </a:r>
            <a:endParaRPr lang="en-US" sz="1440" dirty="0" err="1">
              <a:solidFill>
                <a:srgbClr val="343B48"/>
              </a:solidFill>
              <a:latin typeface="Segoe UI" panose="020B0502040204020203" pitchFamily="34" charset="0"/>
            </a:endParaRPr>
          </a:p>
        </p:txBody>
      </p:sp>
      <p:sp>
        <p:nvSpPr>
          <p:cNvPr id="23" name="Text 016 SPAN">
            <a:extLst>
              <a:ext uri="{FF2B5EF4-FFF2-40B4-BE49-F238E27FC236}">
                <a16:creationId xmlns:a16="http://schemas.microsoft.com/office/drawing/2014/main" id="{C0C900E3-335D-0541-37C2-33DA9693D392}"/>
              </a:ext>
            </a:extLst>
          </p:cNvPr>
          <p:cNvSpPr txBox="1"/>
          <p:nvPr/>
        </p:nvSpPr>
        <p:spPr>
          <a:xfrm>
            <a:off x="6491050" y="3890010"/>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04</a:t>
            </a:r>
            <a:endParaRPr lang="en-US" sz="1500" dirty="0" err="1">
              <a:solidFill>
                <a:srgbClr val="00599F"/>
              </a:solidFill>
              <a:latin typeface="Segoe UI Semibold" panose="020B0702040204020203" pitchFamily="34" charset="0"/>
            </a:endParaRPr>
          </a:p>
        </p:txBody>
      </p:sp>
      <p:sp>
        <p:nvSpPr>
          <p:cNvPr id="24" name="Text 017 H2">
            <a:extLst>
              <a:ext uri="{FF2B5EF4-FFF2-40B4-BE49-F238E27FC236}">
                <a16:creationId xmlns:a16="http://schemas.microsoft.com/office/drawing/2014/main" id="{7B7637C3-5BE9-4B75-D4DF-F241E9D74AA9}"/>
              </a:ext>
            </a:extLst>
          </p:cNvPr>
          <p:cNvSpPr txBox="1"/>
          <p:nvPr/>
        </p:nvSpPr>
        <p:spPr>
          <a:xfrm>
            <a:off x="7025640" y="3817620"/>
            <a:ext cx="65" cy="307777"/>
          </a:xfrm>
          <a:prstGeom prst="rect">
            <a:avLst/>
          </a:prstGeom>
          <a:noFill/>
        </p:spPr>
        <p:txBody>
          <a:bodyPr vert="horz" wrap="none" lIns="0" tIns="0" rIns="0" bIns="0" rtlCol="0" anchor="t">
            <a:noAutofit/>
          </a:bodyPr>
          <a:lstStyle/>
          <a:p>
            <a:r>
              <a:rPr lang="en-US" sz="1800" spc="-30">
                <a:solidFill>
                  <a:srgbClr val="00599F"/>
                </a:solidFill>
                <a:latin typeface="Segoe UI Semibold" panose="020B0702040204020203" pitchFamily="34" charset="0"/>
              </a:rPr>
              <a:t>Make decisions safe</a:t>
            </a:r>
            <a:endParaRPr lang="en-US" sz="1800" spc="-30" dirty="0" err="1">
              <a:solidFill>
                <a:srgbClr val="00599F"/>
              </a:solidFill>
              <a:latin typeface="Segoe UI Semibold" panose="020B0702040204020203" pitchFamily="34" charset="0"/>
            </a:endParaRPr>
          </a:p>
        </p:txBody>
      </p:sp>
      <p:sp>
        <p:nvSpPr>
          <p:cNvPr id="25" name="Text 018 P">
            <a:extLst>
              <a:ext uri="{FF2B5EF4-FFF2-40B4-BE49-F238E27FC236}">
                <a16:creationId xmlns:a16="http://schemas.microsoft.com/office/drawing/2014/main" id="{97B36982-CC1F-F57B-D4D0-D8D2E149BED3}"/>
              </a:ext>
            </a:extLst>
          </p:cNvPr>
          <p:cNvSpPr txBox="1"/>
          <p:nvPr/>
        </p:nvSpPr>
        <p:spPr>
          <a:xfrm>
            <a:off x="7025640" y="4232077"/>
            <a:ext cx="65" cy="307777"/>
          </a:xfrm>
          <a:prstGeom prst="rect">
            <a:avLst/>
          </a:prstGeom>
          <a:noFill/>
        </p:spPr>
        <p:txBody>
          <a:bodyPr vert="horz" wrap="none" lIns="0" tIns="0" rIns="0" bIns="0" rtlCol="0" anchor="t">
            <a:noAutofit/>
          </a:bodyPr>
          <a:lstStyle/>
          <a:p>
            <a:r>
              <a:rPr lang="en-US" sz="1440">
                <a:solidFill>
                  <a:srgbClr val="343B48"/>
                </a:solidFill>
                <a:latin typeface="Segoe UI" panose="020B0502040204020203" pitchFamily="34" charset="0"/>
              </a:rPr>
              <a:t>Human gates, row-versioned claims and atomic</a:t>
            </a:r>
            <a:endParaRPr lang="en-US" sz="1440" dirty="0" err="1">
              <a:solidFill>
                <a:srgbClr val="343B48"/>
              </a:solidFill>
              <a:latin typeface="Segoe UI" panose="020B0502040204020203" pitchFamily="34" charset="0"/>
            </a:endParaRPr>
          </a:p>
        </p:txBody>
      </p:sp>
      <p:sp>
        <p:nvSpPr>
          <p:cNvPr id="26" name="Text 019 P">
            <a:extLst>
              <a:ext uri="{FF2B5EF4-FFF2-40B4-BE49-F238E27FC236}">
                <a16:creationId xmlns:a16="http://schemas.microsoft.com/office/drawing/2014/main" id="{C84609E6-FAE9-4105-24E5-41E79F74249D}"/>
              </a:ext>
            </a:extLst>
          </p:cNvPr>
          <p:cNvSpPr txBox="1"/>
          <p:nvPr/>
        </p:nvSpPr>
        <p:spPr>
          <a:xfrm>
            <a:off x="7025640" y="4480679"/>
            <a:ext cx="65" cy="307777"/>
          </a:xfrm>
          <a:prstGeom prst="rect">
            <a:avLst/>
          </a:prstGeom>
          <a:noFill/>
        </p:spPr>
        <p:txBody>
          <a:bodyPr vert="horz" wrap="none" lIns="0" tIns="0" rIns="0" bIns="0" rtlCol="0" anchor="t">
            <a:noAutofit/>
          </a:bodyPr>
          <a:lstStyle/>
          <a:p>
            <a:r>
              <a:rPr lang="en-US" sz="1440">
                <a:solidFill>
                  <a:srgbClr val="343B48"/>
                </a:solidFill>
                <a:latin typeface="Segoe UI" panose="020B0502040204020203" pitchFamily="34" charset="0"/>
              </a:rPr>
              <a:t>completion preserve who decided what.</a:t>
            </a:r>
            <a:endParaRPr lang="en-US" sz="1440" dirty="0" err="1">
              <a:solidFill>
                <a:srgbClr val="343B48"/>
              </a:solidFill>
              <a:latin typeface="Segoe UI" panose="020B0502040204020203" pitchFamily="34" charset="0"/>
            </a:endParaRPr>
          </a:p>
        </p:txBody>
      </p:sp>
      <p:sp>
        <p:nvSpPr>
          <p:cNvPr id="27" name="Text 020 DIV">
            <a:extLst>
              <a:ext uri="{FF2B5EF4-FFF2-40B4-BE49-F238E27FC236}">
                <a16:creationId xmlns:a16="http://schemas.microsoft.com/office/drawing/2014/main" id="{3A4555A8-738C-4CCA-C143-B0BA932486EA}"/>
              </a:ext>
            </a:extLst>
          </p:cNvPr>
          <p:cNvSpPr txBox="1"/>
          <p:nvPr/>
        </p:nvSpPr>
        <p:spPr>
          <a:xfrm>
            <a:off x="2421969" y="584073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Reason with agents. </a:t>
            </a:r>
            <a:endParaRPr lang="en-US" sz="1560" dirty="0" err="1">
              <a:solidFill>
                <a:srgbClr val="1A1A1A"/>
              </a:solidFill>
              <a:latin typeface="Segoe UI" panose="020B0502040204020203" pitchFamily="34" charset="0"/>
            </a:endParaRPr>
          </a:p>
        </p:txBody>
      </p:sp>
      <p:sp>
        <p:nvSpPr>
          <p:cNvPr id="28" name="Text 021 STRONG">
            <a:extLst>
              <a:ext uri="{FF2B5EF4-FFF2-40B4-BE49-F238E27FC236}">
                <a16:creationId xmlns:a16="http://schemas.microsoft.com/office/drawing/2014/main" id="{0E39F90A-E5F6-B1B2-4D72-27EC5A393719}"/>
              </a:ext>
            </a:extLst>
          </p:cNvPr>
          <p:cNvSpPr txBox="1"/>
          <p:nvPr/>
        </p:nvSpPr>
        <p:spPr>
          <a:xfrm>
            <a:off x="4211955" y="5840730"/>
            <a:ext cx="65" cy="307777"/>
          </a:xfrm>
          <a:prstGeom prst="rect">
            <a:avLst/>
          </a:prstGeom>
          <a:noFill/>
        </p:spPr>
        <p:txBody>
          <a:bodyPr vert="horz" wrap="none" lIns="0" tIns="0" rIns="0" bIns="0" rtlCol="0" anchor="t">
            <a:noAutofit/>
          </a:bodyPr>
          <a:lstStyle/>
          <a:p>
            <a:r>
              <a:rPr lang="en-US" sz="1560">
                <a:solidFill>
                  <a:srgbClr val="00599F"/>
                </a:solidFill>
                <a:latin typeface="Segoe UI Semibold" panose="020B0702040204020203" pitchFamily="34" charset="0"/>
              </a:rPr>
              <a:t>Coordinate through persisted state. Keep people accountable.</a:t>
            </a:r>
            <a:endParaRPr lang="en-US" sz="1560" dirty="0" err="1">
              <a:solidFill>
                <a:srgbClr val="00599F"/>
              </a:solidFill>
              <a:latin typeface="Segoe UI Semibold" panose="020B0702040204020203" pitchFamily="34" charset="0"/>
            </a:endParaRPr>
          </a:p>
        </p:txBody>
      </p:sp>
      <p:sp>
        <p:nvSpPr>
          <p:cNvPr id="29" name="Text 022 FOOTER">
            <a:extLst>
              <a:ext uri="{FF2B5EF4-FFF2-40B4-BE49-F238E27FC236}">
                <a16:creationId xmlns:a16="http://schemas.microsoft.com/office/drawing/2014/main" id="{9DF10C3B-DD6B-F4E5-681E-939CED460036}"/>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Agentic Business Process Automation on Copilot Studio</a:t>
            </a:r>
            <a:endParaRPr lang="en-US" sz="840" dirty="0" err="1">
              <a:solidFill>
                <a:srgbClr val="425466"/>
              </a:solidFill>
              <a:latin typeface="Segoe UI" panose="020B0502040204020203" pitchFamily="34" charset="0"/>
            </a:endParaRPr>
          </a:p>
        </p:txBody>
      </p:sp>
      <p:sp>
        <p:nvSpPr>
          <p:cNvPr id="40" name="Text 023 FOOTER">
            <a:extLst>
              <a:ext uri="{FF2B5EF4-FFF2-40B4-BE49-F238E27FC236}">
                <a16:creationId xmlns:a16="http://schemas.microsoft.com/office/drawing/2014/main" id="{12ED8ACE-FA92-9E36-09FD-3ED2713B6F2F}"/>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15 / 23</a:t>
            </a:r>
            <a:endParaRPr lang="en-US" sz="840" dirty="0" err="1">
              <a:solidFill>
                <a:srgbClr val="425466"/>
              </a:solidFill>
              <a:latin typeface="Segoe UI" panose="020B0502040204020203" pitchFamily="34" charset="0"/>
            </a:endParaRPr>
          </a:p>
        </p:txBody>
      </p:sp>
    </p:spTree>
    <p:extLst>
      <p:ext uri="{BB962C8B-B14F-4D97-AF65-F5344CB8AC3E}">
        <p14:creationId xmlns:p14="http://schemas.microsoft.com/office/powerpoint/2010/main" val="1120951559"/>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Process-16">
    <p:spTree>
      <p:nvGrpSpPr>
        <p:cNvPr id="1" name="">
          <a:extLst>
            <a:ext uri="{FF2B5EF4-FFF2-40B4-BE49-F238E27FC236}">
              <a16:creationId xmlns:a16="http://schemas.microsoft.com/office/drawing/2014/main" id="{45E204F7-B12F-72AC-C9AA-76598E84CC14}"/>
            </a:ext>
          </a:extLst>
        </p:cNvPr>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14DB34B3-7C1D-E3C3-8FD8-9657520DAF73}"/>
              </a:ext>
            </a:extLst>
          </p:cNvPr>
          <p:cNvPicPr>
            <a:picLocks/>
          </p:cNvPicPr>
          <p:nvPr/>
        </p:nvPicPr>
        <p:blipFill>
          <a:blip r:embed="rId3"/>
          <a:stretch>
            <a:fillRect/>
          </a:stretch>
        </p:blipFill>
        <p:spPr>
          <a:xfrm>
            <a:off x="0" y="0"/>
            <a:ext cx="12192000" cy="6858000"/>
          </a:xfrm>
          <a:prstGeom prst="rect">
            <a:avLst/>
          </a:prstGeom>
        </p:spPr>
      </p:pic>
      <p:sp>
        <p:nvSpPr>
          <p:cNvPr id="8" name="Text 001 SPAN">
            <a:extLst>
              <a:ext uri="{FF2B5EF4-FFF2-40B4-BE49-F238E27FC236}">
                <a16:creationId xmlns:a16="http://schemas.microsoft.com/office/drawing/2014/main" id="{6BC595F2-F6B5-738A-C9DD-C3ECB6924CFE}"/>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03 / HIGH-LEVEL SOLUTION</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33314ECB-1075-B17A-BF48-1779A950C8C4}"/>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69">
                <a:solidFill>
                  <a:srgbClr val="1A1A1A"/>
                </a:solidFill>
                <a:latin typeface="Segoe UI Semibold" panose="020B0702040204020203" pitchFamily="34" charset="0"/>
              </a:rPr>
              <a:t>Build your next process - not another runtime</a:t>
            </a:r>
            <a:endParaRPr lang="en-US" sz="2880" spc="-69" dirty="0" err="1">
              <a:solidFill>
                <a:srgbClr val="1A1A1A"/>
              </a:solidFill>
              <a:latin typeface="Segoe UI Semibold" panose="020B0702040204020203" pitchFamily="34" charset="0"/>
            </a:endParaRPr>
          </a:p>
        </p:txBody>
      </p:sp>
      <p:sp>
        <p:nvSpPr>
          <p:cNvPr id="10" name="Text 003 P">
            <a:extLst>
              <a:ext uri="{FF2B5EF4-FFF2-40B4-BE49-F238E27FC236}">
                <a16:creationId xmlns:a16="http://schemas.microsoft.com/office/drawing/2014/main" id="{042481F8-3F69-AE18-9D6C-8005B590CB35}"/>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a:solidFill>
                  <a:srgbClr val="343B48"/>
                </a:solidFill>
                <a:latin typeface="Segoe UI" panose="020B0502040204020203" pitchFamily="34" charset="0"/>
              </a:rPr>
              <a:t>Use Order Processing as the reference for extending the core.</a:t>
            </a:r>
            <a:endParaRPr lang="en-US" sz="1500" dirty="0" err="1">
              <a:solidFill>
                <a:srgbClr val="343B48"/>
              </a:solidFill>
              <a:latin typeface="Segoe UI" panose="020B0502040204020203" pitchFamily="34" charset="0"/>
            </a:endParaRPr>
          </a:p>
        </p:txBody>
      </p:sp>
      <p:sp>
        <p:nvSpPr>
          <p:cNvPr id="11" name="Text 004 SPAN">
            <a:extLst>
              <a:ext uri="{FF2B5EF4-FFF2-40B4-BE49-F238E27FC236}">
                <a16:creationId xmlns:a16="http://schemas.microsoft.com/office/drawing/2014/main" id="{9C049F16-243A-04E1-1C58-35FD721C286B}"/>
              </a:ext>
            </a:extLst>
          </p:cNvPr>
          <p:cNvSpPr txBox="1"/>
          <p:nvPr/>
        </p:nvSpPr>
        <p:spPr>
          <a:xfrm>
            <a:off x="982980" y="1996440"/>
            <a:ext cx="65" cy="307777"/>
          </a:xfrm>
          <a:prstGeom prst="rect">
            <a:avLst/>
          </a:prstGeom>
          <a:noFill/>
        </p:spPr>
        <p:txBody>
          <a:bodyPr vert="horz" wrap="none" lIns="0" tIns="0" rIns="0" bIns="0" rtlCol="0" anchor="t">
            <a:noAutofit/>
          </a:bodyPr>
          <a:lstStyle/>
          <a:p>
            <a:r>
              <a:rPr lang="en-US" sz="1020" spc="42">
                <a:solidFill>
                  <a:srgbClr val="00599F"/>
                </a:solidFill>
                <a:latin typeface="Segoe UI Semibold" panose="020B0702040204020203" pitchFamily="34" charset="0"/>
              </a:rPr>
              <a:t>YOU CONTRIBUTE</a:t>
            </a:r>
            <a:endParaRPr lang="en-US" sz="1020" spc="42" dirty="0" err="1">
              <a:solidFill>
                <a:srgbClr val="00599F"/>
              </a:solidFill>
              <a:latin typeface="Segoe UI Semibold" panose="020B0702040204020203" pitchFamily="34" charset="0"/>
            </a:endParaRPr>
          </a:p>
        </p:txBody>
      </p:sp>
      <p:sp>
        <p:nvSpPr>
          <p:cNvPr id="12" name="Text 005 H2">
            <a:extLst>
              <a:ext uri="{FF2B5EF4-FFF2-40B4-BE49-F238E27FC236}">
                <a16:creationId xmlns:a16="http://schemas.microsoft.com/office/drawing/2014/main" id="{57B45189-9DC6-E0C6-BCBC-1D325A0703B0}"/>
              </a:ext>
            </a:extLst>
          </p:cNvPr>
          <p:cNvSpPr txBox="1"/>
          <p:nvPr/>
        </p:nvSpPr>
        <p:spPr>
          <a:xfrm>
            <a:off x="838200" y="2385060"/>
            <a:ext cx="65" cy="307777"/>
          </a:xfrm>
          <a:prstGeom prst="rect">
            <a:avLst/>
          </a:prstGeom>
          <a:noFill/>
        </p:spPr>
        <p:txBody>
          <a:bodyPr vert="horz" wrap="none" lIns="0" tIns="0" rIns="0" bIns="0" rtlCol="0" anchor="t">
            <a:noAutofit/>
          </a:bodyPr>
          <a:lstStyle/>
          <a:p>
            <a:r>
              <a:rPr lang="en-US" sz="1920" spc="-30">
                <a:solidFill>
                  <a:srgbClr val="00599F"/>
                </a:solidFill>
                <a:latin typeface="Segoe UI Semibold" panose="020B0702040204020203" pitchFamily="34" charset="0"/>
              </a:rPr>
              <a:t>The domain-specific pieces</a:t>
            </a:r>
            <a:endParaRPr lang="en-US" sz="1920" spc="-30" dirty="0" err="1">
              <a:solidFill>
                <a:srgbClr val="00599F"/>
              </a:solidFill>
              <a:latin typeface="Segoe UI Semibold" panose="020B0702040204020203" pitchFamily="34" charset="0"/>
            </a:endParaRPr>
          </a:p>
        </p:txBody>
      </p:sp>
      <p:sp>
        <p:nvSpPr>
          <p:cNvPr id="13" name="Text 006 LI">
            <a:extLst>
              <a:ext uri="{FF2B5EF4-FFF2-40B4-BE49-F238E27FC236}">
                <a16:creationId xmlns:a16="http://schemas.microsoft.com/office/drawing/2014/main" id="{6A417E88-33AD-696A-9DA2-56D4305B9778}"/>
              </a:ext>
            </a:extLst>
          </p:cNvPr>
          <p:cNvSpPr txBox="1"/>
          <p:nvPr/>
        </p:nvSpPr>
        <p:spPr>
          <a:xfrm>
            <a:off x="838200" y="2849523"/>
            <a:ext cx="65" cy="307777"/>
          </a:xfrm>
          <a:prstGeom prst="rect">
            <a:avLst/>
          </a:prstGeom>
          <a:noFill/>
        </p:spPr>
        <p:txBody>
          <a:bodyPr vert="horz" wrap="none" lIns="0" tIns="0" rIns="0" bIns="0" rtlCol="0" anchor="t">
            <a:noAutofit/>
          </a:bodyPr>
          <a:lstStyle/>
          <a:p>
            <a:r>
              <a:rPr lang="en-US" sz="1380">
                <a:solidFill>
                  <a:srgbClr val="1A1A1A"/>
                </a:solidFill>
                <a:latin typeface="Segoe UI Semibold" panose="020B0702040204020203" pitchFamily="34" charset="0"/>
              </a:rPr>
              <a:t>Workflows</a:t>
            </a:r>
            <a:endParaRPr lang="en-US" sz="1380" dirty="0" err="1">
              <a:solidFill>
                <a:srgbClr val="1A1A1A"/>
              </a:solidFill>
              <a:latin typeface="Segoe UI Semibold" panose="020B0702040204020203" pitchFamily="34" charset="0"/>
            </a:endParaRPr>
          </a:p>
        </p:txBody>
      </p:sp>
      <p:sp>
        <p:nvSpPr>
          <p:cNvPr id="14" name="Text 007 LI">
            <a:extLst>
              <a:ext uri="{FF2B5EF4-FFF2-40B4-BE49-F238E27FC236}">
                <a16:creationId xmlns:a16="http://schemas.microsoft.com/office/drawing/2014/main" id="{9676C4EC-4F0A-9926-132E-6141286675B6}"/>
              </a:ext>
            </a:extLst>
          </p:cNvPr>
          <p:cNvSpPr txBox="1"/>
          <p:nvPr/>
        </p:nvSpPr>
        <p:spPr>
          <a:xfrm>
            <a:off x="838200" y="3118247"/>
            <a:ext cx="65" cy="307777"/>
          </a:xfrm>
          <a:prstGeom prst="rect">
            <a:avLst/>
          </a:prstGeom>
          <a:noFill/>
        </p:spPr>
        <p:txBody>
          <a:bodyPr vert="horz" wrap="none" lIns="0" tIns="0" rIns="0" bIns="0" rtlCol="0" anchor="t">
            <a:noAutofit/>
          </a:bodyPr>
          <a:lstStyle/>
          <a:p>
            <a:r>
              <a:rPr lang="en-US" sz="1320">
                <a:solidFill>
                  <a:srgbClr val="343B48"/>
                </a:solidFill>
                <a:latin typeface="Segoe UI" panose="020B0502040204020203" pitchFamily="34" charset="0"/>
              </a:rPr>
              <a:t>Stages, transitions and integrations</a:t>
            </a:r>
            <a:endParaRPr lang="en-US" sz="1320" dirty="0" err="1">
              <a:solidFill>
                <a:srgbClr val="343B48"/>
              </a:solidFill>
              <a:latin typeface="Segoe UI" panose="020B0502040204020203" pitchFamily="34" charset="0"/>
            </a:endParaRPr>
          </a:p>
        </p:txBody>
      </p:sp>
      <p:sp>
        <p:nvSpPr>
          <p:cNvPr id="15" name="Text 008 LI">
            <a:extLst>
              <a:ext uri="{FF2B5EF4-FFF2-40B4-BE49-F238E27FC236}">
                <a16:creationId xmlns:a16="http://schemas.microsoft.com/office/drawing/2014/main" id="{110D3E09-B3E4-D955-739A-43CE88DF18C6}"/>
              </a:ext>
            </a:extLst>
          </p:cNvPr>
          <p:cNvSpPr txBox="1"/>
          <p:nvPr/>
        </p:nvSpPr>
        <p:spPr>
          <a:xfrm>
            <a:off x="838200" y="3460433"/>
            <a:ext cx="65" cy="307777"/>
          </a:xfrm>
          <a:prstGeom prst="rect">
            <a:avLst/>
          </a:prstGeom>
          <a:noFill/>
        </p:spPr>
        <p:txBody>
          <a:bodyPr vert="horz" wrap="none" lIns="0" tIns="0" rIns="0" bIns="0" rtlCol="0" anchor="t">
            <a:noAutofit/>
          </a:bodyPr>
          <a:lstStyle/>
          <a:p>
            <a:r>
              <a:rPr lang="en-US" sz="1380">
                <a:solidFill>
                  <a:srgbClr val="1A1A1A"/>
                </a:solidFill>
                <a:latin typeface="Segoe UI Semibold" panose="020B0702040204020203" pitchFamily="34" charset="0"/>
              </a:rPr>
              <a:t>Agents &amp; skills</a:t>
            </a:r>
            <a:endParaRPr lang="en-US" sz="1380" dirty="0" err="1">
              <a:solidFill>
                <a:srgbClr val="1A1A1A"/>
              </a:solidFill>
              <a:latin typeface="Segoe UI Semibold" panose="020B0702040204020203" pitchFamily="34" charset="0"/>
            </a:endParaRPr>
          </a:p>
        </p:txBody>
      </p:sp>
      <p:sp>
        <p:nvSpPr>
          <p:cNvPr id="16" name="Text 009 LI">
            <a:extLst>
              <a:ext uri="{FF2B5EF4-FFF2-40B4-BE49-F238E27FC236}">
                <a16:creationId xmlns:a16="http://schemas.microsoft.com/office/drawing/2014/main" id="{7325C424-C108-522A-C7D0-5A150FD36867}"/>
              </a:ext>
            </a:extLst>
          </p:cNvPr>
          <p:cNvSpPr txBox="1"/>
          <p:nvPr/>
        </p:nvSpPr>
        <p:spPr>
          <a:xfrm>
            <a:off x="838200" y="3729156"/>
            <a:ext cx="65" cy="307777"/>
          </a:xfrm>
          <a:prstGeom prst="rect">
            <a:avLst/>
          </a:prstGeom>
          <a:noFill/>
        </p:spPr>
        <p:txBody>
          <a:bodyPr vert="horz" wrap="none" lIns="0" tIns="0" rIns="0" bIns="0" rtlCol="0" anchor="t">
            <a:noAutofit/>
          </a:bodyPr>
          <a:lstStyle/>
          <a:p>
            <a:r>
              <a:rPr lang="en-US" sz="1320">
                <a:solidFill>
                  <a:srgbClr val="343B48"/>
                </a:solidFill>
                <a:latin typeface="Segoe UI" panose="020B0502040204020203" pitchFamily="34" charset="0"/>
              </a:rPr>
              <a:t>Business rules and trusted knowledge</a:t>
            </a:r>
            <a:endParaRPr lang="en-US" sz="1320" dirty="0" err="1">
              <a:solidFill>
                <a:srgbClr val="343B48"/>
              </a:solidFill>
              <a:latin typeface="Segoe UI" panose="020B0502040204020203" pitchFamily="34" charset="0"/>
            </a:endParaRPr>
          </a:p>
        </p:txBody>
      </p:sp>
      <p:sp>
        <p:nvSpPr>
          <p:cNvPr id="17" name="Text 010 LI">
            <a:extLst>
              <a:ext uri="{FF2B5EF4-FFF2-40B4-BE49-F238E27FC236}">
                <a16:creationId xmlns:a16="http://schemas.microsoft.com/office/drawing/2014/main" id="{14289A8A-9ECD-9420-96CD-A658920CB663}"/>
              </a:ext>
            </a:extLst>
          </p:cNvPr>
          <p:cNvSpPr txBox="1"/>
          <p:nvPr/>
        </p:nvSpPr>
        <p:spPr>
          <a:xfrm>
            <a:off x="838200" y="4071342"/>
            <a:ext cx="65" cy="307777"/>
          </a:xfrm>
          <a:prstGeom prst="rect">
            <a:avLst/>
          </a:prstGeom>
          <a:noFill/>
        </p:spPr>
        <p:txBody>
          <a:bodyPr vert="horz" wrap="none" lIns="0" tIns="0" rIns="0" bIns="0" rtlCol="0" anchor="t">
            <a:noAutofit/>
          </a:bodyPr>
          <a:lstStyle/>
          <a:p>
            <a:r>
              <a:rPr lang="en-US" sz="1380">
                <a:solidFill>
                  <a:srgbClr val="1A1A1A"/>
                </a:solidFill>
                <a:latin typeface="Segoe UI Semibold" panose="020B0702040204020203" pitchFamily="34" charset="0"/>
              </a:rPr>
              <a:t>Review widgets</a:t>
            </a:r>
            <a:endParaRPr lang="en-US" sz="1380" dirty="0" err="1">
              <a:solidFill>
                <a:srgbClr val="1A1A1A"/>
              </a:solidFill>
              <a:latin typeface="Segoe UI Semibold" panose="020B0702040204020203" pitchFamily="34" charset="0"/>
            </a:endParaRPr>
          </a:p>
        </p:txBody>
      </p:sp>
      <p:sp>
        <p:nvSpPr>
          <p:cNvPr id="18" name="Text 011 LI">
            <a:extLst>
              <a:ext uri="{FF2B5EF4-FFF2-40B4-BE49-F238E27FC236}">
                <a16:creationId xmlns:a16="http://schemas.microsoft.com/office/drawing/2014/main" id="{744F3D19-FF80-2DE7-9D61-49942BDA1F92}"/>
              </a:ext>
            </a:extLst>
          </p:cNvPr>
          <p:cNvSpPr txBox="1"/>
          <p:nvPr/>
        </p:nvSpPr>
        <p:spPr>
          <a:xfrm>
            <a:off x="838200" y="4340066"/>
            <a:ext cx="65" cy="307777"/>
          </a:xfrm>
          <a:prstGeom prst="rect">
            <a:avLst/>
          </a:prstGeom>
          <a:noFill/>
        </p:spPr>
        <p:txBody>
          <a:bodyPr vert="horz" wrap="none" lIns="0" tIns="0" rIns="0" bIns="0" rtlCol="0" anchor="t">
            <a:noAutofit/>
          </a:bodyPr>
          <a:lstStyle/>
          <a:p>
            <a:r>
              <a:rPr lang="en-US" sz="1320">
                <a:solidFill>
                  <a:srgbClr val="343B48"/>
                </a:solidFill>
                <a:latin typeface="Segoe UI" panose="020B0502040204020203" pitchFamily="34" charset="0"/>
              </a:rPr>
              <a:t>The evidence and inputs people need</a:t>
            </a:r>
            <a:endParaRPr lang="en-US" sz="1320" dirty="0" err="1">
              <a:solidFill>
                <a:srgbClr val="343B48"/>
              </a:solidFill>
              <a:latin typeface="Segoe UI" panose="020B0502040204020203" pitchFamily="34" charset="0"/>
            </a:endParaRPr>
          </a:p>
        </p:txBody>
      </p:sp>
      <p:sp>
        <p:nvSpPr>
          <p:cNvPr id="19" name="Text 012 LI">
            <a:extLst>
              <a:ext uri="{FF2B5EF4-FFF2-40B4-BE49-F238E27FC236}">
                <a16:creationId xmlns:a16="http://schemas.microsoft.com/office/drawing/2014/main" id="{A3508263-6856-6EFC-E879-92B4AA1ABC0C}"/>
              </a:ext>
            </a:extLst>
          </p:cNvPr>
          <p:cNvSpPr txBox="1"/>
          <p:nvPr/>
        </p:nvSpPr>
        <p:spPr>
          <a:xfrm>
            <a:off x="838200" y="4682252"/>
            <a:ext cx="65" cy="307777"/>
          </a:xfrm>
          <a:prstGeom prst="rect">
            <a:avLst/>
          </a:prstGeom>
          <a:noFill/>
        </p:spPr>
        <p:txBody>
          <a:bodyPr vert="horz" wrap="none" lIns="0" tIns="0" rIns="0" bIns="0" rtlCol="0" anchor="t">
            <a:noAutofit/>
          </a:bodyPr>
          <a:lstStyle/>
          <a:p>
            <a:r>
              <a:rPr lang="en-US" sz="1380">
                <a:solidFill>
                  <a:srgbClr val="1A1A1A"/>
                </a:solidFill>
                <a:latin typeface="Segoe UI Semibold" panose="020B0702040204020203" pitchFamily="34" charset="0"/>
              </a:rPr>
              <a:t>Roles &amp; configuration</a:t>
            </a:r>
            <a:endParaRPr lang="en-US" sz="1380" dirty="0" err="1">
              <a:solidFill>
                <a:srgbClr val="1A1A1A"/>
              </a:solidFill>
              <a:latin typeface="Segoe UI Semibold" panose="020B0702040204020203" pitchFamily="34" charset="0"/>
            </a:endParaRPr>
          </a:p>
        </p:txBody>
      </p:sp>
      <p:sp>
        <p:nvSpPr>
          <p:cNvPr id="20" name="Text 013 LI">
            <a:extLst>
              <a:ext uri="{FF2B5EF4-FFF2-40B4-BE49-F238E27FC236}">
                <a16:creationId xmlns:a16="http://schemas.microsoft.com/office/drawing/2014/main" id="{F712EEFA-2D00-F324-F02A-D6841C84C52B}"/>
              </a:ext>
            </a:extLst>
          </p:cNvPr>
          <p:cNvSpPr txBox="1"/>
          <p:nvPr/>
        </p:nvSpPr>
        <p:spPr>
          <a:xfrm>
            <a:off x="838200" y="4950976"/>
            <a:ext cx="65" cy="307777"/>
          </a:xfrm>
          <a:prstGeom prst="rect">
            <a:avLst/>
          </a:prstGeom>
          <a:noFill/>
        </p:spPr>
        <p:txBody>
          <a:bodyPr vert="horz" wrap="none" lIns="0" tIns="0" rIns="0" bIns="0" rtlCol="0" anchor="t">
            <a:noAutofit/>
          </a:bodyPr>
          <a:lstStyle/>
          <a:p>
            <a:r>
              <a:rPr lang="en-US" sz="1320">
                <a:solidFill>
                  <a:srgbClr val="343B48"/>
                </a:solidFill>
                <a:latin typeface="Segoe UI" panose="020B0502040204020203" pitchFamily="34" charset="0"/>
              </a:rPr>
              <a:t>Who can act and where data comes from</a:t>
            </a:r>
            <a:endParaRPr lang="en-US" sz="1320" dirty="0" err="1">
              <a:solidFill>
                <a:srgbClr val="343B48"/>
              </a:solidFill>
              <a:latin typeface="Segoe UI" panose="020B0502040204020203" pitchFamily="34" charset="0"/>
            </a:endParaRPr>
          </a:p>
        </p:txBody>
      </p:sp>
      <p:sp>
        <p:nvSpPr>
          <p:cNvPr id="21" name="Text 014 SPAN">
            <a:extLst>
              <a:ext uri="{FF2B5EF4-FFF2-40B4-BE49-F238E27FC236}">
                <a16:creationId xmlns:a16="http://schemas.microsoft.com/office/drawing/2014/main" id="{1DE50C0C-2CD9-DBB7-3D25-1192FB1DDF78}"/>
              </a:ext>
            </a:extLst>
          </p:cNvPr>
          <p:cNvSpPr txBox="1"/>
          <p:nvPr/>
        </p:nvSpPr>
        <p:spPr>
          <a:xfrm>
            <a:off x="6606540" y="1996440"/>
            <a:ext cx="65" cy="307777"/>
          </a:xfrm>
          <a:prstGeom prst="rect">
            <a:avLst/>
          </a:prstGeom>
          <a:noFill/>
        </p:spPr>
        <p:txBody>
          <a:bodyPr vert="horz" wrap="none" lIns="0" tIns="0" rIns="0" bIns="0" rtlCol="0" anchor="t">
            <a:noAutofit/>
          </a:bodyPr>
          <a:lstStyle/>
          <a:p>
            <a:r>
              <a:rPr lang="en-US" sz="1020" spc="42">
                <a:solidFill>
                  <a:srgbClr val="00599F"/>
                </a:solidFill>
                <a:latin typeface="Segoe UI Semibold" panose="020B0702040204020203" pitchFamily="34" charset="0"/>
              </a:rPr>
              <a:t>YOU INHERIT</a:t>
            </a:r>
            <a:endParaRPr lang="en-US" sz="1020" spc="42" dirty="0" err="1">
              <a:solidFill>
                <a:srgbClr val="00599F"/>
              </a:solidFill>
              <a:latin typeface="Segoe UI Semibold" panose="020B0702040204020203" pitchFamily="34" charset="0"/>
            </a:endParaRPr>
          </a:p>
        </p:txBody>
      </p:sp>
      <p:sp>
        <p:nvSpPr>
          <p:cNvPr id="22" name="Text 015 H2">
            <a:extLst>
              <a:ext uri="{FF2B5EF4-FFF2-40B4-BE49-F238E27FC236}">
                <a16:creationId xmlns:a16="http://schemas.microsoft.com/office/drawing/2014/main" id="{A5BF8C03-BF12-372F-7740-71CD177F036F}"/>
              </a:ext>
            </a:extLst>
          </p:cNvPr>
          <p:cNvSpPr txBox="1"/>
          <p:nvPr/>
        </p:nvSpPr>
        <p:spPr>
          <a:xfrm>
            <a:off x="6461760" y="2385060"/>
            <a:ext cx="65" cy="307777"/>
          </a:xfrm>
          <a:prstGeom prst="rect">
            <a:avLst/>
          </a:prstGeom>
          <a:noFill/>
        </p:spPr>
        <p:txBody>
          <a:bodyPr vert="horz" wrap="none" lIns="0" tIns="0" rIns="0" bIns="0" rtlCol="0" anchor="t">
            <a:noAutofit/>
          </a:bodyPr>
          <a:lstStyle/>
          <a:p>
            <a:r>
              <a:rPr lang="en-US" sz="1920" spc="-30">
                <a:solidFill>
                  <a:srgbClr val="00599F"/>
                </a:solidFill>
                <a:latin typeface="Segoe UI Semibold" panose="020B0702040204020203" pitchFamily="34" charset="0"/>
              </a:rPr>
              <a:t>The shared process foundation</a:t>
            </a:r>
            <a:endParaRPr lang="en-US" sz="1920" spc="-30" dirty="0" err="1">
              <a:solidFill>
                <a:srgbClr val="00599F"/>
              </a:solidFill>
              <a:latin typeface="Segoe UI Semibold" panose="020B0702040204020203" pitchFamily="34" charset="0"/>
            </a:endParaRPr>
          </a:p>
        </p:txBody>
      </p:sp>
      <p:sp>
        <p:nvSpPr>
          <p:cNvPr id="23" name="Text 016 LI">
            <a:extLst>
              <a:ext uri="{FF2B5EF4-FFF2-40B4-BE49-F238E27FC236}">
                <a16:creationId xmlns:a16="http://schemas.microsoft.com/office/drawing/2014/main" id="{B5F467EA-558A-C2CD-9239-DB1C40990354}"/>
              </a:ext>
            </a:extLst>
          </p:cNvPr>
          <p:cNvSpPr txBox="1"/>
          <p:nvPr/>
        </p:nvSpPr>
        <p:spPr>
          <a:xfrm>
            <a:off x="6461760" y="2849523"/>
            <a:ext cx="65" cy="307777"/>
          </a:xfrm>
          <a:prstGeom prst="rect">
            <a:avLst/>
          </a:prstGeom>
          <a:noFill/>
        </p:spPr>
        <p:txBody>
          <a:bodyPr vert="horz" wrap="none" lIns="0" tIns="0" rIns="0" bIns="0" rtlCol="0" anchor="t">
            <a:noAutofit/>
          </a:bodyPr>
          <a:lstStyle/>
          <a:p>
            <a:r>
              <a:rPr lang="en-US" sz="1380">
                <a:solidFill>
                  <a:srgbClr val="1A1A1A"/>
                </a:solidFill>
                <a:latin typeface="Segoe UI Semibold" panose="020B0702040204020203" pitchFamily="34" charset="0"/>
              </a:rPr>
              <a:t>State and history</a:t>
            </a:r>
            <a:endParaRPr lang="en-US" sz="1380" dirty="0" err="1">
              <a:solidFill>
                <a:srgbClr val="1A1A1A"/>
              </a:solidFill>
              <a:latin typeface="Segoe UI Semibold" panose="020B0702040204020203" pitchFamily="34" charset="0"/>
            </a:endParaRPr>
          </a:p>
        </p:txBody>
      </p:sp>
      <p:sp>
        <p:nvSpPr>
          <p:cNvPr id="24" name="Text 017 LI">
            <a:extLst>
              <a:ext uri="{FF2B5EF4-FFF2-40B4-BE49-F238E27FC236}">
                <a16:creationId xmlns:a16="http://schemas.microsoft.com/office/drawing/2014/main" id="{F01B605C-618B-1EEF-F2F8-6576297617F5}"/>
              </a:ext>
            </a:extLst>
          </p:cNvPr>
          <p:cNvSpPr txBox="1"/>
          <p:nvPr/>
        </p:nvSpPr>
        <p:spPr>
          <a:xfrm>
            <a:off x="6461760" y="3118247"/>
            <a:ext cx="65" cy="307777"/>
          </a:xfrm>
          <a:prstGeom prst="rect">
            <a:avLst/>
          </a:prstGeom>
          <a:noFill/>
        </p:spPr>
        <p:txBody>
          <a:bodyPr vert="horz" wrap="none" lIns="0" tIns="0" rIns="0" bIns="0" rtlCol="0" anchor="t">
            <a:noAutofit/>
          </a:bodyPr>
          <a:lstStyle/>
          <a:p>
            <a:r>
              <a:rPr lang="en-US" sz="1320">
                <a:solidFill>
                  <a:srgbClr val="343B48"/>
                </a:solidFill>
                <a:latin typeface="Segoe UI" panose="020B0502040204020203" pitchFamily="34" charset="0"/>
              </a:rPr>
              <a:t>Instances, steps and typed process data</a:t>
            </a:r>
            <a:endParaRPr lang="en-US" sz="1320" dirty="0" err="1">
              <a:solidFill>
                <a:srgbClr val="343B48"/>
              </a:solidFill>
              <a:latin typeface="Segoe UI" panose="020B0502040204020203" pitchFamily="34" charset="0"/>
            </a:endParaRPr>
          </a:p>
        </p:txBody>
      </p:sp>
      <p:sp>
        <p:nvSpPr>
          <p:cNvPr id="25" name="Text 018 LI">
            <a:extLst>
              <a:ext uri="{FF2B5EF4-FFF2-40B4-BE49-F238E27FC236}">
                <a16:creationId xmlns:a16="http://schemas.microsoft.com/office/drawing/2014/main" id="{DB78253D-B51B-55F4-1C59-F242C00F9FC4}"/>
              </a:ext>
            </a:extLst>
          </p:cNvPr>
          <p:cNvSpPr txBox="1"/>
          <p:nvPr/>
        </p:nvSpPr>
        <p:spPr>
          <a:xfrm>
            <a:off x="6461760" y="3460433"/>
            <a:ext cx="65" cy="307777"/>
          </a:xfrm>
          <a:prstGeom prst="rect">
            <a:avLst/>
          </a:prstGeom>
          <a:noFill/>
        </p:spPr>
        <p:txBody>
          <a:bodyPr vert="horz" wrap="none" lIns="0" tIns="0" rIns="0" bIns="0" rtlCol="0" anchor="t">
            <a:noAutofit/>
          </a:bodyPr>
          <a:lstStyle/>
          <a:p>
            <a:r>
              <a:rPr lang="en-US" sz="1380">
                <a:solidFill>
                  <a:srgbClr val="1A1A1A"/>
                </a:solidFill>
                <a:latin typeface="Segoe UI Semibold" panose="020B0702040204020203" pitchFamily="34" charset="0"/>
              </a:rPr>
              <a:t>Tasks and decisions</a:t>
            </a:r>
            <a:endParaRPr lang="en-US" sz="1380" dirty="0" err="1">
              <a:solidFill>
                <a:srgbClr val="1A1A1A"/>
              </a:solidFill>
              <a:latin typeface="Segoe UI Semibold" panose="020B0702040204020203" pitchFamily="34" charset="0"/>
            </a:endParaRPr>
          </a:p>
        </p:txBody>
      </p:sp>
      <p:sp>
        <p:nvSpPr>
          <p:cNvPr id="26" name="Text 019 LI">
            <a:extLst>
              <a:ext uri="{FF2B5EF4-FFF2-40B4-BE49-F238E27FC236}">
                <a16:creationId xmlns:a16="http://schemas.microsoft.com/office/drawing/2014/main" id="{87CCB8DB-FE23-F476-42D1-BEC1B717A785}"/>
              </a:ext>
            </a:extLst>
          </p:cNvPr>
          <p:cNvSpPr txBox="1"/>
          <p:nvPr/>
        </p:nvSpPr>
        <p:spPr>
          <a:xfrm>
            <a:off x="6461760" y="3729156"/>
            <a:ext cx="65" cy="307777"/>
          </a:xfrm>
          <a:prstGeom prst="rect">
            <a:avLst/>
          </a:prstGeom>
          <a:noFill/>
        </p:spPr>
        <p:txBody>
          <a:bodyPr vert="horz" wrap="none" lIns="0" tIns="0" rIns="0" bIns="0" rtlCol="0" anchor="t">
            <a:noAutofit/>
          </a:bodyPr>
          <a:lstStyle/>
          <a:p>
            <a:r>
              <a:rPr lang="en-US" sz="1320">
                <a:solidFill>
                  <a:srgbClr val="343B48"/>
                </a:solidFill>
                <a:latin typeface="Segoe UI" panose="020B0502040204020203" pitchFamily="34" charset="0"/>
              </a:rPr>
              <a:t>Claiming, completion and concurrency</a:t>
            </a:r>
            <a:endParaRPr lang="en-US" sz="1320" dirty="0" err="1">
              <a:solidFill>
                <a:srgbClr val="343B48"/>
              </a:solidFill>
              <a:latin typeface="Segoe UI" panose="020B0502040204020203" pitchFamily="34" charset="0"/>
            </a:endParaRPr>
          </a:p>
        </p:txBody>
      </p:sp>
      <p:sp>
        <p:nvSpPr>
          <p:cNvPr id="27" name="Text 020 LI">
            <a:extLst>
              <a:ext uri="{FF2B5EF4-FFF2-40B4-BE49-F238E27FC236}">
                <a16:creationId xmlns:a16="http://schemas.microsoft.com/office/drawing/2014/main" id="{BDCA93E4-82E8-A050-45F1-275AC6342253}"/>
              </a:ext>
            </a:extLst>
          </p:cNvPr>
          <p:cNvSpPr txBox="1"/>
          <p:nvPr/>
        </p:nvSpPr>
        <p:spPr>
          <a:xfrm>
            <a:off x="6461760" y="4071342"/>
            <a:ext cx="65" cy="307777"/>
          </a:xfrm>
          <a:prstGeom prst="rect">
            <a:avLst/>
          </a:prstGeom>
          <a:noFill/>
        </p:spPr>
        <p:txBody>
          <a:bodyPr vert="horz" wrap="none" lIns="0" tIns="0" rIns="0" bIns="0" rtlCol="0" anchor="t">
            <a:noAutofit/>
          </a:bodyPr>
          <a:lstStyle/>
          <a:p>
            <a:r>
              <a:rPr lang="en-US" sz="1380">
                <a:solidFill>
                  <a:srgbClr val="1A1A1A"/>
                </a:solidFill>
                <a:latin typeface="Segoe UI Semibold" panose="020B0702040204020203" pitchFamily="34" charset="0"/>
              </a:rPr>
              <a:t>A human work surface</a:t>
            </a:r>
            <a:endParaRPr lang="en-US" sz="1380" dirty="0" err="1">
              <a:solidFill>
                <a:srgbClr val="1A1A1A"/>
              </a:solidFill>
              <a:latin typeface="Segoe UI Semibold" panose="020B0702040204020203" pitchFamily="34" charset="0"/>
            </a:endParaRPr>
          </a:p>
        </p:txBody>
      </p:sp>
      <p:sp>
        <p:nvSpPr>
          <p:cNvPr id="28" name="Text 021 LI">
            <a:extLst>
              <a:ext uri="{FF2B5EF4-FFF2-40B4-BE49-F238E27FC236}">
                <a16:creationId xmlns:a16="http://schemas.microsoft.com/office/drawing/2014/main" id="{6703B2A7-6BCA-5B77-4A8F-FF93D9BA0AC9}"/>
              </a:ext>
            </a:extLst>
          </p:cNvPr>
          <p:cNvSpPr txBox="1"/>
          <p:nvPr/>
        </p:nvSpPr>
        <p:spPr>
          <a:xfrm>
            <a:off x="6461760" y="4340066"/>
            <a:ext cx="65" cy="307777"/>
          </a:xfrm>
          <a:prstGeom prst="rect">
            <a:avLst/>
          </a:prstGeom>
          <a:noFill/>
        </p:spPr>
        <p:txBody>
          <a:bodyPr vert="horz" wrap="none" lIns="0" tIns="0" rIns="0" bIns="0" rtlCol="0" anchor="t">
            <a:noAutofit/>
          </a:bodyPr>
          <a:lstStyle/>
          <a:p>
            <a:r>
              <a:rPr lang="en-US" sz="1320">
                <a:solidFill>
                  <a:srgbClr val="343B48"/>
                </a:solidFill>
                <a:latin typeface="Segoe UI" panose="020B0502040204020203" pitchFamily="34" charset="0"/>
              </a:rPr>
              <a:t>Console, deep links and notifications</a:t>
            </a:r>
            <a:endParaRPr lang="en-US" sz="1320" dirty="0" err="1">
              <a:solidFill>
                <a:srgbClr val="343B48"/>
              </a:solidFill>
              <a:latin typeface="Segoe UI" panose="020B0502040204020203" pitchFamily="34" charset="0"/>
            </a:endParaRPr>
          </a:p>
        </p:txBody>
      </p:sp>
      <p:sp>
        <p:nvSpPr>
          <p:cNvPr id="29" name="Text 022 LI">
            <a:extLst>
              <a:ext uri="{FF2B5EF4-FFF2-40B4-BE49-F238E27FC236}">
                <a16:creationId xmlns:a16="http://schemas.microsoft.com/office/drawing/2014/main" id="{C685BD54-E892-B47A-CD3D-5BEC25AF2FDE}"/>
              </a:ext>
            </a:extLst>
          </p:cNvPr>
          <p:cNvSpPr txBox="1"/>
          <p:nvPr/>
        </p:nvSpPr>
        <p:spPr>
          <a:xfrm>
            <a:off x="6461760" y="4682252"/>
            <a:ext cx="65" cy="307777"/>
          </a:xfrm>
          <a:prstGeom prst="rect">
            <a:avLst/>
          </a:prstGeom>
          <a:noFill/>
        </p:spPr>
        <p:txBody>
          <a:bodyPr vert="horz" wrap="none" lIns="0" tIns="0" rIns="0" bIns="0" rtlCol="0" anchor="t">
            <a:noAutofit/>
          </a:bodyPr>
          <a:lstStyle/>
          <a:p>
            <a:r>
              <a:rPr lang="en-US" sz="1380">
                <a:solidFill>
                  <a:srgbClr val="1A1A1A"/>
                </a:solidFill>
                <a:latin typeface="Segoe UI Semibold" panose="020B0702040204020203" pitchFamily="34" charset="0"/>
              </a:rPr>
              <a:t>Operational visibility</a:t>
            </a:r>
            <a:endParaRPr lang="en-US" sz="1380" dirty="0" err="1">
              <a:solidFill>
                <a:srgbClr val="1A1A1A"/>
              </a:solidFill>
              <a:latin typeface="Segoe UI Semibold" panose="020B0702040204020203" pitchFamily="34" charset="0"/>
            </a:endParaRPr>
          </a:p>
        </p:txBody>
      </p:sp>
      <p:sp>
        <p:nvSpPr>
          <p:cNvPr id="40" name="Text 023 LI">
            <a:extLst>
              <a:ext uri="{FF2B5EF4-FFF2-40B4-BE49-F238E27FC236}">
                <a16:creationId xmlns:a16="http://schemas.microsoft.com/office/drawing/2014/main" id="{B90A1B4D-B216-2CCF-340F-3B6610D792EE}"/>
              </a:ext>
            </a:extLst>
          </p:cNvPr>
          <p:cNvSpPr txBox="1"/>
          <p:nvPr/>
        </p:nvSpPr>
        <p:spPr>
          <a:xfrm>
            <a:off x="6461760" y="4950976"/>
            <a:ext cx="65" cy="307777"/>
          </a:xfrm>
          <a:prstGeom prst="rect">
            <a:avLst/>
          </a:prstGeom>
          <a:noFill/>
        </p:spPr>
        <p:txBody>
          <a:bodyPr vert="horz" wrap="none" lIns="0" tIns="0" rIns="0" bIns="0" rtlCol="0" anchor="t">
            <a:noAutofit/>
          </a:bodyPr>
          <a:lstStyle/>
          <a:p>
            <a:r>
              <a:rPr lang="en-US" sz="1320" spc="-3">
                <a:solidFill>
                  <a:srgbClr val="343B48"/>
                </a:solidFill>
                <a:latin typeface="Segoe UI" panose="020B0502040204020203" pitchFamily="34" charset="0"/>
              </a:rPr>
              <a:t>Monitoring, attachments and artifacts</a:t>
            </a:r>
            <a:endParaRPr lang="en-US" sz="1320" spc="-3" dirty="0" err="1">
              <a:solidFill>
                <a:srgbClr val="343B48"/>
              </a:solidFill>
              <a:latin typeface="Segoe UI" panose="020B0502040204020203" pitchFamily="34" charset="0"/>
            </a:endParaRPr>
          </a:p>
        </p:txBody>
      </p:sp>
      <p:sp>
        <p:nvSpPr>
          <p:cNvPr id="47" name="Text 024 DIV">
            <a:extLst>
              <a:ext uri="{FF2B5EF4-FFF2-40B4-BE49-F238E27FC236}">
                <a16:creationId xmlns:a16="http://schemas.microsoft.com/office/drawing/2014/main" id="{23B8FC58-D3DD-7181-E35B-458BA44CAFCE}"/>
              </a:ext>
            </a:extLst>
          </p:cNvPr>
          <p:cNvSpPr txBox="1"/>
          <p:nvPr/>
        </p:nvSpPr>
        <p:spPr>
          <a:xfrm>
            <a:off x="3060740" y="575691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Start with one bounded process. </a:t>
            </a:r>
            <a:endParaRPr lang="en-US" sz="1560" dirty="0" err="1">
              <a:solidFill>
                <a:srgbClr val="1A1A1A"/>
              </a:solidFill>
              <a:latin typeface="Segoe UI" panose="020B0502040204020203" pitchFamily="34" charset="0"/>
            </a:endParaRPr>
          </a:p>
        </p:txBody>
      </p:sp>
      <p:sp>
        <p:nvSpPr>
          <p:cNvPr id="48" name="Text 025 STRONG">
            <a:extLst>
              <a:ext uri="{FF2B5EF4-FFF2-40B4-BE49-F238E27FC236}">
                <a16:creationId xmlns:a16="http://schemas.microsoft.com/office/drawing/2014/main" id="{38D067F2-7196-0082-E90C-B8264E2C3453}"/>
              </a:ext>
            </a:extLst>
          </p:cNvPr>
          <p:cNvSpPr txBox="1"/>
          <p:nvPr/>
        </p:nvSpPr>
        <p:spPr>
          <a:xfrm>
            <a:off x="5938600" y="5756910"/>
            <a:ext cx="65" cy="307777"/>
          </a:xfrm>
          <a:prstGeom prst="rect">
            <a:avLst/>
          </a:prstGeom>
          <a:noFill/>
        </p:spPr>
        <p:txBody>
          <a:bodyPr vert="horz" wrap="none" lIns="0" tIns="0" rIns="0" bIns="0" rtlCol="0" anchor="t">
            <a:noAutofit/>
          </a:bodyPr>
          <a:lstStyle/>
          <a:p>
            <a:r>
              <a:rPr lang="en-US" sz="1560">
                <a:solidFill>
                  <a:srgbClr val="00599F"/>
                </a:solidFill>
                <a:latin typeface="Segoe UI Semibold" panose="020B0702040204020203" pitchFamily="34" charset="0"/>
              </a:rPr>
              <a:t>Extend through the same contracts.</a:t>
            </a:r>
            <a:endParaRPr lang="en-US" sz="1560" dirty="0" err="1">
              <a:solidFill>
                <a:srgbClr val="00599F"/>
              </a:solidFill>
              <a:latin typeface="Segoe UI Semibold" panose="020B0702040204020203" pitchFamily="34" charset="0"/>
            </a:endParaRPr>
          </a:p>
        </p:txBody>
      </p:sp>
      <p:sp>
        <p:nvSpPr>
          <p:cNvPr id="49" name="Text 026 FOOTER">
            <a:extLst>
              <a:ext uri="{FF2B5EF4-FFF2-40B4-BE49-F238E27FC236}">
                <a16:creationId xmlns:a16="http://schemas.microsoft.com/office/drawing/2014/main" id="{24A51C0C-7B19-8B0B-37DA-3C3FD98B8542}"/>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Agentic Business Process Automation on Copilot Studio</a:t>
            </a:r>
            <a:endParaRPr lang="en-US" sz="840" dirty="0" err="1">
              <a:solidFill>
                <a:srgbClr val="425466"/>
              </a:solidFill>
              <a:latin typeface="Segoe UI" panose="020B0502040204020203" pitchFamily="34" charset="0"/>
            </a:endParaRPr>
          </a:p>
        </p:txBody>
      </p:sp>
      <p:sp>
        <p:nvSpPr>
          <p:cNvPr id="50" name="Text 027 FOOTER">
            <a:extLst>
              <a:ext uri="{FF2B5EF4-FFF2-40B4-BE49-F238E27FC236}">
                <a16:creationId xmlns:a16="http://schemas.microsoft.com/office/drawing/2014/main" id="{19D3E55A-E887-D976-5A03-5FD570FBE016}"/>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16 / 23</a:t>
            </a:r>
            <a:endParaRPr lang="en-US" sz="840" dirty="0" err="1">
              <a:solidFill>
                <a:srgbClr val="425466"/>
              </a:solidFill>
              <a:latin typeface="Segoe UI" panose="020B0502040204020203" pitchFamily="34" charset="0"/>
            </a:endParaRPr>
          </a:p>
        </p:txBody>
      </p:sp>
    </p:spTree>
    <p:extLst>
      <p:ext uri="{BB962C8B-B14F-4D97-AF65-F5344CB8AC3E}">
        <p14:creationId xmlns:p14="http://schemas.microsoft.com/office/powerpoint/2010/main" val="3093087401"/>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Process-17">
    <p:spTree>
      <p:nvGrpSpPr>
        <p:cNvPr id="1" name=""/>
        <p:cNvGrpSpPr/>
        <p:nvPr/>
      </p:nvGrpSpPr>
      <p:grpSpPr>
        <a:xfrm>
          <a:off x="0" y="0"/>
          <a:ext cx="0" cy="0"/>
          <a:chOff x="0" y="0"/>
          <a:chExt cx="0" cy="0"/>
        </a:xfrm>
      </p:grpSpPr>
      <p:pic>
        <p:nvPicPr>
          <p:cNvPr id="4" name="Approved visual layer" descr="Decorative card shapes and connectors from the approved HTML layout. Main text is editable in separate text boxes.">
            <a:extLst>
              <a:ext uri="{FF2B5EF4-FFF2-40B4-BE49-F238E27FC236}">
                <a16:creationId xmlns:a16="http://schemas.microsoft.com/office/drawing/2014/main" id="{BD43D08A-C10F-9114-5490-5EC71CB03BF0}"/>
              </a:ext>
            </a:extLst>
          </p:cNvPr>
          <p:cNvPicPr>
            <a:picLocks/>
          </p:cNvPicPr>
          <p:nvPr/>
        </p:nvPicPr>
        <p:blipFill>
          <a:blip r:embed="rId3"/>
          <a:stretch>
            <a:fillRect/>
          </a:stretch>
        </p:blipFill>
        <p:spPr>
          <a:xfrm>
            <a:off x="0" y="0"/>
            <a:ext cx="12192000" cy="6858000"/>
          </a:xfrm>
          <a:prstGeom prst="rect">
            <a:avLst/>
          </a:prstGeom>
        </p:spPr>
      </p:pic>
      <p:sp>
        <p:nvSpPr>
          <p:cNvPr id="5" name="Text 001 H1">
            <a:extLst>
              <a:ext uri="{FF2B5EF4-FFF2-40B4-BE49-F238E27FC236}">
                <a16:creationId xmlns:a16="http://schemas.microsoft.com/office/drawing/2014/main" id="{36BC20FC-49C1-48D8-AE3E-F2695079DCB6}"/>
              </a:ext>
            </a:extLst>
          </p:cNvPr>
          <p:cNvSpPr txBox="1"/>
          <p:nvPr/>
        </p:nvSpPr>
        <p:spPr>
          <a:xfrm>
            <a:off x="579120" y="3129558"/>
            <a:ext cx="65" cy="307777"/>
          </a:xfrm>
          <a:prstGeom prst="rect">
            <a:avLst/>
          </a:prstGeom>
          <a:noFill/>
        </p:spPr>
        <p:txBody>
          <a:bodyPr vert="horz" wrap="none" lIns="0" tIns="0" rIns="0" bIns="0" rtlCol="0" anchor="t">
            <a:noAutofit/>
          </a:bodyPr>
          <a:lstStyle/>
          <a:p>
            <a:r>
              <a:rPr lang="en-US" sz="4080" spc="-90">
                <a:solidFill>
                  <a:srgbClr val="FFFFFF"/>
                </a:solidFill>
                <a:latin typeface="Segoe UI Semibold" panose="020B0702040204020203" pitchFamily="34" charset="0"/>
              </a:rPr>
              <a:t>Demo</a:t>
            </a:r>
            <a:endParaRPr lang="en-US" sz="4080" spc="-90" dirty="0" err="1">
              <a:solidFill>
                <a:srgbClr val="FFFFFF"/>
              </a:solidFill>
              <a:latin typeface="Segoe UI Semibold" panose="020B0702040204020203" pitchFamily="34" charset="0"/>
            </a:endParaRPr>
          </a:p>
        </p:txBody>
      </p:sp>
    </p:spTree>
    <p:extLst>
      <p:ext uri="{BB962C8B-B14F-4D97-AF65-F5344CB8AC3E}">
        <p14:creationId xmlns:p14="http://schemas.microsoft.com/office/powerpoint/2010/main" val="4281150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Process-18">
    <p:spTree>
      <p:nvGrpSpPr>
        <p:cNvPr id="1" name="">
          <a:extLst>
            <a:ext uri="{FF2B5EF4-FFF2-40B4-BE49-F238E27FC236}">
              <a16:creationId xmlns:a16="http://schemas.microsoft.com/office/drawing/2014/main" id="{45E204F7-B12F-72AC-C9AA-76598E84CC14}"/>
            </a:ext>
          </a:extLst>
        </p:cNvPr>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E19DC9A1-7AD1-3D75-1943-2347E2279ED8}"/>
              </a:ext>
            </a:extLst>
          </p:cNvPr>
          <p:cNvPicPr>
            <a:picLocks/>
          </p:cNvPicPr>
          <p:nvPr/>
        </p:nvPicPr>
        <p:blipFill>
          <a:blip r:embed="rId3"/>
          <a:stretch>
            <a:fillRect/>
          </a:stretch>
        </p:blipFill>
        <p:spPr>
          <a:xfrm>
            <a:off x="0" y="0"/>
            <a:ext cx="12192000" cy="6858000"/>
          </a:xfrm>
          <a:prstGeom prst="rect">
            <a:avLst/>
          </a:prstGeom>
        </p:spPr>
      </p:pic>
      <p:pic>
        <p:nvPicPr>
          <p:cNvPr id="9" name="Product image 3" descr="Aadi, Global Order Reviewer">
            <a:extLst>
              <a:ext uri="{FF2B5EF4-FFF2-40B4-BE49-F238E27FC236}">
                <a16:creationId xmlns:a16="http://schemas.microsoft.com/office/drawing/2014/main" id="{6FEB06DE-7A90-A842-15A9-27C30958ED8A}"/>
              </a:ext>
            </a:extLst>
          </p:cNvPr>
          <p:cNvPicPr>
            <a:picLocks/>
          </p:cNvPicPr>
          <p:nvPr/>
        </p:nvPicPr>
        <p:blipFill>
          <a:blip r:embed="rId4"/>
          <a:stretch>
            <a:fillRect/>
          </a:stretch>
        </p:blipFill>
        <p:spPr>
          <a:xfrm>
            <a:off x="887730" y="2225040"/>
            <a:ext cx="1981200" cy="1981200"/>
          </a:xfrm>
          <a:prstGeom prst="rect">
            <a:avLst/>
          </a:prstGeom>
        </p:spPr>
      </p:pic>
      <p:pic>
        <p:nvPicPr>
          <p:cNvPr id="11" name="Product image 4" descr="Alan, Global Order Approver">
            <a:extLst>
              <a:ext uri="{FF2B5EF4-FFF2-40B4-BE49-F238E27FC236}">
                <a16:creationId xmlns:a16="http://schemas.microsoft.com/office/drawing/2014/main" id="{0580111E-9374-2195-E1F2-6F1830CEA835}"/>
              </a:ext>
            </a:extLst>
          </p:cNvPr>
          <p:cNvPicPr>
            <a:picLocks/>
          </p:cNvPicPr>
          <p:nvPr/>
        </p:nvPicPr>
        <p:blipFill>
          <a:blip r:embed="rId5"/>
          <a:stretch>
            <a:fillRect/>
          </a:stretch>
        </p:blipFill>
        <p:spPr>
          <a:xfrm>
            <a:off x="3699510" y="2225040"/>
            <a:ext cx="1981200" cy="1981200"/>
          </a:xfrm>
          <a:prstGeom prst="rect">
            <a:avLst/>
          </a:prstGeom>
        </p:spPr>
      </p:pic>
      <p:pic>
        <p:nvPicPr>
          <p:cNvPr id="13" name="Product image 5" descr="Carlos, Backoffice Customer Support">
            <a:extLst>
              <a:ext uri="{FF2B5EF4-FFF2-40B4-BE49-F238E27FC236}">
                <a16:creationId xmlns:a16="http://schemas.microsoft.com/office/drawing/2014/main" id="{97BD9E2F-016B-C9FD-6DA5-97F297DB5F07}"/>
              </a:ext>
            </a:extLst>
          </p:cNvPr>
          <p:cNvPicPr>
            <a:picLocks/>
          </p:cNvPicPr>
          <p:nvPr/>
        </p:nvPicPr>
        <p:blipFill>
          <a:blip r:embed="rId6"/>
          <a:stretch>
            <a:fillRect/>
          </a:stretch>
        </p:blipFill>
        <p:spPr>
          <a:xfrm>
            <a:off x="6511290" y="2225040"/>
            <a:ext cx="1981200" cy="1981200"/>
          </a:xfrm>
          <a:prstGeom prst="rect">
            <a:avLst/>
          </a:prstGeom>
        </p:spPr>
      </p:pic>
      <p:pic>
        <p:nvPicPr>
          <p:cNvPr id="15" name="Product image 6" descr="Davide, Contoso Retail Store Manager">
            <a:extLst>
              <a:ext uri="{FF2B5EF4-FFF2-40B4-BE49-F238E27FC236}">
                <a16:creationId xmlns:a16="http://schemas.microsoft.com/office/drawing/2014/main" id="{0669D8ED-C03D-E11B-94D5-5972F336F93A}"/>
              </a:ext>
            </a:extLst>
          </p:cNvPr>
          <p:cNvPicPr>
            <a:picLocks/>
          </p:cNvPicPr>
          <p:nvPr/>
        </p:nvPicPr>
        <p:blipFill>
          <a:blip r:embed="rId7"/>
          <a:stretch>
            <a:fillRect/>
          </a:stretch>
        </p:blipFill>
        <p:spPr>
          <a:xfrm>
            <a:off x="9323070" y="2225040"/>
            <a:ext cx="1981200" cy="1981200"/>
          </a:xfrm>
          <a:prstGeom prst="rect">
            <a:avLst/>
          </a:prstGeom>
        </p:spPr>
      </p:pic>
      <p:sp>
        <p:nvSpPr>
          <p:cNvPr id="16" name="Text 001 SPAN">
            <a:extLst>
              <a:ext uri="{FF2B5EF4-FFF2-40B4-BE49-F238E27FC236}">
                <a16:creationId xmlns:a16="http://schemas.microsoft.com/office/drawing/2014/main" id="{3342303C-9DD7-3157-9CD4-A7450ED34948}"/>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04 / DEMO</a:t>
            </a:r>
            <a:endParaRPr lang="en-US" sz="840" spc="84" dirty="0" err="1">
              <a:solidFill>
                <a:srgbClr val="00599F"/>
              </a:solidFill>
              <a:latin typeface="Segoe UI Semibold" panose="020B0702040204020203" pitchFamily="34" charset="0"/>
            </a:endParaRPr>
          </a:p>
        </p:txBody>
      </p:sp>
      <p:sp>
        <p:nvSpPr>
          <p:cNvPr id="17" name="Text 002 H1">
            <a:extLst>
              <a:ext uri="{FF2B5EF4-FFF2-40B4-BE49-F238E27FC236}">
                <a16:creationId xmlns:a16="http://schemas.microsoft.com/office/drawing/2014/main" id="{F753F328-79F7-6698-9EBF-B993E62F5925}"/>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72">
                <a:solidFill>
                  <a:srgbClr val="1A1A1A"/>
                </a:solidFill>
                <a:latin typeface="Segoe UI Semibold" panose="020B0702040204020203" pitchFamily="34" charset="0"/>
              </a:rPr>
              <a:t>Contoso Order Intake team</a:t>
            </a:r>
            <a:endParaRPr lang="en-US" sz="2880" spc="-72" dirty="0" err="1">
              <a:solidFill>
                <a:srgbClr val="1A1A1A"/>
              </a:solidFill>
              <a:latin typeface="Segoe UI Semibold" panose="020B0702040204020203" pitchFamily="34" charset="0"/>
            </a:endParaRPr>
          </a:p>
        </p:txBody>
      </p:sp>
      <p:sp>
        <p:nvSpPr>
          <p:cNvPr id="18" name="Text 003 P">
            <a:extLst>
              <a:ext uri="{FF2B5EF4-FFF2-40B4-BE49-F238E27FC236}">
                <a16:creationId xmlns:a16="http://schemas.microsoft.com/office/drawing/2014/main" id="{24698E1F-5F7E-E976-4C6C-39A47D76DF9E}"/>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a:solidFill>
                  <a:srgbClr val="343B48"/>
                </a:solidFill>
                <a:latin typeface="Segoe UI" panose="020B0502040204020203" pitchFamily="34" charset="0"/>
              </a:rPr>
              <a:t>Meet the people behind the demo.</a:t>
            </a:r>
            <a:endParaRPr lang="en-US" sz="1500" dirty="0" err="1">
              <a:solidFill>
                <a:srgbClr val="343B48"/>
              </a:solidFill>
              <a:latin typeface="Segoe UI" panose="020B0502040204020203" pitchFamily="34" charset="0"/>
            </a:endParaRPr>
          </a:p>
        </p:txBody>
      </p:sp>
      <p:sp>
        <p:nvSpPr>
          <p:cNvPr id="19" name="Text 004 H2">
            <a:extLst>
              <a:ext uri="{FF2B5EF4-FFF2-40B4-BE49-F238E27FC236}">
                <a16:creationId xmlns:a16="http://schemas.microsoft.com/office/drawing/2014/main" id="{B870583F-AE6B-FD1B-E16A-D32624A8E223}"/>
              </a:ext>
            </a:extLst>
          </p:cNvPr>
          <p:cNvSpPr txBox="1"/>
          <p:nvPr/>
        </p:nvSpPr>
        <p:spPr>
          <a:xfrm>
            <a:off x="1603772" y="4411980"/>
            <a:ext cx="65" cy="307777"/>
          </a:xfrm>
          <a:prstGeom prst="rect">
            <a:avLst/>
          </a:prstGeom>
          <a:noFill/>
        </p:spPr>
        <p:txBody>
          <a:bodyPr vert="horz" wrap="none" lIns="0" tIns="0" rIns="0" bIns="0" rtlCol="0" anchor="t">
            <a:noAutofit/>
          </a:bodyPr>
          <a:lstStyle/>
          <a:p>
            <a:r>
              <a:rPr lang="en-US" sz="2160" spc="-30">
                <a:solidFill>
                  <a:srgbClr val="00599F"/>
                </a:solidFill>
                <a:latin typeface="Segoe UI Semibold" panose="020B0702040204020203" pitchFamily="34" charset="0"/>
              </a:rPr>
              <a:t>Aadi</a:t>
            </a:r>
            <a:endParaRPr lang="en-US" sz="2160" spc="-30" dirty="0" err="1">
              <a:solidFill>
                <a:srgbClr val="00599F"/>
              </a:solidFill>
              <a:latin typeface="Segoe UI Semibold" panose="020B0702040204020203" pitchFamily="34" charset="0"/>
            </a:endParaRPr>
          </a:p>
        </p:txBody>
      </p:sp>
      <p:sp>
        <p:nvSpPr>
          <p:cNvPr id="20" name="Text 005 P">
            <a:extLst>
              <a:ext uri="{FF2B5EF4-FFF2-40B4-BE49-F238E27FC236}">
                <a16:creationId xmlns:a16="http://schemas.microsoft.com/office/drawing/2014/main" id="{4D9FD99E-7EF6-D206-BE57-3309840C9A85}"/>
              </a:ext>
            </a:extLst>
          </p:cNvPr>
          <p:cNvSpPr txBox="1"/>
          <p:nvPr/>
        </p:nvSpPr>
        <p:spPr>
          <a:xfrm>
            <a:off x="1168003" y="4846915"/>
            <a:ext cx="65" cy="307777"/>
          </a:xfrm>
          <a:prstGeom prst="rect">
            <a:avLst/>
          </a:prstGeom>
          <a:noFill/>
        </p:spPr>
        <p:txBody>
          <a:bodyPr vert="horz" wrap="none" lIns="0" tIns="0" rIns="0" bIns="0" rtlCol="0" anchor="t">
            <a:noAutofit/>
          </a:bodyPr>
          <a:lstStyle/>
          <a:p>
            <a:r>
              <a:rPr lang="en-US" sz="1920">
                <a:solidFill>
                  <a:srgbClr val="1A1A1A"/>
                </a:solidFill>
                <a:latin typeface="Segoe UI Semibold" panose="020B0702040204020203" pitchFamily="34" charset="0"/>
              </a:rPr>
              <a:t>Global Order</a:t>
            </a:r>
            <a:endParaRPr lang="en-US" sz="1920" dirty="0" err="1">
              <a:solidFill>
                <a:srgbClr val="1A1A1A"/>
              </a:solidFill>
              <a:latin typeface="Segoe UI Semibold" panose="020B0702040204020203" pitchFamily="34" charset="0"/>
            </a:endParaRPr>
          </a:p>
        </p:txBody>
      </p:sp>
      <p:sp>
        <p:nvSpPr>
          <p:cNvPr id="21" name="Text 006 P">
            <a:extLst>
              <a:ext uri="{FF2B5EF4-FFF2-40B4-BE49-F238E27FC236}">
                <a16:creationId xmlns:a16="http://schemas.microsoft.com/office/drawing/2014/main" id="{1BDD5846-B056-41A0-219B-0EC54FD57966}"/>
              </a:ext>
            </a:extLst>
          </p:cNvPr>
          <p:cNvSpPr txBox="1"/>
          <p:nvPr/>
        </p:nvSpPr>
        <p:spPr>
          <a:xfrm>
            <a:off x="1380887" y="5151715"/>
            <a:ext cx="65" cy="307777"/>
          </a:xfrm>
          <a:prstGeom prst="rect">
            <a:avLst/>
          </a:prstGeom>
          <a:noFill/>
        </p:spPr>
        <p:txBody>
          <a:bodyPr vert="horz" wrap="none" lIns="0" tIns="0" rIns="0" bIns="0" rtlCol="0" anchor="t">
            <a:noAutofit/>
          </a:bodyPr>
          <a:lstStyle/>
          <a:p>
            <a:r>
              <a:rPr lang="en-US" sz="1920">
                <a:solidFill>
                  <a:srgbClr val="1A1A1A"/>
                </a:solidFill>
                <a:latin typeface="Segoe UI Semibold" panose="020B0702040204020203" pitchFamily="34" charset="0"/>
              </a:rPr>
              <a:t>Reviewer</a:t>
            </a:r>
            <a:endParaRPr lang="en-US" sz="1920" dirty="0" err="1">
              <a:solidFill>
                <a:srgbClr val="1A1A1A"/>
              </a:solidFill>
              <a:latin typeface="Segoe UI Semibold" panose="020B0702040204020203" pitchFamily="34" charset="0"/>
            </a:endParaRPr>
          </a:p>
        </p:txBody>
      </p:sp>
      <p:sp>
        <p:nvSpPr>
          <p:cNvPr id="22" name="Text 007 H2">
            <a:extLst>
              <a:ext uri="{FF2B5EF4-FFF2-40B4-BE49-F238E27FC236}">
                <a16:creationId xmlns:a16="http://schemas.microsoft.com/office/drawing/2014/main" id="{FB5DB731-DDD2-F701-65F8-8E4A282EE34E}"/>
              </a:ext>
            </a:extLst>
          </p:cNvPr>
          <p:cNvSpPr txBox="1"/>
          <p:nvPr/>
        </p:nvSpPr>
        <p:spPr>
          <a:xfrm>
            <a:off x="4418171" y="4411980"/>
            <a:ext cx="65" cy="307777"/>
          </a:xfrm>
          <a:prstGeom prst="rect">
            <a:avLst/>
          </a:prstGeom>
          <a:noFill/>
        </p:spPr>
        <p:txBody>
          <a:bodyPr vert="horz" wrap="none" lIns="0" tIns="0" rIns="0" bIns="0" rtlCol="0" anchor="t">
            <a:noAutofit/>
          </a:bodyPr>
          <a:lstStyle/>
          <a:p>
            <a:r>
              <a:rPr lang="en-US" sz="2160" spc="-30">
                <a:solidFill>
                  <a:srgbClr val="00599F"/>
                </a:solidFill>
                <a:latin typeface="Segoe UI Semibold" panose="020B0702040204020203" pitchFamily="34" charset="0"/>
              </a:rPr>
              <a:t>Alan</a:t>
            </a:r>
            <a:endParaRPr lang="en-US" sz="2160" spc="-30" dirty="0" err="1">
              <a:solidFill>
                <a:srgbClr val="00599F"/>
              </a:solidFill>
              <a:latin typeface="Segoe UI Semibold" panose="020B0702040204020203" pitchFamily="34" charset="0"/>
            </a:endParaRPr>
          </a:p>
        </p:txBody>
      </p:sp>
      <p:sp>
        <p:nvSpPr>
          <p:cNvPr id="23" name="Text 008 P">
            <a:extLst>
              <a:ext uri="{FF2B5EF4-FFF2-40B4-BE49-F238E27FC236}">
                <a16:creationId xmlns:a16="http://schemas.microsoft.com/office/drawing/2014/main" id="{A3FAFFDE-36AE-0565-5FAD-5322F8D18935}"/>
              </a:ext>
            </a:extLst>
          </p:cNvPr>
          <p:cNvSpPr txBox="1"/>
          <p:nvPr/>
        </p:nvSpPr>
        <p:spPr>
          <a:xfrm>
            <a:off x="3979783" y="4846915"/>
            <a:ext cx="65" cy="307777"/>
          </a:xfrm>
          <a:prstGeom prst="rect">
            <a:avLst/>
          </a:prstGeom>
          <a:noFill/>
        </p:spPr>
        <p:txBody>
          <a:bodyPr vert="horz" wrap="none" lIns="0" tIns="0" rIns="0" bIns="0" rtlCol="0" anchor="t">
            <a:noAutofit/>
          </a:bodyPr>
          <a:lstStyle/>
          <a:p>
            <a:r>
              <a:rPr lang="en-US" sz="1920">
                <a:solidFill>
                  <a:srgbClr val="1A1A1A"/>
                </a:solidFill>
                <a:latin typeface="Segoe UI Semibold" panose="020B0702040204020203" pitchFamily="34" charset="0"/>
              </a:rPr>
              <a:t>Global Order</a:t>
            </a:r>
            <a:endParaRPr lang="en-US" sz="1920" dirty="0" err="1">
              <a:solidFill>
                <a:srgbClr val="1A1A1A"/>
              </a:solidFill>
              <a:latin typeface="Segoe UI Semibold" panose="020B0702040204020203" pitchFamily="34" charset="0"/>
            </a:endParaRPr>
          </a:p>
        </p:txBody>
      </p:sp>
      <p:sp>
        <p:nvSpPr>
          <p:cNvPr id="24" name="Text 009 P">
            <a:extLst>
              <a:ext uri="{FF2B5EF4-FFF2-40B4-BE49-F238E27FC236}">
                <a16:creationId xmlns:a16="http://schemas.microsoft.com/office/drawing/2014/main" id="{9D4ABA55-90EE-01A4-4684-7066B2FE0CB0}"/>
              </a:ext>
            </a:extLst>
          </p:cNvPr>
          <p:cNvSpPr txBox="1"/>
          <p:nvPr/>
        </p:nvSpPr>
        <p:spPr>
          <a:xfrm>
            <a:off x="4173617" y="5151715"/>
            <a:ext cx="65" cy="307777"/>
          </a:xfrm>
          <a:prstGeom prst="rect">
            <a:avLst/>
          </a:prstGeom>
          <a:noFill/>
        </p:spPr>
        <p:txBody>
          <a:bodyPr vert="horz" wrap="none" lIns="0" tIns="0" rIns="0" bIns="0" rtlCol="0" anchor="t">
            <a:noAutofit/>
          </a:bodyPr>
          <a:lstStyle/>
          <a:p>
            <a:r>
              <a:rPr lang="en-US" sz="1920">
                <a:solidFill>
                  <a:srgbClr val="1A1A1A"/>
                </a:solidFill>
                <a:latin typeface="Segoe UI Semibold" panose="020B0702040204020203" pitchFamily="34" charset="0"/>
              </a:rPr>
              <a:t>Approver</a:t>
            </a:r>
            <a:endParaRPr lang="en-US" sz="1920" dirty="0" err="1">
              <a:solidFill>
                <a:srgbClr val="1A1A1A"/>
              </a:solidFill>
              <a:latin typeface="Segoe UI Semibold" panose="020B0702040204020203" pitchFamily="34" charset="0"/>
            </a:endParaRPr>
          </a:p>
        </p:txBody>
      </p:sp>
      <p:sp>
        <p:nvSpPr>
          <p:cNvPr id="25" name="Text 010 H2">
            <a:extLst>
              <a:ext uri="{FF2B5EF4-FFF2-40B4-BE49-F238E27FC236}">
                <a16:creationId xmlns:a16="http://schemas.microsoft.com/office/drawing/2014/main" id="{2A36AC62-9AF1-B2DA-BDCF-4035D4BC2416}"/>
              </a:ext>
            </a:extLst>
          </p:cNvPr>
          <p:cNvSpPr txBox="1"/>
          <p:nvPr/>
        </p:nvSpPr>
        <p:spPr>
          <a:xfrm>
            <a:off x="6804402" y="4411980"/>
            <a:ext cx="65" cy="307777"/>
          </a:xfrm>
          <a:prstGeom prst="rect">
            <a:avLst/>
          </a:prstGeom>
          <a:noFill/>
        </p:spPr>
        <p:txBody>
          <a:bodyPr vert="horz" wrap="none" lIns="0" tIns="0" rIns="0" bIns="0" rtlCol="0" anchor="t">
            <a:noAutofit/>
          </a:bodyPr>
          <a:lstStyle/>
          <a:p>
            <a:r>
              <a:rPr lang="en-US" sz="2160" spc="-30" dirty="0">
                <a:solidFill>
                  <a:srgbClr val="00599F"/>
                </a:solidFill>
                <a:latin typeface="Segoe UI Semibold" panose="020B0702040204020203" pitchFamily="34" charset="0"/>
              </a:rPr>
              <a:t>Carlos[MOD]</a:t>
            </a:r>
          </a:p>
        </p:txBody>
      </p:sp>
      <p:sp>
        <p:nvSpPr>
          <p:cNvPr id="26" name="Text 011 P">
            <a:extLst>
              <a:ext uri="{FF2B5EF4-FFF2-40B4-BE49-F238E27FC236}">
                <a16:creationId xmlns:a16="http://schemas.microsoft.com/office/drawing/2014/main" id="{FF03AC66-1953-7CE3-E664-ED9C174CDE52}"/>
              </a:ext>
            </a:extLst>
          </p:cNvPr>
          <p:cNvSpPr txBox="1"/>
          <p:nvPr/>
        </p:nvSpPr>
        <p:spPr>
          <a:xfrm>
            <a:off x="6936581" y="4846915"/>
            <a:ext cx="65" cy="307777"/>
          </a:xfrm>
          <a:prstGeom prst="rect">
            <a:avLst/>
          </a:prstGeom>
          <a:noFill/>
        </p:spPr>
        <p:txBody>
          <a:bodyPr vert="horz" wrap="none" lIns="0" tIns="0" rIns="0" bIns="0" rtlCol="0" anchor="t">
            <a:noAutofit/>
          </a:bodyPr>
          <a:lstStyle/>
          <a:p>
            <a:r>
              <a:rPr lang="en-US" sz="1920">
                <a:solidFill>
                  <a:srgbClr val="1A1A1A"/>
                </a:solidFill>
                <a:latin typeface="Segoe UI Semibold" panose="020B0702040204020203" pitchFamily="34" charset="0"/>
              </a:rPr>
              <a:t>Backoffice</a:t>
            </a:r>
            <a:endParaRPr lang="en-US" sz="1920" dirty="0" err="1">
              <a:solidFill>
                <a:srgbClr val="1A1A1A"/>
              </a:solidFill>
              <a:latin typeface="Segoe UI Semibold" panose="020B0702040204020203" pitchFamily="34" charset="0"/>
            </a:endParaRPr>
          </a:p>
        </p:txBody>
      </p:sp>
      <p:sp>
        <p:nvSpPr>
          <p:cNvPr id="27" name="Text 012 P">
            <a:extLst>
              <a:ext uri="{FF2B5EF4-FFF2-40B4-BE49-F238E27FC236}">
                <a16:creationId xmlns:a16="http://schemas.microsoft.com/office/drawing/2014/main" id="{8F571C7C-A474-95BD-A008-53C252920517}"/>
              </a:ext>
            </a:extLst>
          </p:cNvPr>
          <p:cNvSpPr txBox="1"/>
          <p:nvPr/>
        </p:nvSpPr>
        <p:spPr>
          <a:xfrm>
            <a:off x="6484977" y="5151715"/>
            <a:ext cx="65" cy="307777"/>
          </a:xfrm>
          <a:prstGeom prst="rect">
            <a:avLst/>
          </a:prstGeom>
          <a:noFill/>
        </p:spPr>
        <p:txBody>
          <a:bodyPr vert="horz" wrap="none" lIns="0" tIns="0" rIns="0" bIns="0" rtlCol="0" anchor="t">
            <a:noAutofit/>
          </a:bodyPr>
          <a:lstStyle/>
          <a:p>
            <a:r>
              <a:rPr lang="en-US" sz="1920" dirty="0">
                <a:solidFill>
                  <a:srgbClr val="1A1A1A"/>
                </a:solidFill>
                <a:latin typeface="Segoe UI Semibold" panose="020B0702040204020203" pitchFamily="34" charset="0"/>
              </a:rPr>
              <a:t>Customer Support,</a:t>
            </a:r>
            <a:br>
              <a:rPr lang="en-US" sz="1920" dirty="0">
                <a:solidFill>
                  <a:srgbClr val="1A1A1A"/>
                </a:solidFill>
                <a:latin typeface="Segoe UI Semibold" panose="020B0702040204020203" pitchFamily="34" charset="0"/>
              </a:rPr>
            </a:br>
            <a:r>
              <a:rPr lang="en-US" sz="1920" dirty="0">
                <a:solidFill>
                  <a:srgbClr val="1A1A1A"/>
                </a:solidFill>
                <a:latin typeface="Segoe UI Semibold" panose="020B0702040204020203" pitchFamily="34" charset="0"/>
              </a:rPr>
              <a:t>Order Reviewer/</a:t>
            </a:r>
          </a:p>
          <a:p>
            <a:r>
              <a:rPr lang="en-US" sz="1920" dirty="0">
                <a:solidFill>
                  <a:srgbClr val="1A1A1A"/>
                </a:solidFill>
                <a:latin typeface="Segoe UI Semibold" panose="020B0702040204020203" pitchFamily="34" charset="0"/>
              </a:rPr>
              <a:t>Approver</a:t>
            </a:r>
          </a:p>
        </p:txBody>
      </p:sp>
      <p:sp>
        <p:nvSpPr>
          <p:cNvPr id="28" name="Text 013 H2">
            <a:extLst>
              <a:ext uri="{FF2B5EF4-FFF2-40B4-BE49-F238E27FC236}">
                <a16:creationId xmlns:a16="http://schemas.microsoft.com/office/drawing/2014/main" id="{CA76C372-C81B-352A-F148-23860D276A04}"/>
              </a:ext>
            </a:extLst>
          </p:cNvPr>
          <p:cNvSpPr txBox="1"/>
          <p:nvPr/>
        </p:nvSpPr>
        <p:spPr>
          <a:xfrm>
            <a:off x="9894094" y="4411980"/>
            <a:ext cx="65" cy="307777"/>
          </a:xfrm>
          <a:prstGeom prst="rect">
            <a:avLst/>
          </a:prstGeom>
          <a:noFill/>
        </p:spPr>
        <p:txBody>
          <a:bodyPr vert="horz" wrap="none" lIns="0" tIns="0" rIns="0" bIns="0" rtlCol="0" anchor="t">
            <a:noAutofit/>
          </a:bodyPr>
          <a:lstStyle/>
          <a:p>
            <a:r>
              <a:rPr lang="en-US" sz="2160" spc="-30">
                <a:solidFill>
                  <a:srgbClr val="00599F"/>
                </a:solidFill>
                <a:latin typeface="Segoe UI Semibold" panose="020B0702040204020203" pitchFamily="34" charset="0"/>
              </a:rPr>
              <a:t>Davide</a:t>
            </a:r>
            <a:endParaRPr lang="en-US" sz="2160" spc="-30" dirty="0" err="1">
              <a:solidFill>
                <a:srgbClr val="00599F"/>
              </a:solidFill>
              <a:latin typeface="Segoe UI Semibold" panose="020B0702040204020203" pitchFamily="34" charset="0"/>
            </a:endParaRPr>
          </a:p>
        </p:txBody>
      </p:sp>
      <p:sp>
        <p:nvSpPr>
          <p:cNvPr id="29" name="Text 014 P">
            <a:extLst>
              <a:ext uri="{FF2B5EF4-FFF2-40B4-BE49-F238E27FC236}">
                <a16:creationId xmlns:a16="http://schemas.microsoft.com/office/drawing/2014/main" id="{05492C42-BCB0-1EC4-D0E7-B369494831E8}"/>
              </a:ext>
            </a:extLst>
          </p:cNvPr>
          <p:cNvSpPr txBox="1"/>
          <p:nvPr/>
        </p:nvSpPr>
        <p:spPr>
          <a:xfrm>
            <a:off x="9510117" y="4846915"/>
            <a:ext cx="65" cy="307777"/>
          </a:xfrm>
          <a:prstGeom prst="rect">
            <a:avLst/>
          </a:prstGeom>
          <a:noFill/>
        </p:spPr>
        <p:txBody>
          <a:bodyPr vert="horz" wrap="none" lIns="0" tIns="0" rIns="0" bIns="0" rtlCol="0" anchor="t">
            <a:noAutofit/>
          </a:bodyPr>
          <a:lstStyle/>
          <a:p>
            <a:r>
              <a:rPr lang="en-US" sz="1920">
                <a:solidFill>
                  <a:srgbClr val="1A1A1A"/>
                </a:solidFill>
                <a:latin typeface="Segoe UI Semibold" panose="020B0702040204020203" pitchFamily="34" charset="0"/>
              </a:rPr>
              <a:t>Contoso Retail</a:t>
            </a:r>
            <a:endParaRPr lang="en-US" sz="1920" dirty="0" err="1">
              <a:solidFill>
                <a:srgbClr val="1A1A1A"/>
              </a:solidFill>
              <a:latin typeface="Segoe UI Semibold" panose="020B0702040204020203" pitchFamily="34" charset="0"/>
            </a:endParaRPr>
          </a:p>
        </p:txBody>
      </p:sp>
      <p:sp>
        <p:nvSpPr>
          <p:cNvPr id="40" name="Text 015 P">
            <a:extLst>
              <a:ext uri="{FF2B5EF4-FFF2-40B4-BE49-F238E27FC236}">
                <a16:creationId xmlns:a16="http://schemas.microsoft.com/office/drawing/2014/main" id="{C537ACA1-E2BB-0E61-3FC1-BFE4D75A65B5}"/>
              </a:ext>
            </a:extLst>
          </p:cNvPr>
          <p:cNvSpPr txBox="1"/>
          <p:nvPr/>
        </p:nvSpPr>
        <p:spPr>
          <a:xfrm>
            <a:off x="9497854" y="5151715"/>
            <a:ext cx="65" cy="307777"/>
          </a:xfrm>
          <a:prstGeom prst="rect">
            <a:avLst/>
          </a:prstGeom>
          <a:noFill/>
        </p:spPr>
        <p:txBody>
          <a:bodyPr vert="horz" wrap="none" lIns="0" tIns="0" rIns="0" bIns="0" rtlCol="0" anchor="t">
            <a:noAutofit/>
          </a:bodyPr>
          <a:lstStyle/>
          <a:p>
            <a:r>
              <a:rPr lang="en-US" sz="1920">
                <a:solidFill>
                  <a:srgbClr val="1A1A1A"/>
                </a:solidFill>
                <a:latin typeface="Segoe UI Semibold" panose="020B0702040204020203" pitchFamily="34" charset="0"/>
              </a:rPr>
              <a:t>Store Manager</a:t>
            </a:r>
            <a:endParaRPr lang="en-US" sz="1920" dirty="0" err="1">
              <a:solidFill>
                <a:srgbClr val="1A1A1A"/>
              </a:solidFill>
              <a:latin typeface="Segoe UI Semibold" panose="020B0702040204020203" pitchFamily="34" charset="0"/>
            </a:endParaRPr>
          </a:p>
        </p:txBody>
      </p:sp>
      <p:sp>
        <p:nvSpPr>
          <p:cNvPr id="47" name="Text 016 FOOTER">
            <a:extLst>
              <a:ext uri="{FF2B5EF4-FFF2-40B4-BE49-F238E27FC236}">
                <a16:creationId xmlns:a16="http://schemas.microsoft.com/office/drawing/2014/main" id="{47FEB7FE-3E7A-94F7-7FC2-43966819741E}"/>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Agentic Business Process Automation on Copilot Studio</a:t>
            </a:r>
            <a:endParaRPr lang="en-US" sz="840" dirty="0" err="1">
              <a:solidFill>
                <a:srgbClr val="425466"/>
              </a:solidFill>
              <a:latin typeface="Segoe UI" panose="020B0502040204020203" pitchFamily="34" charset="0"/>
            </a:endParaRPr>
          </a:p>
        </p:txBody>
      </p:sp>
      <p:sp>
        <p:nvSpPr>
          <p:cNvPr id="48" name="Text 017 FOOTER">
            <a:extLst>
              <a:ext uri="{FF2B5EF4-FFF2-40B4-BE49-F238E27FC236}">
                <a16:creationId xmlns:a16="http://schemas.microsoft.com/office/drawing/2014/main" id="{7B14CB0A-69F8-C5AB-8BE5-095B9B034662}"/>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18 / 23</a:t>
            </a:r>
            <a:endParaRPr lang="en-US" sz="840" dirty="0" err="1">
              <a:solidFill>
                <a:srgbClr val="425466"/>
              </a:solidFill>
              <a:latin typeface="Segoe UI" panose="020B0502040204020203" pitchFamily="34" charset="0"/>
            </a:endParaRPr>
          </a:p>
        </p:txBody>
      </p:sp>
    </p:spTree>
    <p:extLst>
      <p:ext uri="{BB962C8B-B14F-4D97-AF65-F5344CB8AC3E}">
        <p14:creationId xmlns:p14="http://schemas.microsoft.com/office/powerpoint/2010/main" val="1893479872"/>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Process-19">
    <p:spTree>
      <p:nvGrpSpPr>
        <p:cNvPr id="1" name=""/>
        <p:cNvGrpSpPr/>
        <p:nvPr/>
      </p:nvGrpSpPr>
      <p:grpSpPr>
        <a:xfrm>
          <a:off x="0" y="0"/>
          <a:ext cx="0" cy="0"/>
          <a:chOff x="0" y="0"/>
          <a:chExt cx="0" cy="0"/>
        </a:xfrm>
      </p:grpSpPr>
      <p:pic>
        <p:nvPicPr>
          <p:cNvPr id="4" name="Approved visual layer" descr="Decorative card shapes and connectors from the approved HTML layout. Main text is editable in separate text boxes.">
            <a:extLst>
              <a:ext uri="{FF2B5EF4-FFF2-40B4-BE49-F238E27FC236}">
                <a16:creationId xmlns:a16="http://schemas.microsoft.com/office/drawing/2014/main" id="{29AC2AF6-49A8-7570-E06F-1ECA8E86211B}"/>
              </a:ext>
            </a:extLst>
          </p:cNvPr>
          <p:cNvPicPr>
            <a:picLocks/>
          </p:cNvPicPr>
          <p:nvPr/>
        </p:nvPicPr>
        <p:blipFill>
          <a:blip r:embed="rId3"/>
          <a:stretch>
            <a:fillRect/>
          </a:stretch>
        </p:blipFill>
        <p:spPr>
          <a:xfrm>
            <a:off x="0" y="0"/>
            <a:ext cx="12192000" cy="6858000"/>
          </a:xfrm>
          <a:prstGeom prst="rect">
            <a:avLst/>
          </a:prstGeom>
        </p:spPr>
      </p:pic>
      <p:sp>
        <p:nvSpPr>
          <p:cNvPr id="5" name="Text 001 H1">
            <a:extLst>
              <a:ext uri="{FF2B5EF4-FFF2-40B4-BE49-F238E27FC236}">
                <a16:creationId xmlns:a16="http://schemas.microsoft.com/office/drawing/2014/main" id="{46E40233-54B6-953B-C6F4-F0E06CEE7A78}"/>
              </a:ext>
            </a:extLst>
          </p:cNvPr>
          <p:cNvSpPr txBox="1"/>
          <p:nvPr/>
        </p:nvSpPr>
        <p:spPr>
          <a:xfrm>
            <a:off x="579120" y="2668905"/>
            <a:ext cx="65" cy="307777"/>
          </a:xfrm>
          <a:prstGeom prst="rect">
            <a:avLst/>
          </a:prstGeom>
          <a:noFill/>
        </p:spPr>
        <p:txBody>
          <a:bodyPr vert="horz" wrap="none" lIns="0" tIns="0" rIns="0" bIns="0" rtlCol="0" anchor="t">
            <a:noAutofit/>
          </a:bodyPr>
          <a:lstStyle/>
          <a:p>
            <a:r>
              <a:rPr lang="en-US" sz="4080" spc="-90">
                <a:solidFill>
                  <a:srgbClr val="FFFFFF"/>
                </a:solidFill>
                <a:latin typeface="Segoe UI Semibold" panose="020B0702040204020203" pitchFamily="34" charset="0"/>
              </a:rPr>
              <a:t>Getting Started</a:t>
            </a:r>
            <a:endParaRPr lang="en-US" sz="4080" spc="-90" dirty="0" err="1">
              <a:solidFill>
                <a:srgbClr val="FFFFFF"/>
              </a:solidFill>
              <a:latin typeface="Segoe UI Semibold" panose="020B0702040204020203" pitchFamily="34" charset="0"/>
            </a:endParaRPr>
          </a:p>
        </p:txBody>
      </p:sp>
      <p:sp>
        <p:nvSpPr>
          <p:cNvPr id="6" name="Text 002 A">
            <a:hlinkClick r:id="rId4"/>
            <a:extLst>
              <a:ext uri="{FF2B5EF4-FFF2-40B4-BE49-F238E27FC236}">
                <a16:creationId xmlns:a16="http://schemas.microsoft.com/office/drawing/2014/main" id="{C1F8E477-062B-F81D-C4D5-E6BEDC3E8CEF}"/>
              </a:ext>
            </a:extLst>
          </p:cNvPr>
          <p:cNvSpPr txBox="1"/>
          <p:nvPr/>
        </p:nvSpPr>
        <p:spPr>
          <a:xfrm>
            <a:off x="579120" y="3572589"/>
            <a:ext cx="65" cy="307777"/>
          </a:xfrm>
          <a:prstGeom prst="rect">
            <a:avLst/>
          </a:prstGeom>
          <a:noFill/>
        </p:spPr>
        <p:txBody>
          <a:bodyPr vert="horz" wrap="none" lIns="0" tIns="0" rIns="0" bIns="0" rtlCol="0" anchor="t">
            <a:noAutofit/>
          </a:bodyPr>
          <a:lstStyle/>
          <a:p>
            <a:r>
              <a:rPr lang="en-US" sz="1920" u="sng" dirty="0">
                <a:solidFill>
                  <a:schemeClr val="bg1"/>
                </a:solidFill>
                <a:latin typeface="Segoe UI" panose="020B0502040204020203" pitchFamily="34" charset="0"/>
                <a:hlinkClick r:id="rId5">
                  <a:extLst>
                    <a:ext uri="{A12FA001-AC4F-418D-AE19-62706E023703}">
                      <ahyp:hlinkClr xmlns:ahyp="http://schemas.microsoft.com/office/drawing/2018/hyperlinkcolor" val="tx"/>
                    </a:ext>
                  </a:extLst>
                </a:hlinkClick>
              </a:rPr>
              <a:t>Repo</a:t>
            </a:r>
            <a:endParaRPr lang="en-US" sz="1920" u="sng" dirty="0">
              <a:solidFill>
                <a:schemeClr val="bg1"/>
              </a:solidFill>
              <a:latin typeface="Segoe UI" panose="020B0502040204020203" pitchFamily="34" charset="0"/>
            </a:endParaRPr>
          </a:p>
        </p:txBody>
      </p:sp>
      <p:sp>
        <p:nvSpPr>
          <p:cNvPr id="7" name="Text 003 P">
            <a:extLst>
              <a:ext uri="{FF2B5EF4-FFF2-40B4-BE49-F238E27FC236}">
                <a16:creationId xmlns:a16="http://schemas.microsoft.com/office/drawing/2014/main" id="{5438DCC4-796F-2748-5DAF-688F606E6094}"/>
              </a:ext>
            </a:extLst>
          </p:cNvPr>
          <p:cNvSpPr txBox="1"/>
          <p:nvPr/>
        </p:nvSpPr>
        <p:spPr>
          <a:xfrm>
            <a:off x="579120" y="4014550"/>
            <a:ext cx="65" cy="307777"/>
          </a:xfrm>
          <a:prstGeom prst="rect">
            <a:avLst/>
          </a:prstGeom>
          <a:noFill/>
        </p:spPr>
        <p:txBody>
          <a:bodyPr vert="horz" wrap="none" lIns="0" tIns="0" rIns="0" bIns="0" rtlCol="0" anchor="t">
            <a:noAutofit/>
          </a:bodyPr>
          <a:lstStyle/>
          <a:p>
            <a:endParaRPr lang="en-US" sz="1320" dirty="0">
              <a:solidFill>
                <a:srgbClr val="FFFFFF"/>
              </a:solidFill>
              <a:latin typeface="Segoe UI" panose="020B0502040204020203" pitchFamily="34" charset="0"/>
            </a:endParaRPr>
          </a:p>
        </p:txBody>
      </p:sp>
    </p:spTree>
    <p:extLst>
      <p:ext uri="{BB962C8B-B14F-4D97-AF65-F5344CB8AC3E}">
        <p14:creationId xmlns:p14="http://schemas.microsoft.com/office/powerpoint/2010/main" val="3191604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Process-20">
    <p:spTree>
      <p:nvGrpSpPr>
        <p:cNvPr id="1" name="">
          <a:extLst>
            <a:ext uri="{FF2B5EF4-FFF2-40B4-BE49-F238E27FC236}">
              <a16:creationId xmlns:a16="http://schemas.microsoft.com/office/drawing/2014/main" id="{2D02365C-1AB6-EC0E-17F0-442E809985E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BFF56DA-BA1F-0498-92F9-B77DF5381B7D}"/>
              </a:ext>
              <a:ext uri="{C183D7F6-B498-43B3-948B-1728B52AA6E4}">
                <adec:decorative xmlns:adec="http://schemas.microsoft.com/office/drawing/2017/decorative" val="1"/>
              </a:ext>
            </a:extLst>
          </p:cNvPr>
          <p:cNvPicPr>
            <a:picLocks noChangeAspect="1"/>
          </p:cNvPicPr>
          <p:nvPr/>
        </p:nvPicPr>
        <p:blipFill>
          <a:blip r:embed="rId3"/>
          <a:srcRect t="314" r="16450" b="32525"/>
          <a:stretch>
            <a:fillRect/>
          </a:stretch>
        </p:blipFill>
        <p:spPr>
          <a:xfrm>
            <a:off x="0" y="4491094"/>
            <a:ext cx="12192000" cy="2373503"/>
          </a:xfrm>
          <a:prstGeom prst="rect">
            <a:avLst/>
          </a:prstGeom>
        </p:spPr>
      </p:pic>
      <p:pic>
        <p:nvPicPr>
          <p:cNvPr id="6" name="Approved visual layer" descr="Decorative card shapes and connectors from the approved HTML layout. Main text is editable in separate text boxes.">
            <a:extLst>
              <a:ext uri="{FF2B5EF4-FFF2-40B4-BE49-F238E27FC236}">
                <a16:creationId xmlns:a16="http://schemas.microsoft.com/office/drawing/2014/main" id="{59E14D37-C68F-9F0A-BD1D-8CF69848D3E0}"/>
              </a:ext>
            </a:extLst>
          </p:cNvPr>
          <p:cNvPicPr>
            <a:picLocks/>
          </p:cNvPicPr>
          <p:nvPr/>
        </p:nvPicPr>
        <p:blipFill>
          <a:blip r:embed="rId4"/>
          <a:stretch>
            <a:fillRect/>
          </a:stretch>
        </p:blipFill>
        <p:spPr>
          <a:xfrm>
            <a:off x="0" y="0"/>
            <a:ext cx="12192000" cy="6858000"/>
          </a:xfrm>
          <a:prstGeom prst="rect">
            <a:avLst/>
          </a:prstGeom>
        </p:spPr>
      </p:pic>
      <p:sp>
        <p:nvSpPr>
          <p:cNvPr id="7" name="Text 001 SPAN">
            <a:extLst>
              <a:ext uri="{FF2B5EF4-FFF2-40B4-BE49-F238E27FC236}">
                <a16:creationId xmlns:a16="http://schemas.microsoft.com/office/drawing/2014/main" id="{1B98898A-A937-AE62-B968-6797489E80A9}"/>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05 / GETTING STARTED</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1E20A0DD-E307-6EFD-AEBE-7613DCC9766B}"/>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72">
                <a:solidFill>
                  <a:srgbClr val="1A1A1A"/>
                </a:solidFill>
                <a:latin typeface="Segoe UI Semibold" panose="020B0702040204020203" pitchFamily="34" charset="0"/>
              </a:rPr>
              <a:t>Deploy Core once. Add the process. Verify.</a:t>
            </a:r>
            <a:endParaRPr lang="en-US" sz="2880" spc="-72" dirty="0" err="1">
              <a:solidFill>
                <a:srgbClr val="1A1A1A"/>
              </a:solidFill>
              <a:latin typeface="Segoe UI Semibold" panose="020B0702040204020203" pitchFamily="34" charset="0"/>
            </a:endParaRPr>
          </a:p>
        </p:txBody>
      </p:sp>
      <p:sp>
        <p:nvSpPr>
          <p:cNvPr id="11" name="Text 003 P">
            <a:extLst>
              <a:ext uri="{FF2B5EF4-FFF2-40B4-BE49-F238E27FC236}">
                <a16:creationId xmlns:a16="http://schemas.microsoft.com/office/drawing/2014/main" id="{6181B751-6A16-66D1-1F89-45A5E48AF355}"/>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spc="-2">
                <a:solidFill>
                  <a:srgbClr val="343B48"/>
                </a:solidFill>
                <a:latin typeface="Segoe UI" panose="020B0502040204020203" pitchFamily="34" charset="0"/>
              </a:rPr>
              <a:t>Repository deployment skills guide the setup through explicit confirmation.</a:t>
            </a:r>
            <a:endParaRPr lang="en-US" sz="1500" spc="-2" dirty="0" err="1">
              <a:solidFill>
                <a:srgbClr val="343B48"/>
              </a:solidFill>
              <a:latin typeface="Segoe UI" panose="020B0502040204020203" pitchFamily="34" charset="0"/>
            </a:endParaRPr>
          </a:p>
        </p:txBody>
      </p:sp>
      <p:sp>
        <p:nvSpPr>
          <p:cNvPr id="12" name="Text 004 SPAN">
            <a:extLst>
              <a:ext uri="{FF2B5EF4-FFF2-40B4-BE49-F238E27FC236}">
                <a16:creationId xmlns:a16="http://schemas.microsoft.com/office/drawing/2014/main" id="{E030954B-B90D-687F-2043-AF688FEDF534}"/>
              </a:ext>
            </a:extLst>
          </p:cNvPr>
          <p:cNvSpPr txBox="1"/>
          <p:nvPr/>
        </p:nvSpPr>
        <p:spPr>
          <a:xfrm>
            <a:off x="938093" y="2026920"/>
            <a:ext cx="65" cy="307777"/>
          </a:xfrm>
          <a:prstGeom prst="rect">
            <a:avLst/>
          </a:prstGeom>
          <a:noFill/>
        </p:spPr>
        <p:txBody>
          <a:bodyPr vert="horz" wrap="none" lIns="0" tIns="0" rIns="0" bIns="0" rtlCol="0" anchor="t">
            <a:noAutofit/>
          </a:bodyPr>
          <a:lstStyle/>
          <a:p>
            <a:r>
              <a:rPr lang="en-US" sz="1740">
                <a:solidFill>
                  <a:srgbClr val="00599F"/>
                </a:solidFill>
                <a:latin typeface="Segoe UI Semibold" panose="020B0702040204020203" pitchFamily="34" charset="0"/>
              </a:rPr>
              <a:t>01</a:t>
            </a:r>
            <a:endParaRPr lang="en-US" sz="1740" dirty="0" err="1">
              <a:solidFill>
                <a:srgbClr val="00599F"/>
              </a:solidFill>
              <a:latin typeface="Segoe UI Semibold" panose="020B0702040204020203" pitchFamily="34" charset="0"/>
            </a:endParaRPr>
          </a:p>
        </p:txBody>
      </p:sp>
      <p:sp>
        <p:nvSpPr>
          <p:cNvPr id="13" name="Text 005 H2">
            <a:extLst>
              <a:ext uri="{FF2B5EF4-FFF2-40B4-BE49-F238E27FC236}">
                <a16:creationId xmlns:a16="http://schemas.microsoft.com/office/drawing/2014/main" id="{BAF1A718-D355-26D3-8E85-3CEF891EBD82}"/>
              </a:ext>
            </a:extLst>
          </p:cNvPr>
          <p:cNvSpPr txBox="1"/>
          <p:nvPr/>
        </p:nvSpPr>
        <p:spPr>
          <a:xfrm>
            <a:off x="792480" y="2560320"/>
            <a:ext cx="65" cy="307777"/>
          </a:xfrm>
          <a:prstGeom prst="rect">
            <a:avLst/>
          </a:prstGeom>
          <a:noFill/>
        </p:spPr>
        <p:txBody>
          <a:bodyPr vert="horz" wrap="none" lIns="0" tIns="0" rIns="0" bIns="0" rtlCol="0" anchor="t">
            <a:noAutofit/>
          </a:bodyPr>
          <a:lstStyle/>
          <a:p>
            <a:r>
              <a:rPr lang="en-US" sz="1920" spc="-30">
                <a:solidFill>
                  <a:srgbClr val="00599F"/>
                </a:solidFill>
                <a:latin typeface="Segoe UI Semibold" panose="020B0702040204020203" pitchFamily="34" charset="0"/>
              </a:rPr>
              <a:t>Check readiness</a:t>
            </a:r>
            <a:endParaRPr lang="en-US" sz="1920" spc="-30" dirty="0" err="1">
              <a:solidFill>
                <a:srgbClr val="00599F"/>
              </a:solidFill>
              <a:latin typeface="Segoe UI Semibold" panose="020B0702040204020203" pitchFamily="34" charset="0"/>
            </a:endParaRPr>
          </a:p>
        </p:txBody>
      </p:sp>
      <p:sp>
        <p:nvSpPr>
          <p:cNvPr id="15" name="Text 006 P">
            <a:extLst>
              <a:ext uri="{FF2B5EF4-FFF2-40B4-BE49-F238E27FC236}">
                <a16:creationId xmlns:a16="http://schemas.microsoft.com/office/drawing/2014/main" id="{4A6A2B64-ED76-E94B-8BAD-9A6498A450D1}"/>
              </a:ext>
            </a:extLst>
          </p:cNvPr>
          <p:cNvSpPr txBox="1"/>
          <p:nvPr/>
        </p:nvSpPr>
        <p:spPr>
          <a:xfrm>
            <a:off x="792480" y="3024783"/>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Select the environment.</a:t>
            </a:r>
            <a:endParaRPr lang="en-US" sz="1380" dirty="0" err="1">
              <a:solidFill>
                <a:srgbClr val="343B48"/>
              </a:solidFill>
              <a:latin typeface="Segoe UI" panose="020B0502040204020203" pitchFamily="34" charset="0"/>
            </a:endParaRPr>
          </a:p>
        </p:txBody>
      </p:sp>
      <p:sp>
        <p:nvSpPr>
          <p:cNvPr id="16" name="Text 007 P">
            <a:extLst>
              <a:ext uri="{FF2B5EF4-FFF2-40B4-BE49-F238E27FC236}">
                <a16:creationId xmlns:a16="http://schemas.microsoft.com/office/drawing/2014/main" id="{077D1532-DF4C-3DD8-806D-5195145ACB88}"/>
              </a:ext>
            </a:extLst>
          </p:cNvPr>
          <p:cNvSpPr txBox="1"/>
          <p:nvPr/>
        </p:nvSpPr>
        <p:spPr>
          <a:xfrm>
            <a:off x="792480" y="326136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Check access, licenses, credits and</a:t>
            </a:r>
            <a:endParaRPr lang="en-US" sz="1380" dirty="0" err="1">
              <a:solidFill>
                <a:srgbClr val="343B48"/>
              </a:solidFill>
              <a:latin typeface="Segoe UI" panose="020B0502040204020203" pitchFamily="34" charset="0"/>
            </a:endParaRPr>
          </a:p>
        </p:txBody>
      </p:sp>
      <p:sp>
        <p:nvSpPr>
          <p:cNvPr id="17" name="Text 008 P">
            <a:extLst>
              <a:ext uri="{FF2B5EF4-FFF2-40B4-BE49-F238E27FC236}">
                <a16:creationId xmlns:a16="http://schemas.microsoft.com/office/drawing/2014/main" id="{15AF12A2-7746-7854-04DF-4F754EF90A26}"/>
              </a:ext>
            </a:extLst>
          </p:cNvPr>
          <p:cNvSpPr txBox="1"/>
          <p:nvPr/>
        </p:nvSpPr>
        <p:spPr>
          <a:xfrm>
            <a:off x="792480" y="3497937"/>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required features.</a:t>
            </a:r>
            <a:endParaRPr lang="en-US" sz="1380" dirty="0" err="1">
              <a:solidFill>
                <a:srgbClr val="343B48"/>
              </a:solidFill>
              <a:latin typeface="Segoe UI" panose="020B0502040204020203" pitchFamily="34" charset="0"/>
            </a:endParaRPr>
          </a:p>
        </p:txBody>
      </p:sp>
      <p:sp>
        <p:nvSpPr>
          <p:cNvPr id="18" name="Text 009 P">
            <a:extLst>
              <a:ext uri="{FF2B5EF4-FFF2-40B4-BE49-F238E27FC236}">
                <a16:creationId xmlns:a16="http://schemas.microsoft.com/office/drawing/2014/main" id="{0B7454DF-D7DE-4AED-D734-7A38A52A2324}"/>
              </a:ext>
            </a:extLst>
          </p:cNvPr>
          <p:cNvSpPr txBox="1"/>
          <p:nvPr/>
        </p:nvSpPr>
        <p:spPr>
          <a:xfrm>
            <a:off x="792480" y="3971092"/>
            <a:ext cx="65" cy="307777"/>
          </a:xfrm>
          <a:prstGeom prst="rect">
            <a:avLst/>
          </a:prstGeom>
          <a:noFill/>
        </p:spPr>
        <p:txBody>
          <a:bodyPr vert="horz" wrap="none" lIns="0" tIns="0" rIns="0" bIns="0" rtlCol="0" anchor="t">
            <a:noAutofit/>
          </a:bodyPr>
          <a:lstStyle/>
          <a:p>
            <a:r>
              <a:rPr lang="en-US" sz="1380">
                <a:solidFill>
                  <a:srgbClr val="343B48"/>
                </a:solidFill>
                <a:latin typeface="Segoe UI Semibold" panose="020B0702040204020203" pitchFamily="34" charset="0"/>
              </a:rPr>
              <a:t>Confirm before changes.</a:t>
            </a:r>
            <a:endParaRPr lang="en-US" sz="1380" dirty="0" err="1">
              <a:solidFill>
                <a:srgbClr val="343B48"/>
              </a:solidFill>
              <a:latin typeface="Segoe UI Semibold" panose="020B0702040204020203" pitchFamily="34" charset="0"/>
            </a:endParaRPr>
          </a:p>
        </p:txBody>
      </p:sp>
      <p:sp>
        <p:nvSpPr>
          <p:cNvPr id="20" name="Text 010 SPAN">
            <a:extLst>
              <a:ext uri="{FF2B5EF4-FFF2-40B4-BE49-F238E27FC236}">
                <a16:creationId xmlns:a16="http://schemas.microsoft.com/office/drawing/2014/main" id="{9A8007EE-198F-C10F-4226-AB2DFDB558D3}"/>
              </a:ext>
            </a:extLst>
          </p:cNvPr>
          <p:cNvSpPr txBox="1"/>
          <p:nvPr/>
        </p:nvSpPr>
        <p:spPr>
          <a:xfrm>
            <a:off x="4670227" y="2026920"/>
            <a:ext cx="65" cy="307777"/>
          </a:xfrm>
          <a:prstGeom prst="rect">
            <a:avLst/>
          </a:prstGeom>
          <a:noFill/>
        </p:spPr>
        <p:txBody>
          <a:bodyPr vert="horz" wrap="none" lIns="0" tIns="0" rIns="0" bIns="0" rtlCol="0" anchor="t">
            <a:noAutofit/>
          </a:bodyPr>
          <a:lstStyle/>
          <a:p>
            <a:r>
              <a:rPr lang="en-US" sz="1740">
                <a:solidFill>
                  <a:srgbClr val="00599F"/>
                </a:solidFill>
                <a:latin typeface="Segoe UI Semibold" panose="020B0702040204020203" pitchFamily="34" charset="0"/>
              </a:rPr>
              <a:t>02</a:t>
            </a:r>
            <a:endParaRPr lang="en-US" sz="1740" dirty="0" err="1">
              <a:solidFill>
                <a:srgbClr val="00599F"/>
              </a:solidFill>
              <a:latin typeface="Segoe UI Semibold" panose="020B0702040204020203" pitchFamily="34" charset="0"/>
            </a:endParaRPr>
          </a:p>
        </p:txBody>
      </p:sp>
      <p:sp>
        <p:nvSpPr>
          <p:cNvPr id="21" name="Text 011 H2">
            <a:extLst>
              <a:ext uri="{FF2B5EF4-FFF2-40B4-BE49-F238E27FC236}">
                <a16:creationId xmlns:a16="http://schemas.microsoft.com/office/drawing/2014/main" id="{778AEE20-E68B-2EEB-BD18-4B4DF1306A76}"/>
              </a:ext>
            </a:extLst>
          </p:cNvPr>
          <p:cNvSpPr txBox="1"/>
          <p:nvPr/>
        </p:nvSpPr>
        <p:spPr>
          <a:xfrm>
            <a:off x="4541520" y="2560320"/>
            <a:ext cx="65" cy="307777"/>
          </a:xfrm>
          <a:prstGeom prst="rect">
            <a:avLst/>
          </a:prstGeom>
          <a:noFill/>
        </p:spPr>
        <p:txBody>
          <a:bodyPr vert="horz" wrap="none" lIns="0" tIns="0" rIns="0" bIns="0" rtlCol="0" anchor="t">
            <a:noAutofit/>
          </a:bodyPr>
          <a:lstStyle/>
          <a:p>
            <a:r>
              <a:rPr lang="en-US" sz="1920" spc="-30">
                <a:solidFill>
                  <a:srgbClr val="00599F"/>
                </a:solidFill>
                <a:latin typeface="Segoe UI Semibold" panose="020B0702040204020203" pitchFamily="34" charset="0"/>
              </a:rPr>
              <a:t>Install Core</a:t>
            </a:r>
            <a:endParaRPr lang="en-US" sz="1920" spc="-30" dirty="0" err="1">
              <a:solidFill>
                <a:srgbClr val="00599F"/>
              </a:solidFill>
              <a:latin typeface="Segoe UI Semibold" panose="020B0702040204020203" pitchFamily="34" charset="0"/>
            </a:endParaRPr>
          </a:p>
        </p:txBody>
      </p:sp>
      <p:sp>
        <p:nvSpPr>
          <p:cNvPr id="22" name="Text 012 P">
            <a:extLst>
              <a:ext uri="{FF2B5EF4-FFF2-40B4-BE49-F238E27FC236}">
                <a16:creationId xmlns:a16="http://schemas.microsoft.com/office/drawing/2014/main" id="{EF5B2B14-41E5-1FB6-1FB4-E59A9EB9F894}"/>
              </a:ext>
            </a:extLst>
          </p:cNvPr>
          <p:cNvSpPr txBox="1"/>
          <p:nvPr/>
        </p:nvSpPr>
        <p:spPr>
          <a:xfrm>
            <a:off x="4541520" y="3024783"/>
            <a:ext cx="65" cy="307777"/>
          </a:xfrm>
          <a:prstGeom prst="rect">
            <a:avLst/>
          </a:prstGeom>
          <a:noFill/>
        </p:spPr>
        <p:txBody>
          <a:bodyPr vert="horz" wrap="none" lIns="0" tIns="0" rIns="0" bIns="0" rtlCol="0" anchor="t">
            <a:noAutofit/>
          </a:bodyPr>
          <a:lstStyle/>
          <a:p>
            <a:r>
              <a:rPr lang="en-US" sz="1380" spc="3">
                <a:solidFill>
                  <a:srgbClr val="343B48"/>
                </a:solidFill>
                <a:latin typeface="Segoe UI" panose="020B0502040204020203" pitchFamily="34" charset="0"/>
              </a:rPr>
              <a:t>Configure the runtime identity, import</a:t>
            </a:r>
            <a:endParaRPr lang="en-US" sz="1380" spc="3" dirty="0" err="1">
              <a:solidFill>
                <a:srgbClr val="343B48"/>
              </a:solidFill>
              <a:latin typeface="Segoe UI" panose="020B0502040204020203" pitchFamily="34" charset="0"/>
            </a:endParaRPr>
          </a:p>
        </p:txBody>
      </p:sp>
      <p:sp>
        <p:nvSpPr>
          <p:cNvPr id="23" name="Text 013 P">
            <a:extLst>
              <a:ext uri="{FF2B5EF4-FFF2-40B4-BE49-F238E27FC236}">
                <a16:creationId xmlns:a16="http://schemas.microsoft.com/office/drawing/2014/main" id="{761584AA-A611-53DE-A24D-28BB5FF904B3}"/>
              </a:ext>
            </a:extLst>
          </p:cNvPr>
          <p:cNvSpPr txBox="1"/>
          <p:nvPr/>
        </p:nvSpPr>
        <p:spPr>
          <a:xfrm>
            <a:off x="4541520" y="326136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the solution and wire connections.</a:t>
            </a:r>
            <a:endParaRPr lang="en-US" sz="1380" dirty="0" err="1">
              <a:solidFill>
                <a:srgbClr val="343B48"/>
              </a:solidFill>
              <a:latin typeface="Segoe UI" panose="020B0502040204020203" pitchFamily="34" charset="0"/>
            </a:endParaRPr>
          </a:p>
        </p:txBody>
      </p:sp>
      <p:sp>
        <p:nvSpPr>
          <p:cNvPr id="24" name="Text 014 P">
            <a:extLst>
              <a:ext uri="{FF2B5EF4-FFF2-40B4-BE49-F238E27FC236}">
                <a16:creationId xmlns:a16="http://schemas.microsoft.com/office/drawing/2014/main" id="{49142A6D-5801-084B-23C8-566553EB2800}"/>
              </a:ext>
            </a:extLst>
          </p:cNvPr>
          <p:cNvSpPr txBox="1"/>
          <p:nvPr/>
        </p:nvSpPr>
        <p:spPr>
          <a:xfrm>
            <a:off x="4541520" y="3734514"/>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Verify Core components.</a:t>
            </a:r>
            <a:endParaRPr lang="en-US" sz="1380" dirty="0" err="1">
              <a:solidFill>
                <a:srgbClr val="343B48"/>
              </a:solidFill>
              <a:latin typeface="Segoe UI" panose="020B0502040204020203" pitchFamily="34" charset="0"/>
            </a:endParaRPr>
          </a:p>
        </p:txBody>
      </p:sp>
      <p:sp>
        <p:nvSpPr>
          <p:cNvPr id="25" name="Text 015 SPAN">
            <a:extLst>
              <a:ext uri="{FF2B5EF4-FFF2-40B4-BE49-F238E27FC236}">
                <a16:creationId xmlns:a16="http://schemas.microsoft.com/office/drawing/2014/main" id="{F5AE368C-42E9-08B9-649E-D327D4B1C9E3}"/>
              </a:ext>
            </a:extLst>
          </p:cNvPr>
          <p:cNvSpPr txBox="1"/>
          <p:nvPr/>
        </p:nvSpPr>
        <p:spPr>
          <a:xfrm>
            <a:off x="8419267" y="2026920"/>
            <a:ext cx="65" cy="307777"/>
          </a:xfrm>
          <a:prstGeom prst="rect">
            <a:avLst/>
          </a:prstGeom>
          <a:noFill/>
        </p:spPr>
        <p:txBody>
          <a:bodyPr vert="horz" wrap="none" lIns="0" tIns="0" rIns="0" bIns="0" rtlCol="0" anchor="t">
            <a:noAutofit/>
          </a:bodyPr>
          <a:lstStyle/>
          <a:p>
            <a:r>
              <a:rPr lang="en-US" sz="1740">
                <a:solidFill>
                  <a:srgbClr val="00599F"/>
                </a:solidFill>
                <a:latin typeface="Segoe UI Semibold" panose="020B0702040204020203" pitchFamily="34" charset="0"/>
              </a:rPr>
              <a:t>03</a:t>
            </a:r>
            <a:endParaRPr lang="en-US" sz="1740" dirty="0" err="1">
              <a:solidFill>
                <a:srgbClr val="00599F"/>
              </a:solidFill>
              <a:latin typeface="Segoe UI Semibold" panose="020B0702040204020203" pitchFamily="34" charset="0"/>
            </a:endParaRPr>
          </a:p>
        </p:txBody>
      </p:sp>
      <p:sp>
        <p:nvSpPr>
          <p:cNvPr id="26" name="Text 016 H2">
            <a:extLst>
              <a:ext uri="{FF2B5EF4-FFF2-40B4-BE49-F238E27FC236}">
                <a16:creationId xmlns:a16="http://schemas.microsoft.com/office/drawing/2014/main" id="{2393B29E-6896-F638-5769-CD4023BA6F79}"/>
              </a:ext>
            </a:extLst>
          </p:cNvPr>
          <p:cNvSpPr txBox="1"/>
          <p:nvPr/>
        </p:nvSpPr>
        <p:spPr>
          <a:xfrm>
            <a:off x="8290560" y="2560320"/>
            <a:ext cx="65" cy="307777"/>
          </a:xfrm>
          <a:prstGeom prst="rect">
            <a:avLst/>
          </a:prstGeom>
          <a:noFill/>
        </p:spPr>
        <p:txBody>
          <a:bodyPr vert="horz" wrap="none" lIns="0" tIns="0" rIns="0" bIns="0" rtlCol="0" anchor="t">
            <a:noAutofit/>
          </a:bodyPr>
          <a:lstStyle/>
          <a:p>
            <a:r>
              <a:rPr lang="en-US" sz="1920" spc="-30">
                <a:solidFill>
                  <a:srgbClr val="00599F"/>
                </a:solidFill>
                <a:latin typeface="Segoe UI Semibold" panose="020B0702040204020203" pitchFamily="34" charset="0"/>
              </a:rPr>
              <a:t>Add Order Processing</a:t>
            </a:r>
            <a:endParaRPr lang="en-US" sz="1920" spc="-30" dirty="0" err="1">
              <a:solidFill>
                <a:srgbClr val="00599F"/>
              </a:solidFill>
              <a:latin typeface="Segoe UI Semibold" panose="020B0702040204020203" pitchFamily="34" charset="0"/>
            </a:endParaRPr>
          </a:p>
        </p:txBody>
      </p:sp>
      <p:sp>
        <p:nvSpPr>
          <p:cNvPr id="27" name="Text 017 P">
            <a:extLst>
              <a:ext uri="{FF2B5EF4-FFF2-40B4-BE49-F238E27FC236}">
                <a16:creationId xmlns:a16="http://schemas.microsoft.com/office/drawing/2014/main" id="{488BE9C1-F2E7-476D-EE3A-08F3C5E73482}"/>
              </a:ext>
            </a:extLst>
          </p:cNvPr>
          <p:cNvSpPr txBox="1"/>
          <p:nvPr/>
        </p:nvSpPr>
        <p:spPr>
          <a:xfrm>
            <a:off x="8290560" y="3024783"/>
            <a:ext cx="65" cy="307777"/>
          </a:xfrm>
          <a:prstGeom prst="rect">
            <a:avLst/>
          </a:prstGeom>
          <a:noFill/>
        </p:spPr>
        <p:txBody>
          <a:bodyPr vert="horz" wrap="none" lIns="0" tIns="0" rIns="0" bIns="0" rtlCol="0" anchor="t">
            <a:noAutofit/>
          </a:bodyPr>
          <a:lstStyle/>
          <a:p>
            <a:r>
              <a:rPr lang="en-US" sz="1380" spc="3">
                <a:solidFill>
                  <a:srgbClr val="343B48"/>
                </a:solidFill>
                <a:latin typeface="Segoe UI" panose="020B0502040204020203" pitchFamily="34" charset="0"/>
              </a:rPr>
              <a:t>Configure the automation account and</a:t>
            </a:r>
            <a:endParaRPr lang="en-US" sz="1380" spc="3" dirty="0" err="1">
              <a:solidFill>
                <a:srgbClr val="343B48"/>
              </a:solidFill>
              <a:latin typeface="Segoe UI" panose="020B0502040204020203" pitchFamily="34" charset="0"/>
            </a:endParaRPr>
          </a:p>
        </p:txBody>
      </p:sp>
      <p:sp>
        <p:nvSpPr>
          <p:cNvPr id="46" name="Text 018 P">
            <a:extLst>
              <a:ext uri="{FF2B5EF4-FFF2-40B4-BE49-F238E27FC236}">
                <a16:creationId xmlns:a16="http://schemas.microsoft.com/office/drawing/2014/main" id="{BD80F332-E017-6226-9D83-7537E691FBD6}"/>
              </a:ext>
            </a:extLst>
          </p:cNvPr>
          <p:cNvSpPr txBox="1"/>
          <p:nvPr/>
        </p:nvSpPr>
        <p:spPr>
          <a:xfrm>
            <a:off x="8290560" y="326136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mailbox; activate workflows and assign</a:t>
            </a:r>
            <a:endParaRPr lang="en-US" sz="1380" dirty="0" err="1">
              <a:solidFill>
                <a:srgbClr val="343B48"/>
              </a:solidFill>
              <a:latin typeface="Segoe UI" panose="020B0502040204020203" pitchFamily="34" charset="0"/>
            </a:endParaRPr>
          </a:p>
        </p:txBody>
      </p:sp>
      <p:sp>
        <p:nvSpPr>
          <p:cNvPr id="50" name="Text 019 P">
            <a:extLst>
              <a:ext uri="{FF2B5EF4-FFF2-40B4-BE49-F238E27FC236}">
                <a16:creationId xmlns:a16="http://schemas.microsoft.com/office/drawing/2014/main" id="{06B19F12-E329-87B0-1C08-A01C2BD81218}"/>
              </a:ext>
            </a:extLst>
          </p:cNvPr>
          <p:cNvSpPr txBox="1"/>
          <p:nvPr/>
        </p:nvSpPr>
        <p:spPr>
          <a:xfrm>
            <a:off x="8290560" y="3497937"/>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roles.</a:t>
            </a:r>
            <a:endParaRPr lang="en-US" sz="1380" dirty="0" err="1">
              <a:solidFill>
                <a:srgbClr val="343B48"/>
              </a:solidFill>
              <a:latin typeface="Segoe UI" panose="020B0502040204020203" pitchFamily="34" charset="0"/>
            </a:endParaRPr>
          </a:p>
        </p:txBody>
      </p:sp>
      <p:sp>
        <p:nvSpPr>
          <p:cNvPr id="51" name="Text 020 P">
            <a:extLst>
              <a:ext uri="{FF2B5EF4-FFF2-40B4-BE49-F238E27FC236}">
                <a16:creationId xmlns:a16="http://schemas.microsoft.com/office/drawing/2014/main" id="{09CB1535-5C70-4928-5D33-B3C970CB7472}"/>
              </a:ext>
            </a:extLst>
          </p:cNvPr>
          <p:cNvSpPr txBox="1"/>
          <p:nvPr/>
        </p:nvSpPr>
        <p:spPr>
          <a:xfrm>
            <a:off x="8290560" y="3971092"/>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Verify the installation.</a:t>
            </a:r>
            <a:endParaRPr lang="en-US" sz="1380" dirty="0" err="1">
              <a:solidFill>
                <a:srgbClr val="343B48"/>
              </a:solidFill>
              <a:latin typeface="Segoe UI" panose="020B0502040204020203" pitchFamily="34" charset="0"/>
            </a:endParaRPr>
          </a:p>
        </p:txBody>
      </p:sp>
      <p:sp>
        <p:nvSpPr>
          <p:cNvPr id="52" name="Text 021 SPAN">
            <a:extLst>
              <a:ext uri="{FF2B5EF4-FFF2-40B4-BE49-F238E27FC236}">
                <a16:creationId xmlns:a16="http://schemas.microsoft.com/office/drawing/2014/main" id="{089D8423-CF4B-A225-AE45-C417C828F753}"/>
              </a:ext>
            </a:extLst>
          </p:cNvPr>
          <p:cNvSpPr txBox="1"/>
          <p:nvPr/>
        </p:nvSpPr>
        <p:spPr>
          <a:xfrm>
            <a:off x="800100" y="4687729"/>
            <a:ext cx="65" cy="307777"/>
          </a:xfrm>
          <a:prstGeom prst="rect">
            <a:avLst/>
          </a:prstGeom>
          <a:noFill/>
        </p:spPr>
        <p:txBody>
          <a:bodyPr vert="horz" wrap="none" lIns="0" tIns="0" rIns="0" bIns="0" rtlCol="0" anchor="t">
            <a:noAutofit/>
          </a:bodyPr>
          <a:lstStyle/>
          <a:p>
            <a:r>
              <a:rPr lang="en-US" sz="840" spc="74">
                <a:solidFill>
                  <a:srgbClr val="425466"/>
                </a:solidFill>
                <a:latin typeface="Segoe UI" panose="020B0502040204020203" pitchFamily="34" charset="0"/>
              </a:rPr>
              <a:t>ASK GITHUB COPILOT IN VS CODE</a:t>
            </a:r>
            <a:endParaRPr lang="en-US" sz="840" spc="74" dirty="0" err="1">
              <a:solidFill>
                <a:srgbClr val="425466"/>
              </a:solidFill>
              <a:latin typeface="Segoe UI" panose="020B0502040204020203" pitchFamily="34" charset="0"/>
            </a:endParaRPr>
          </a:p>
        </p:txBody>
      </p:sp>
      <p:sp>
        <p:nvSpPr>
          <p:cNvPr id="53" name="Text 022 CODE">
            <a:extLst>
              <a:ext uri="{FF2B5EF4-FFF2-40B4-BE49-F238E27FC236}">
                <a16:creationId xmlns:a16="http://schemas.microsoft.com/office/drawing/2014/main" id="{7CA37729-0B3E-CB67-E3FA-5E39DE217354}"/>
              </a:ext>
            </a:extLst>
          </p:cNvPr>
          <p:cNvSpPr txBox="1"/>
          <p:nvPr/>
        </p:nvSpPr>
        <p:spPr>
          <a:xfrm>
            <a:off x="800100" y="4901089"/>
            <a:ext cx="65" cy="307777"/>
          </a:xfrm>
          <a:prstGeom prst="rect">
            <a:avLst/>
          </a:prstGeom>
          <a:noFill/>
        </p:spPr>
        <p:txBody>
          <a:bodyPr vert="horz" wrap="none" lIns="0" tIns="0" rIns="0" bIns="0" rtlCol="0" anchor="t">
            <a:noAutofit/>
          </a:bodyPr>
          <a:lstStyle/>
          <a:p>
            <a:r>
              <a:rPr lang="en-US" sz="1440" spc="4">
                <a:solidFill>
                  <a:srgbClr val="00599F"/>
                </a:solidFill>
                <a:latin typeface="Consolas" panose="020B0609020204030204" pitchFamily="49" charset="0"/>
              </a:rPr>
              <a:t>Deploy Business Process Core</a:t>
            </a:r>
            <a:endParaRPr lang="en-US" sz="1440" spc="4" dirty="0" err="1">
              <a:solidFill>
                <a:srgbClr val="00599F"/>
              </a:solidFill>
              <a:latin typeface="Consolas" panose="020B0609020204030204" pitchFamily="49" charset="0"/>
            </a:endParaRPr>
          </a:p>
        </p:txBody>
      </p:sp>
      <p:sp>
        <p:nvSpPr>
          <p:cNvPr id="54" name="Text 023 SMALL">
            <a:extLst>
              <a:ext uri="{FF2B5EF4-FFF2-40B4-BE49-F238E27FC236}">
                <a16:creationId xmlns:a16="http://schemas.microsoft.com/office/drawing/2014/main" id="{884753DF-B2A6-0721-4252-875F98387F25}"/>
              </a:ext>
            </a:extLst>
          </p:cNvPr>
          <p:cNvSpPr txBox="1"/>
          <p:nvPr/>
        </p:nvSpPr>
        <p:spPr>
          <a:xfrm>
            <a:off x="800100" y="5183029"/>
            <a:ext cx="65" cy="307777"/>
          </a:xfrm>
          <a:prstGeom prst="rect">
            <a:avLst/>
          </a:prstGeom>
          <a:noFill/>
        </p:spPr>
        <p:txBody>
          <a:bodyPr vert="horz" wrap="none" lIns="0" tIns="0" rIns="0" bIns="0" rtlCol="0" anchor="t">
            <a:noAutofit/>
          </a:bodyPr>
          <a:lstStyle/>
          <a:p>
            <a:r>
              <a:rPr lang="en-US" sz="1020">
                <a:solidFill>
                  <a:srgbClr val="425466"/>
                </a:solidFill>
                <a:latin typeface="Segoe UI" panose="020B0502040204020203" pitchFamily="34" charset="0"/>
              </a:rPr>
              <a:t>deploy-business-process-core</a:t>
            </a:r>
            <a:endParaRPr lang="en-US" sz="1020" dirty="0" err="1">
              <a:solidFill>
                <a:srgbClr val="425466"/>
              </a:solidFill>
              <a:latin typeface="Segoe UI" panose="020B0502040204020203" pitchFamily="34" charset="0"/>
            </a:endParaRPr>
          </a:p>
        </p:txBody>
      </p:sp>
      <p:sp>
        <p:nvSpPr>
          <p:cNvPr id="55" name="Text 024 SPAN">
            <a:extLst>
              <a:ext uri="{FF2B5EF4-FFF2-40B4-BE49-F238E27FC236}">
                <a16:creationId xmlns:a16="http://schemas.microsoft.com/office/drawing/2014/main" id="{1FEDEB8B-F594-A2E3-027A-F1B32F0FC937}"/>
              </a:ext>
            </a:extLst>
          </p:cNvPr>
          <p:cNvSpPr txBox="1"/>
          <p:nvPr/>
        </p:nvSpPr>
        <p:spPr>
          <a:xfrm>
            <a:off x="6423660" y="4687729"/>
            <a:ext cx="65" cy="307777"/>
          </a:xfrm>
          <a:prstGeom prst="rect">
            <a:avLst/>
          </a:prstGeom>
          <a:noFill/>
        </p:spPr>
        <p:txBody>
          <a:bodyPr vert="horz" wrap="none" lIns="0" tIns="0" rIns="0" bIns="0" rtlCol="0" anchor="t">
            <a:noAutofit/>
          </a:bodyPr>
          <a:lstStyle/>
          <a:p>
            <a:r>
              <a:rPr lang="en-US" sz="840" spc="78">
                <a:solidFill>
                  <a:srgbClr val="425466"/>
                </a:solidFill>
                <a:latin typeface="Segoe UI" panose="020B0502040204020203" pitchFamily="34" charset="0"/>
              </a:rPr>
              <a:t>THEN ASK</a:t>
            </a:r>
            <a:endParaRPr lang="en-US" sz="840" spc="78" dirty="0" err="1">
              <a:solidFill>
                <a:srgbClr val="425466"/>
              </a:solidFill>
              <a:latin typeface="Segoe UI" panose="020B0502040204020203" pitchFamily="34" charset="0"/>
            </a:endParaRPr>
          </a:p>
        </p:txBody>
      </p:sp>
      <p:sp>
        <p:nvSpPr>
          <p:cNvPr id="56" name="Text 025 CODE">
            <a:extLst>
              <a:ext uri="{FF2B5EF4-FFF2-40B4-BE49-F238E27FC236}">
                <a16:creationId xmlns:a16="http://schemas.microsoft.com/office/drawing/2014/main" id="{B49C0413-A204-28F3-285C-903219CEDEAD}"/>
              </a:ext>
            </a:extLst>
          </p:cNvPr>
          <p:cNvSpPr txBox="1"/>
          <p:nvPr/>
        </p:nvSpPr>
        <p:spPr>
          <a:xfrm>
            <a:off x="6423660" y="4901089"/>
            <a:ext cx="65" cy="307777"/>
          </a:xfrm>
          <a:prstGeom prst="rect">
            <a:avLst/>
          </a:prstGeom>
          <a:noFill/>
        </p:spPr>
        <p:txBody>
          <a:bodyPr vert="horz" wrap="none" lIns="0" tIns="0" rIns="0" bIns="0" rtlCol="0" anchor="t">
            <a:noAutofit/>
          </a:bodyPr>
          <a:lstStyle/>
          <a:p>
            <a:r>
              <a:rPr lang="en-US" sz="1440" spc="4">
                <a:solidFill>
                  <a:srgbClr val="00599F"/>
                </a:solidFill>
                <a:latin typeface="Consolas" panose="020B0609020204030204" pitchFamily="49" charset="0"/>
              </a:rPr>
              <a:t>Deploy Order Processing</a:t>
            </a:r>
            <a:endParaRPr lang="en-US" sz="1440" spc="4" dirty="0" err="1">
              <a:solidFill>
                <a:srgbClr val="00599F"/>
              </a:solidFill>
              <a:latin typeface="Consolas" panose="020B0609020204030204" pitchFamily="49" charset="0"/>
            </a:endParaRPr>
          </a:p>
        </p:txBody>
      </p:sp>
      <p:sp>
        <p:nvSpPr>
          <p:cNvPr id="57" name="Text 026 SMALL">
            <a:extLst>
              <a:ext uri="{FF2B5EF4-FFF2-40B4-BE49-F238E27FC236}">
                <a16:creationId xmlns:a16="http://schemas.microsoft.com/office/drawing/2014/main" id="{FD5C6AC3-F6E1-9E16-E33D-EF331FB1620F}"/>
              </a:ext>
            </a:extLst>
          </p:cNvPr>
          <p:cNvSpPr txBox="1"/>
          <p:nvPr/>
        </p:nvSpPr>
        <p:spPr>
          <a:xfrm>
            <a:off x="6423660" y="5183029"/>
            <a:ext cx="65" cy="307777"/>
          </a:xfrm>
          <a:prstGeom prst="rect">
            <a:avLst/>
          </a:prstGeom>
          <a:noFill/>
        </p:spPr>
        <p:txBody>
          <a:bodyPr vert="horz" wrap="none" lIns="0" tIns="0" rIns="0" bIns="0" rtlCol="0" anchor="t">
            <a:noAutofit/>
          </a:bodyPr>
          <a:lstStyle/>
          <a:p>
            <a:r>
              <a:rPr lang="en-US" sz="1020">
                <a:solidFill>
                  <a:srgbClr val="425466"/>
                </a:solidFill>
                <a:latin typeface="Segoe UI" panose="020B0502040204020203" pitchFamily="34" charset="0"/>
              </a:rPr>
              <a:t>deploy-order-processing</a:t>
            </a:r>
            <a:endParaRPr lang="en-US" sz="1020" dirty="0" err="1">
              <a:solidFill>
                <a:srgbClr val="425466"/>
              </a:solidFill>
              <a:latin typeface="Segoe UI" panose="020B0502040204020203" pitchFamily="34" charset="0"/>
            </a:endParaRPr>
          </a:p>
        </p:txBody>
      </p:sp>
      <p:sp>
        <p:nvSpPr>
          <p:cNvPr id="58" name="Text 027 DIV">
            <a:extLst>
              <a:ext uri="{FF2B5EF4-FFF2-40B4-BE49-F238E27FC236}">
                <a16:creationId xmlns:a16="http://schemas.microsoft.com/office/drawing/2014/main" id="{383810F1-725B-DF31-4AD6-64CC46473F9F}"/>
              </a:ext>
            </a:extLst>
          </p:cNvPr>
          <p:cNvSpPr txBox="1"/>
          <p:nvPr/>
        </p:nvSpPr>
        <p:spPr>
          <a:xfrm>
            <a:off x="2646640" y="584073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Automated assistance, </a:t>
            </a:r>
            <a:endParaRPr lang="en-US" sz="1560" dirty="0" err="1">
              <a:solidFill>
                <a:srgbClr val="1A1A1A"/>
              </a:solidFill>
              <a:latin typeface="Segoe UI" panose="020B0502040204020203" pitchFamily="34" charset="0"/>
            </a:endParaRPr>
          </a:p>
        </p:txBody>
      </p:sp>
      <p:sp>
        <p:nvSpPr>
          <p:cNvPr id="59" name="Text 028 STRONG">
            <a:extLst>
              <a:ext uri="{FF2B5EF4-FFF2-40B4-BE49-F238E27FC236}">
                <a16:creationId xmlns:a16="http://schemas.microsoft.com/office/drawing/2014/main" id="{F588E033-7866-EB12-C348-1B5AFDDD84B9}"/>
              </a:ext>
            </a:extLst>
          </p:cNvPr>
          <p:cNvSpPr txBox="1"/>
          <p:nvPr/>
        </p:nvSpPr>
        <p:spPr>
          <a:xfrm>
            <a:off x="4656296" y="5840730"/>
            <a:ext cx="65" cy="307777"/>
          </a:xfrm>
          <a:prstGeom prst="rect">
            <a:avLst/>
          </a:prstGeom>
          <a:noFill/>
        </p:spPr>
        <p:txBody>
          <a:bodyPr vert="horz" wrap="none" lIns="0" tIns="0" rIns="0" bIns="0" rtlCol="0" anchor="t">
            <a:noAutofit/>
          </a:bodyPr>
          <a:lstStyle/>
          <a:p>
            <a:r>
              <a:rPr lang="en-US" sz="1560">
                <a:solidFill>
                  <a:srgbClr val="00599F"/>
                </a:solidFill>
                <a:latin typeface="Segoe UI Semibold" panose="020B0702040204020203" pitchFamily="34" charset="0"/>
              </a:rPr>
              <a:t>not a bypass of permissions or administrator approval.</a:t>
            </a:r>
            <a:endParaRPr lang="en-US" sz="1560" dirty="0" err="1">
              <a:solidFill>
                <a:srgbClr val="00599F"/>
              </a:solidFill>
              <a:latin typeface="Segoe UI Semibold" panose="020B0702040204020203" pitchFamily="34" charset="0"/>
            </a:endParaRPr>
          </a:p>
        </p:txBody>
      </p:sp>
      <p:sp>
        <p:nvSpPr>
          <p:cNvPr id="60" name="Text 029 FOOTER">
            <a:extLst>
              <a:ext uri="{FF2B5EF4-FFF2-40B4-BE49-F238E27FC236}">
                <a16:creationId xmlns:a16="http://schemas.microsoft.com/office/drawing/2014/main" id="{30B97B5D-4FB4-101D-C8F0-20A52D820C81}"/>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FFFFFF"/>
                </a:solidFill>
                <a:latin typeface="Segoe UI" panose="020B0502040204020203" pitchFamily="34" charset="0"/>
              </a:rPr>
              <a:t>Agentic Business Process Automation on Copilot Studio</a:t>
            </a:r>
            <a:endParaRPr lang="en-US" sz="840" dirty="0" err="1">
              <a:solidFill>
                <a:srgbClr val="FFFFFF"/>
              </a:solidFill>
              <a:latin typeface="Segoe UI" panose="020B0502040204020203" pitchFamily="34" charset="0"/>
            </a:endParaRPr>
          </a:p>
        </p:txBody>
      </p:sp>
      <p:sp>
        <p:nvSpPr>
          <p:cNvPr id="61" name="Text 030 FOOTER">
            <a:extLst>
              <a:ext uri="{FF2B5EF4-FFF2-40B4-BE49-F238E27FC236}">
                <a16:creationId xmlns:a16="http://schemas.microsoft.com/office/drawing/2014/main" id="{E29DB8B0-595A-7C3F-1853-7E4242B5D62E}"/>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FFFFFF"/>
                </a:solidFill>
                <a:latin typeface="Segoe UI" panose="020B0502040204020203" pitchFamily="34" charset="0"/>
              </a:rPr>
              <a:t>20 / 23</a:t>
            </a:r>
            <a:endParaRPr lang="en-US" sz="840" dirty="0" err="1">
              <a:solidFill>
                <a:srgbClr val="FFFFFF"/>
              </a:solidFill>
              <a:latin typeface="Segoe UI" panose="020B0502040204020203" pitchFamily="34" charset="0"/>
            </a:endParaRPr>
          </a:p>
        </p:txBody>
      </p:sp>
    </p:spTree>
    <p:extLst>
      <p:ext uri="{BB962C8B-B14F-4D97-AF65-F5344CB8AC3E}">
        <p14:creationId xmlns:p14="http://schemas.microsoft.com/office/powerpoint/2010/main" val="3922518731"/>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Process-21">
    <p:spTree>
      <p:nvGrpSpPr>
        <p:cNvPr id="1" name="">
          <a:extLst>
            <a:ext uri="{FF2B5EF4-FFF2-40B4-BE49-F238E27FC236}">
              <a16:creationId xmlns:a16="http://schemas.microsoft.com/office/drawing/2014/main" id="{2D02365C-1AB6-EC0E-17F0-442E809985E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BFF56DA-BA1F-0498-92F9-B77DF5381B7D}"/>
              </a:ext>
              <a:ext uri="{C183D7F6-B498-43B3-948B-1728B52AA6E4}">
                <adec:decorative xmlns:adec="http://schemas.microsoft.com/office/drawing/2017/decorative" val="1"/>
              </a:ext>
            </a:extLst>
          </p:cNvPr>
          <p:cNvPicPr>
            <a:picLocks noChangeAspect="1"/>
          </p:cNvPicPr>
          <p:nvPr/>
        </p:nvPicPr>
        <p:blipFill>
          <a:blip r:embed="rId3"/>
          <a:srcRect t="314" r="16450" b="32525"/>
          <a:stretch>
            <a:fillRect/>
          </a:stretch>
        </p:blipFill>
        <p:spPr>
          <a:xfrm>
            <a:off x="0" y="4491094"/>
            <a:ext cx="12192000" cy="2373503"/>
          </a:xfrm>
          <a:prstGeom prst="rect">
            <a:avLst/>
          </a:prstGeom>
        </p:spPr>
      </p:pic>
      <p:pic>
        <p:nvPicPr>
          <p:cNvPr id="6" name="Approved visual layer" descr="Decorative card shapes and connectors from the approved HTML layout. Main text is editable in separate text boxes.">
            <a:extLst>
              <a:ext uri="{FF2B5EF4-FFF2-40B4-BE49-F238E27FC236}">
                <a16:creationId xmlns:a16="http://schemas.microsoft.com/office/drawing/2014/main" id="{62A15C4E-56E6-A93C-1B9B-34838E232D0A}"/>
              </a:ext>
            </a:extLst>
          </p:cNvPr>
          <p:cNvPicPr>
            <a:picLocks/>
          </p:cNvPicPr>
          <p:nvPr/>
        </p:nvPicPr>
        <p:blipFill>
          <a:blip r:embed="rId4"/>
          <a:stretch>
            <a:fillRect/>
          </a:stretch>
        </p:blipFill>
        <p:spPr>
          <a:xfrm>
            <a:off x="0" y="0"/>
            <a:ext cx="12192000" cy="6858000"/>
          </a:xfrm>
          <a:prstGeom prst="rect">
            <a:avLst/>
          </a:prstGeom>
        </p:spPr>
      </p:pic>
      <p:sp>
        <p:nvSpPr>
          <p:cNvPr id="7" name="Text 001 SPAN">
            <a:extLst>
              <a:ext uri="{FF2B5EF4-FFF2-40B4-BE49-F238E27FC236}">
                <a16:creationId xmlns:a16="http://schemas.microsoft.com/office/drawing/2014/main" id="{F22F4F20-7A28-7CD9-F2E8-45B4EC329F9E}"/>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05 / GETTING STARTED</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5D74DAD8-FD22-9F4D-C6B3-56CC09D9AD3F}"/>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70">
                <a:solidFill>
                  <a:srgbClr val="1A1A1A"/>
                </a:solidFill>
                <a:latin typeface="Segoe UI Semibold" panose="020B0702040204020203" pitchFamily="34" charset="0"/>
              </a:rPr>
              <a:t>What you need to run - and move beyond - the demo</a:t>
            </a:r>
            <a:endParaRPr lang="en-US" sz="2880" spc="-70" dirty="0" err="1">
              <a:solidFill>
                <a:srgbClr val="1A1A1A"/>
              </a:solidFill>
              <a:latin typeface="Segoe UI Semibold" panose="020B0702040204020203" pitchFamily="34" charset="0"/>
            </a:endParaRPr>
          </a:p>
        </p:txBody>
      </p:sp>
      <p:sp>
        <p:nvSpPr>
          <p:cNvPr id="11" name="Text 003 P">
            <a:extLst>
              <a:ext uri="{FF2B5EF4-FFF2-40B4-BE49-F238E27FC236}">
                <a16:creationId xmlns:a16="http://schemas.microsoft.com/office/drawing/2014/main" id="{5E41CFDD-D01D-8845-37A8-C82F460429A2}"/>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a:solidFill>
                  <a:srgbClr val="343B48"/>
                </a:solidFill>
                <a:latin typeface="Segoe UI" panose="020B0502040204020203" pitchFamily="34" charset="0"/>
              </a:rPr>
              <a:t>Plan user access, consumption and the path to a customer-specific pilot.</a:t>
            </a:r>
            <a:endParaRPr lang="en-US" sz="1500" dirty="0" err="1">
              <a:solidFill>
                <a:srgbClr val="343B48"/>
              </a:solidFill>
              <a:latin typeface="Segoe UI" panose="020B0502040204020203" pitchFamily="34" charset="0"/>
            </a:endParaRPr>
          </a:p>
        </p:txBody>
      </p:sp>
      <p:sp>
        <p:nvSpPr>
          <p:cNvPr id="12" name="Text 004 H2">
            <a:extLst>
              <a:ext uri="{FF2B5EF4-FFF2-40B4-BE49-F238E27FC236}">
                <a16:creationId xmlns:a16="http://schemas.microsoft.com/office/drawing/2014/main" id="{1A4FE933-4F23-B26C-BA64-B646B4651753}"/>
              </a:ext>
            </a:extLst>
          </p:cNvPr>
          <p:cNvSpPr txBox="1"/>
          <p:nvPr/>
        </p:nvSpPr>
        <p:spPr>
          <a:xfrm>
            <a:off x="800100" y="1889760"/>
            <a:ext cx="65" cy="307777"/>
          </a:xfrm>
          <a:prstGeom prst="rect">
            <a:avLst/>
          </a:prstGeom>
          <a:noFill/>
        </p:spPr>
        <p:txBody>
          <a:bodyPr vert="horz" wrap="none" lIns="0" tIns="0" rIns="0" bIns="0" rtlCol="0" anchor="t">
            <a:noAutofit/>
          </a:bodyPr>
          <a:lstStyle/>
          <a:p>
            <a:r>
              <a:rPr lang="en-US" sz="1800" spc="-33">
                <a:solidFill>
                  <a:srgbClr val="00599F"/>
                </a:solidFill>
                <a:latin typeface="Segoe UI Semibold" panose="020B0702040204020203" pitchFamily="34" charset="0"/>
              </a:rPr>
              <a:t>Runtime licensing checklist</a:t>
            </a:r>
            <a:endParaRPr lang="en-US" sz="1800" spc="-33" dirty="0" err="1">
              <a:solidFill>
                <a:srgbClr val="00599F"/>
              </a:solidFill>
              <a:latin typeface="Segoe UI Semibold" panose="020B0702040204020203" pitchFamily="34" charset="0"/>
            </a:endParaRPr>
          </a:p>
        </p:txBody>
      </p:sp>
      <p:sp>
        <p:nvSpPr>
          <p:cNvPr id="13" name="Text 005 TH">
            <a:extLst>
              <a:ext uri="{FF2B5EF4-FFF2-40B4-BE49-F238E27FC236}">
                <a16:creationId xmlns:a16="http://schemas.microsoft.com/office/drawing/2014/main" id="{9898290E-2050-A67B-09CF-2A7782270373}"/>
              </a:ext>
            </a:extLst>
          </p:cNvPr>
          <p:cNvSpPr txBox="1"/>
          <p:nvPr/>
        </p:nvSpPr>
        <p:spPr>
          <a:xfrm>
            <a:off x="891540" y="2372797"/>
            <a:ext cx="65" cy="307777"/>
          </a:xfrm>
          <a:prstGeom prst="rect">
            <a:avLst/>
          </a:prstGeom>
          <a:noFill/>
        </p:spPr>
        <p:txBody>
          <a:bodyPr vert="horz" wrap="none" lIns="0" tIns="0" rIns="0" bIns="0" rtlCol="0" anchor="t">
            <a:noAutofit/>
          </a:bodyPr>
          <a:lstStyle/>
          <a:p>
            <a:r>
              <a:rPr lang="en-US" sz="1020" spc="85">
                <a:solidFill>
                  <a:srgbClr val="343B48"/>
                </a:solidFill>
                <a:latin typeface="Segoe UI Semibold" panose="020B0702040204020203" pitchFamily="34" charset="0"/>
              </a:rPr>
              <a:t>REQUIREMENT</a:t>
            </a:r>
            <a:endParaRPr lang="en-US" sz="1020" spc="85" dirty="0" err="1">
              <a:solidFill>
                <a:srgbClr val="343B48"/>
              </a:solidFill>
              <a:latin typeface="Segoe UI Semibold" panose="020B0702040204020203" pitchFamily="34" charset="0"/>
            </a:endParaRPr>
          </a:p>
        </p:txBody>
      </p:sp>
      <p:sp>
        <p:nvSpPr>
          <p:cNvPr id="15" name="Text 006 TH">
            <a:extLst>
              <a:ext uri="{FF2B5EF4-FFF2-40B4-BE49-F238E27FC236}">
                <a16:creationId xmlns:a16="http://schemas.microsoft.com/office/drawing/2014/main" id="{93C7A64D-2152-F6F2-A46E-FED13EF2FB63}"/>
              </a:ext>
            </a:extLst>
          </p:cNvPr>
          <p:cNvSpPr txBox="1"/>
          <p:nvPr/>
        </p:nvSpPr>
        <p:spPr>
          <a:xfrm>
            <a:off x="3409593" y="2372797"/>
            <a:ext cx="65" cy="307777"/>
          </a:xfrm>
          <a:prstGeom prst="rect">
            <a:avLst/>
          </a:prstGeom>
          <a:noFill/>
        </p:spPr>
        <p:txBody>
          <a:bodyPr vert="horz" wrap="none" lIns="0" tIns="0" rIns="0" bIns="0" rtlCol="0" anchor="t">
            <a:noAutofit/>
          </a:bodyPr>
          <a:lstStyle/>
          <a:p>
            <a:r>
              <a:rPr lang="en-US" sz="1020" spc="79">
                <a:solidFill>
                  <a:srgbClr val="343B48"/>
                </a:solidFill>
                <a:latin typeface="Segoe UI Semibold" panose="020B0702040204020203" pitchFamily="34" charset="0"/>
              </a:rPr>
              <a:t>APPLIES TO</a:t>
            </a:r>
            <a:endParaRPr lang="en-US" sz="1020" spc="79" dirty="0" err="1">
              <a:solidFill>
                <a:srgbClr val="343B48"/>
              </a:solidFill>
              <a:latin typeface="Segoe UI Semibold" panose="020B0702040204020203" pitchFamily="34" charset="0"/>
            </a:endParaRPr>
          </a:p>
        </p:txBody>
      </p:sp>
      <p:sp>
        <p:nvSpPr>
          <p:cNvPr id="16" name="Text 007 TD">
            <a:extLst>
              <a:ext uri="{FF2B5EF4-FFF2-40B4-BE49-F238E27FC236}">
                <a16:creationId xmlns:a16="http://schemas.microsoft.com/office/drawing/2014/main" id="{D89834D5-B01B-A1D9-CD21-130C2E039BBF}"/>
              </a:ext>
            </a:extLst>
          </p:cNvPr>
          <p:cNvSpPr txBox="1"/>
          <p:nvPr/>
        </p:nvSpPr>
        <p:spPr>
          <a:xfrm>
            <a:off x="891540" y="2677597"/>
            <a:ext cx="65" cy="307777"/>
          </a:xfrm>
          <a:prstGeom prst="rect">
            <a:avLst/>
          </a:prstGeom>
          <a:noFill/>
        </p:spPr>
        <p:txBody>
          <a:bodyPr vert="horz" wrap="none" lIns="0" tIns="0" rIns="0" bIns="0" rtlCol="0" anchor="t">
            <a:noAutofit/>
          </a:bodyPr>
          <a:lstStyle/>
          <a:p>
            <a:r>
              <a:rPr lang="en-US" sz="1260">
                <a:solidFill>
                  <a:srgbClr val="1A1A1A"/>
                </a:solidFill>
                <a:latin typeface="Segoe UI Semibold" panose="020B0702040204020203" pitchFamily="34" charset="0"/>
              </a:rPr>
              <a:t>Power Apps Premium</a:t>
            </a:r>
            <a:endParaRPr lang="en-US" sz="1260" dirty="0" err="1">
              <a:solidFill>
                <a:srgbClr val="1A1A1A"/>
              </a:solidFill>
              <a:latin typeface="Segoe UI Semibold" panose="020B0702040204020203" pitchFamily="34" charset="0"/>
            </a:endParaRPr>
          </a:p>
        </p:txBody>
      </p:sp>
      <p:sp>
        <p:nvSpPr>
          <p:cNvPr id="17" name="Text 008 TD">
            <a:extLst>
              <a:ext uri="{FF2B5EF4-FFF2-40B4-BE49-F238E27FC236}">
                <a16:creationId xmlns:a16="http://schemas.microsoft.com/office/drawing/2014/main" id="{F5DDED2C-B201-B832-0ED5-8AABA3552115}"/>
              </a:ext>
            </a:extLst>
          </p:cNvPr>
          <p:cNvSpPr txBox="1"/>
          <p:nvPr/>
        </p:nvSpPr>
        <p:spPr>
          <a:xfrm>
            <a:off x="3409593" y="2677597"/>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Console users, reviewers and approvers</a:t>
            </a:r>
            <a:endParaRPr lang="en-US" sz="1260" dirty="0" err="1">
              <a:solidFill>
                <a:srgbClr val="1A1A1A"/>
              </a:solidFill>
              <a:latin typeface="Segoe UI" panose="020B0502040204020203" pitchFamily="34" charset="0"/>
            </a:endParaRPr>
          </a:p>
        </p:txBody>
      </p:sp>
      <p:sp>
        <p:nvSpPr>
          <p:cNvPr id="18" name="Text 009 TD">
            <a:extLst>
              <a:ext uri="{FF2B5EF4-FFF2-40B4-BE49-F238E27FC236}">
                <a16:creationId xmlns:a16="http://schemas.microsoft.com/office/drawing/2014/main" id="{DEB47E78-39E8-F09E-81AD-A9D12A524A83}"/>
              </a:ext>
            </a:extLst>
          </p:cNvPr>
          <p:cNvSpPr txBox="1"/>
          <p:nvPr/>
        </p:nvSpPr>
        <p:spPr>
          <a:xfrm>
            <a:off x="891540" y="3034427"/>
            <a:ext cx="65" cy="307777"/>
          </a:xfrm>
          <a:prstGeom prst="rect">
            <a:avLst/>
          </a:prstGeom>
          <a:noFill/>
        </p:spPr>
        <p:txBody>
          <a:bodyPr vert="horz" wrap="none" lIns="0" tIns="0" rIns="0" bIns="0" rtlCol="0" anchor="t">
            <a:noAutofit/>
          </a:bodyPr>
          <a:lstStyle/>
          <a:p>
            <a:r>
              <a:rPr lang="en-US" sz="1260">
                <a:solidFill>
                  <a:srgbClr val="1A1A1A"/>
                </a:solidFill>
                <a:latin typeface="Segoe UI Semibold" panose="020B0702040204020203" pitchFamily="34" charset="0"/>
              </a:rPr>
              <a:t>Copilot Studio user license</a:t>
            </a:r>
            <a:endParaRPr lang="en-US" sz="1260" dirty="0" err="1">
              <a:solidFill>
                <a:srgbClr val="1A1A1A"/>
              </a:solidFill>
              <a:latin typeface="Segoe UI Semibold" panose="020B0702040204020203" pitchFamily="34" charset="0"/>
            </a:endParaRPr>
          </a:p>
        </p:txBody>
      </p:sp>
      <p:sp>
        <p:nvSpPr>
          <p:cNvPr id="20" name="Text 010 TD">
            <a:extLst>
              <a:ext uri="{FF2B5EF4-FFF2-40B4-BE49-F238E27FC236}">
                <a16:creationId xmlns:a16="http://schemas.microsoft.com/office/drawing/2014/main" id="{3995EA0F-C6C8-6808-F7BE-D8F05ED04F48}"/>
              </a:ext>
            </a:extLst>
          </p:cNvPr>
          <p:cNvSpPr txBox="1"/>
          <p:nvPr/>
        </p:nvSpPr>
        <p:spPr>
          <a:xfrm>
            <a:off x="3409593" y="3034427"/>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Makers + automation account</a:t>
            </a:r>
            <a:endParaRPr lang="en-US" sz="1260" dirty="0" err="1">
              <a:solidFill>
                <a:srgbClr val="1A1A1A"/>
              </a:solidFill>
              <a:latin typeface="Segoe UI" panose="020B0502040204020203" pitchFamily="34" charset="0"/>
            </a:endParaRPr>
          </a:p>
        </p:txBody>
      </p:sp>
      <p:sp>
        <p:nvSpPr>
          <p:cNvPr id="21" name="Text 011 TD">
            <a:extLst>
              <a:ext uri="{FF2B5EF4-FFF2-40B4-BE49-F238E27FC236}">
                <a16:creationId xmlns:a16="http://schemas.microsoft.com/office/drawing/2014/main" id="{C56EAAB5-3D5B-9B83-16B4-CF3983B801A1}"/>
              </a:ext>
            </a:extLst>
          </p:cNvPr>
          <p:cNvSpPr txBox="1"/>
          <p:nvPr/>
        </p:nvSpPr>
        <p:spPr>
          <a:xfrm>
            <a:off x="891540" y="3391257"/>
            <a:ext cx="65" cy="307777"/>
          </a:xfrm>
          <a:prstGeom prst="rect">
            <a:avLst/>
          </a:prstGeom>
          <a:noFill/>
        </p:spPr>
        <p:txBody>
          <a:bodyPr vert="horz" wrap="none" lIns="0" tIns="0" rIns="0" bIns="0" rtlCol="0" anchor="t">
            <a:noAutofit/>
          </a:bodyPr>
          <a:lstStyle/>
          <a:p>
            <a:r>
              <a:rPr lang="en-US" sz="1260">
                <a:solidFill>
                  <a:srgbClr val="1A1A1A"/>
                </a:solidFill>
                <a:latin typeface="Segoe UI Semibold" panose="020B0702040204020203" pitchFamily="34" charset="0"/>
              </a:rPr>
              <a:t>Microsoft Teams</a:t>
            </a:r>
            <a:endParaRPr lang="en-US" sz="1260" dirty="0" err="1">
              <a:solidFill>
                <a:srgbClr val="1A1A1A"/>
              </a:solidFill>
              <a:latin typeface="Segoe UI Semibold" panose="020B0702040204020203" pitchFamily="34" charset="0"/>
            </a:endParaRPr>
          </a:p>
        </p:txBody>
      </p:sp>
      <p:sp>
        <p:nvSpPr>
          <p:cNvPr id="22" name="Text 012 TD">
            <a:extLst>
              <a:ext uri="{FF2B5EF4-FFF2-40B4-BE49-F238E27FC236}">
                <a16:creationId xmlns:a16="http://schemas.microsoft.com/office/drawing/2014/main" id="{CC63E2DA-2020-4C6F-E8B8-8D9CCF148AF2}"/>
              </a:ext>
            </a:extLst>
          </p:cNvPr>
          <p:cNvSpPr txBox="1"/>
          <p:nvPr/>
        </p:nvSpPr>
        <p:spPr>
          <a:xfrm>
            <a:off x="3409593" y="3391257"/>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Users + automation account</a:t>
            </a:r>
            <a:endParaRPr lang="en-US" sz="1260" dirty="0" err="1">
              <a:solidFill>
                <a:srgbClr val="1A1A1A"/>
              </a:solidFill>
              <a:latin typeface="Segoe UI" panose="020B0502040204020203" pitchFamily="34" charset="0"/>
            </a:endParaRPr>
          </a:p>
        </p:txBody>
      </p:sp>
      <p:sp>
        <p:nvSpPr>
          <p:cNvPr id="23" name="Text 013 TD">
            <a:extLst>
              <a:ext uri="{FF2B5EF4-FFF2-40B4-BE49-F238E27FC236}">
                <a16:creationId xmlns:a16="http://schemas.microsoft.com/office/drawing/2014/main" id="{097AE7C4-752C-D942-8CA0-BEBC26CD3FA4}"/>
              </a:ext>
            </a:extLst>
          </p:cNvPr>
          <p:cNvSpPr txBox="1"/>
          <p:nvPr/>
        </p:nvSpPr>
        <p:spPr>
          <a:xfrm>
            <a:off x="891540" y="3748088"/>
            <a:ext cx="65" cy="307777"/>
          </a:xfrm>
          <a:prstGeom prst="rect">
            <a:avLst/>
          </a:prstGeom>
          <a:noFill/>
        </p:spPr>
        <p:txBody>
          <a:bodyPr vert="horz" wrap="none" lIns="0" tIns="0" rIns="0" bIns="0" rtlCol="0" anchor="t">
            <a:noAutofit/>
          </a:bodyPr>
          <a:lstStyle/>
          <a:p>
            <a:r>
              <a:rPr lang="en-US" sz="1260">
                <a:solidFill>
                  <a:srgbClr val="1A1A1A"/>
                </a:solidFill>
                <a:latin typeface="Segoe UI Semibold" panose="020B0702040204020203" pitchFamily="34" charset="0"/>
              </a:rPr>
              <a:t>Exchange Online</a:t>
            </a:r>
            <a:endParaRPr lang="en-US" sz="1260" dirty="0" err="1">
              <a:solidFill>
                <a:srgbClr val="1A1A1A"/>
              </a:solidFill>
              <a:latin typeface="Segoe UI Semibold" panose="020B0702040204020203" pitchFamily="34" charset="0"/>
            </a:endParaRPr>
          </a:p>
        </p:txBody>
      </p:sp>
      <p:sp>
        <p:nvSpPr>
          <p:cNvPr id="24" name="Text 014 TD">
            <a:extLst>
              <a:ext uri="{FF2B5EF4-FFF2-40B4-BE49-F238E27FC236}">
                <a16:creationId xmlns:a16="http://schemas.microsoft.com/office/drawing/2014/main" id="{9F63B504-001D-9F1D-1AC5-958D5761118C}"/>
              </a:ext>
            </a:extLst>
          </p:cNvPr>
          <p:cNvSpPr txBox="1"/>
          <p:nvPr/>
        </p:nvSpPr>
        <p:spPr>
          <a:xfrm>
            <a:off x="3409593" y="3748088"/>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Automation account for mailbox access</a:t>
            </a:r>
            <a:endParaRPr lang="en-US" sz="1260" dirty="0" err="1">
              <a:solidFill>
                <a:srgbClr val="1A1A1A"/>
              </a:solidFill>
              <a:latin typeface="Segoe UI" panose="020B0502040204020203" pitchFamily="34" charset="0"/>
            </a:endParaRPr>
          </a:p>
        </p:txBody>
      </p:sp>
      <p:sp>
        <p:nvSpPr>
          <p:cNvPr id="25" name="Text 015 TD">
            <a:extLst>
              <a:ext uri="{FF2B5EF4-FFF2-40B4-BE49-F238E27FC236}">
                <a16:creationId xmlns:a16="http://schemas.microsoft.com/office/drawing/2014/main" id="{BC6A9BC7-5B6A-0BD3-7DA3-6A0C450D7A45}"/>
              </a:ext>
            </a:extLst>
          </p:cNvPr>
          <p:cNvSpPr txBox="1"/>
          <p:nvPr/>
        </p:nvSpPr>
        <p:spPr>
          <a:xfrm>
            <a:off x="891540" y="4104918"/>
            <a:ext cx="65" cy="307777"/>
          </a:xfrm>
          <a:prstGeom prst="rect">
            <a:avLst/>
          </a:prstGeom>
          <a:noFill/>
        </p:spPr>
        <p:txBody>
          <a:bodyPr vert="horz" wrap="none" lIns="0" tIns="0" rIns="0" bIns="0" rtlCol="0" anchor="t">
            <a:noAutofit/>
          </a:bodyPr>
          <a:lstStyle/>
          <a:p>
            <a:r>
              <a:rPr lang="en-US" sz="1260">
                <a:solidFill>
                  <a:srgbClr val="1A1A1A"/>
                </a:solidFill>
                <a:latin typeface="Segoe UI Semibold" panose="020B0702040204020203" pitchFamily="34" charset="0"/>
              </a:rPr>
              <a:t>Copilot Credits</a:t>
            </a:r>
            <a:endParaRPr lang="en-US" sz="1260" dirty="0" err="1">
              <a:solidFill>
                <a:srgbClr val="1A1A1A"/>
              </a:solidFill>
              <a:latin typeface="Segoe UI Semibold" panose="020B0702040204020203" pitchFamily="34" charset="0"/>
            </a:endParaRPr>
          </a:p>
        </p:txBody>
      </p:sp>
      <p:sp>
        <p:nvSpPr>
          <p:cNvPr id="26" name="Text 016 TD">
            <a:extLst>
              <a:ext uri="{FF2B5EF4-FFF2-40B4-BE49-F238E27FC236}">
                <a16:creationId xmlns:a16="http://schemas.microsoft.com/office/drawing/2014/main" id="{F01694F7-F2F5-C0CD-58CD-00746AA89774}"/>
              </a:ext>
            </a:extLst>
          </p:cNvPr>
          <p:cNvSpPr txBox="1"/>
          <p:nvPr/>
        </p:nvSpPr>
        <p:spPr>
          <a:xfrm>
            <a:off x="3409593" y="4104918"/>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GitHub Copilot harness: build, test, run</a:t>
            </a:r>
            <a:endParaRPr lang="en-US" sz="1260" dirty="0" err="1">
              <a:solidFill>
                <a:srgbClr val="1A1A1A"/>
              </a:solidFill>
              <a:latin typeface="Segoe UI" panose="020B0502040204020203" pitchFamily="34" charset="0"/>
            </a:endParaRPr>
          </a:p>
        </p:txBody>
      </p:sp>
      <p:sp>
        <p:nvSpPr>
          <p:cNvPr id="27" name="Text 017 P">
            <a:extLst>
              <a:ext uri="{FF2B5EF4-FFF2-40B4-BE49-F238E27FC236}">
                <a16:creationId xmlns:a16="http://schemas.microsoft.com/office/drawing/2014/main" id="{DBCC95A9-90C0-BAB5-B503-3146E5417DD1}"/>
              </a:ext>
            </a:extLst>
          </p:cNvPr>
          <p:cNvSpPr txBox="1"/>
          <p:nvPr/>
        </p:nvSpPr>
        <p:spPr>
          <a:xfrm>
            <a:off x="800100" y="4530328"/>
            <a:ext cx="65" cy="307777"/>
          </a:xfrm>
          <a:prstGeom prst="rect">
            <a:avLst/>
          </a:prstGeom>
          <a:noFill/>
        </p:spPr>
        <p:txBody>
          <a:bodyPr vert="horz" wrap="none" lIns="0" tIns="0" rIns="0" bIns="0" rtlCol="0" anchor="t">
            <a:noAutofit/>
          </a:bodyPr>
          <a:lstStyle/>
          <a:p>
            <a:r>
              <a:rPr lang="en-US" sz="1200" spc="2">
                <a:solidFill>
                  <a:srgbClr val="343B48"/>
                </a:solidFill>
                <a:latin typeface="Segoe UI" panose="020B0502040204020203" pitchFamily="34" charset="0"/>
              </a:rPr>
              <a:t>Prepaid capacity or pay-as-you-go. M365 Copilot does not cover this harness consumption.</a:t>
            </a:r>
            <a:endParaRPr lang="en-US" sz="1200" spc="2" dirty="0" err="1">
              <a:solidFill>
                <a:srgbClr val="343B48"/>
              </a:solidFill>
              <a:latin typeface="Segoe UI" panose="020B0502040204020203" pitchFamily="34" charset="0"/>
            </a:endParaRPr>
          </a:p>
        </p:txBody>
      </p:sp>
      <p:sp>
        <p:nvSpPr>
          <p:cNvPr id="46" name="Text 018 P">
            <a:extLst>
              <a:ext uri="{FF2B5EF4-FFF2-40B4-BE49-F238E27FC236}">
                <a16:creationId xmlns:a16="http://schemas.microsoft.com/office/drawing/2014/main" id="{33C15041-0A0D-C8FD-603B-DDC224E7E6EE}"/>
              </a:ext>
            </a:extLst>
          </p:cNvPr>
          <p:cNvSpPr txBox="1"/>
          <p:nvPr/>
        </p:nvSpPr>
        <p:spPr>
          <a:xfrm>
            <a:off x="800100" y="4736068"/>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Verify tenant entitlements.</a:t>
            </a:r>
            <a:endParaRPr lang="en-US" sz="1200" dirty="0" err="1">
              <a:solidFill>
                <a:srgbClr val="343B48"/>
              </a:solidFill>
              <a:latin typeface="Segoe UI" panose="020B0502040204020203" pitchFamily="34" charset="0"/>
            </a:endParaRPr>
          </a:p>
        </p:txBody>
      </p:sp>
      <p:sp>
        <p:nvSpPr>
          <p:cNvPr id="50" name="Text 019 SPAN">
            <a:extLst>
              <a:ext uri="{FF2B5EF4-FFF2-40B4-BE49-F238E27FC236}">
                <a16:creationId xmlns:a16="http://schemas.microsoft.com/office/drawing/2014/main" id="{271EA624-839A-8B0F-D312-BBB6974A8037}"/>
              </a:ext>
            </a:extLst>
          </p:cNvPr>
          <p:cNvSpPr txBox="1"/>
          <p:nvPr/>
        </p:nvSpPr>
        <p:spPr>
          <a:xfrm>
            <a:off x="7895392" y="1973580"/>
            <a:ext cx="65" cy="307777"/>
          </a:xfrm>
          <a:prstGeom prst="rect">
            <a:avLst/>
          </a:prstGeom>
          <a:noFill/>
        </p:spPr>
        <p:txBody>
          <a:bodyPr vert="horz" wrap="none" lIns="0" tIns="0" rIns="0" bIns="0" rtlCol="0" anchor="t">
            <a:noAutofit/>
          </a:bodyPr>
          <a:lstStyle/>
          <a:p>
            <a:r>
              <a:rPr lang="en-US" sz="1020" spc="36">
                <a:solidFill>
                  <a:srgbClr val="00599F"/>
                </a:solidFill>
                <a:latin typeface="Segoe UI Semibold" panose="020B0702040204020203" pitchFamily="34" charset="0"/>
              </a:rPr>
              <a:t>FROM SAMPLE TO PILOT</a:t>
            </a:r>
            <a:endParaRPr lang="en-US" sz="1020" spc="36" dirty="0" err="1">
              <a:solidFill>
                <a:srgbClr val="00599F"/>
              </a:solidFill>
              <a:latin typeface="Segoe UI Semibold" panose="020B0702040204020203" pitchFamily="34" charset="0"/>
            </a:endParaRPr>
          </a:p>
        </p:txBody>
      </p:sp>
      <p:sp>
        <p:nvSpPr>
          <p:cNvPr id="51" name="Text 020 H2">
            <a:extLst>
              <a:ext uri="{FF2B5EF4-FFF2-40B4-BE49-F238E27FC236}">
                <a16:creationId xmlns:a16="http://schemas.microsoft.com/office/drawing/2014/main" id="{456B4489-80D4-C124-88A9-268421CE885B}"/>
              </a:ext>
            </a:extLst>
          </p:cNvPr>
          <p:cNvSpPr txBox="1"/>
          <p:nvPr/>
        </p:nvSpPr>
        <p:spPr>
          <a:xfrm>
            <a:off x="7750611" y="2377440"/>
            <a:ext cx="65" cy="307777"/>
          </a:xfrm>
          <a:prstGeom prst="rect">
            <a:avLst/>
          </a:prstGeom>
          <a:noFill/>
        </p:spPr>
        <p:txBody>
          <a:bodyPr vert="horz" wrap="none" lIns="0" tIns="0" rIns="0" bIns="0" rtlCol="0" anchor="t">
            <a:noAutofit/>
          </a:bodyPr>
          <a:lstStyle/>
          <a:p>
            <a:r>
              <a:rPr lang="en-US" sz="2280" spc="-30">
                <a:solidFill>
                  <a:srgbClr val="00599F"/>
                </a:solidFill>
                <a:latin typeface="Segoe UI Semibold" panose="020B0702040204020203" pitchFamily="34" charset="0"/>
              </a:rPr>
              <a:t>Make it yours</a:t>
            </a:r>
            <a:endParaRPr lang="en-US" sz="2280" spc="-30" dirty="0" err="1">
              <a:solidFill>
                <a:srgbClr val="00599F"/>
              </a:solidFill>
              <a:latin typeface="Segoe UI Semibold" panose="020B0702040204020203" pitchFamily="34" charset="0"/>
            </a:endParaRPr>
          </a:p>
        </p:txBody>
      </p:sp>
      <p:sp>
        <p:nvSpPr>
          <p:cNvPr id="52" name="Text 021 LI">
            <a:extLst>
              <a:ext uri="{FF2B5EF4-FFF2-40B4-BE49-F238E27FC236}">
                <a16:creationId xmlns:a16="http://schemas.microsoft.com/office/drawing/2014/main" id="{2A4BABFC-27F2-02D3-AE80-0DBAA1E1F5ED}"/>
              </a:ext>
            </a:extLst>
          </p:cNvPr>
          <p:cNvSpPr txBox="1"/>
          <p:nvPr/>
        </p:nvSpPr>
        <p:spPr>
          <a:xfrm>
            <a:off x="7994452" y="2953702"/>
            <a:ext cx="65" cy="307777"/>
          </a:xfrm>
          <a:prstGeom prst="rect">
            <a:avLst/>
          </a:prstGeom>
          <a:noFill/>
        </p:spPr>
        <p:txBody>
          <a:bodyPr vert="horz" wrap="none" lIns="0" tIns="0" rIns="0" bIns="0" rtlCol="0" anchor="t">
            <a:noAutofit/>
          </a:bodyPr>
          <a:lstStyle/>
          <a:p>
            <a:r>
              <a:rPr lang="en-US" sz="1440" spc="-2">
                <a:solidFill>
                  <a:srgbClr val="1A1A1A"/>
                </a:solidFill>
                <a:latin typeface="Segoe UI" panose="020B0502040204020203" pitchFamily="34" charset="0"/>
              </a:rPr>
              <a:t>Replace fictional catalog, inventory and</a:t>
            </a:r>
            <a:endParaRPr lang="en-US" sz="1440" spc="-2" dirty="0" err="1">
              <a:solidFill>
                <a:srgbClr val="1A1A1A"/>
              </a:solidFill>
              <a:latin typeface="Segoe UI" panose="020B0502040204020203" pitchFamily="34" charset="0"/>
            </a:endParaRPr>
          </a:p>
        </p:txBody>
      </p:sp>
      <p:sp>
        <p:nvSpPr>
          <p:cNvPr id="53" name="Text 022 LI">
            <a:extLst>
              <a:ext uri="{FF2B5EF4-FFF2-40B4-BE49-F238E27FC236}">
                <a16:creationId xmlns:a16="http://schemas.microsoft.com/office/drawing/2014/main" id="{D37FFAB6-6D39-2F1A-3B3B-1296B432E7DE}"/>
              </a:ext>
            </a:extLst>
          </p:cNvPr>
          <p:cNvSpPr txBox="1"/>
          <p:nvPr/>
        </p:nvSpPr>
        <p:spPr>
          <a:xfrm>
            <a:off x="7994452" y="3202305"/>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promotion data.</a:t>
            </a:r>
            <a:endParaRPr lang="en-US" sz="1440" dirty="0" err="1">
              <a:solidFill>
                <a:srgbClr val="1A1A1A"/>
              </a:solidFill>
              <a:latin typeface="Segoe UI" panose="020B0502040204020203" pitchFamily="34" charset="0"/>
            </a:endParaRPr>
          </a:p>
        </p:txBody>
      </p:sp>
      <p:sp>
        <p:nvSpPr>
          <p:cNvPr id="54" name="Text 023 LI">
            <a:extLst>
              <a:ext uri="{FF2B5EF4-FFF2-40B4-BE49-F238E27FC236}">
                <a16:creationId xmlns:a16="http://schemas.microsoft.com/office/drawing/2014/main" id="{777822D1-B2D0-9D16-252B-60CA49E8437F}"/>
              </a:ext>
            </a:extLst>
          </p:cNvPr>
          <p:cNvSpPr txBox="1"/>
          <p:nvPr/>
        </p:nvSpPr>
        <p:spPr>
          <a:xfrm>
            <a:off x="7994452" y="3618547"/>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Add and validate the ERP integration -</a:t>
            </a:r>
            <a:endParaRPr lang="en-US" sz="1440" dirty="0" err="1">
              <a:solidFill>
                <a:srgbClr val="1A1A1A"/>
              </a:solidFill>
              <a:latin typeface="Segoe UI" panose="020B0502040204020203" pitchFamily="34" charset="0"/>
            </a:endParaRPr>
          </a:p>
        </p:txBody>
      </p:sp>
      <p:sp>
        <p:nvSpPr>
          <p:cNvPr id="55" name="Text 024 LI">
            <a:extLst>
              <a:ext uri="{FF2B5EF4-FFF2-40B4-BE49-F238E27FC236}">
                <a16:creationId xmlns:a16="http://schemas.microsoft.com/office/drawing/2014/main" id="{65E0A98A-4E64-19D9-4FAE-EE7E0BA43D5A}"/>
              </a:ext>
            </a:extLst>
          </p:cNvPr>
          <p:cNvSpPr txBox="1"/>
          <p:nvPr/>
        </p:nvSpPr>
        <p:spPr>
          <a:xfrm>
            <a:off x="7994452" y="3867150"/>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payload generation is not posting.</a:t>
            </a:r>
            <a:endParaRPr lang="en-US" sz="1440" dirty="0" err="1">
              <a:solidFill>
                <a:srgbClr val="1A1A1A"/>
              </a:solidFill>
              <a:latin typeface="Segoe UI" panose="020B0502040204020203" pitchFamily="34" charset="0"/>
            </a:endParaRPr>
          </a:p>
        </p:txBody>
      </p:sp>
      <p:sp>
        <p:nvSpPr>
          <p:cNvPr id="56" name="Text 025 LI">
            <a:extLst>
              <a:ext uri="{FF2B5EF4-FFF2-40B4-BE49-F238E27FC236}">
                <a16:creationId xmlns:a16="http://schemas.microsoft.com/office/drawing/2014/main" id="{4EE63E52-698A-B459-37F0-A5D4E1B26DC0}"/>
              </a:ext>
            </a:extLst>
          </p:cNvPr>
          <p:cNvSpPr txBox="1"/>
          <p:nvPr/>
        </p:nvSpPr>
        <p:spPr>
          <a:xfrm>
            <a:off x="7994452" y="4283392"/>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Review access, evaluate agent behavior</a:t>
            </a:r>
            <a:endParaRPr lang="en-US" sz="1440" dirty="0" err="1">
              <a:solidFill>
                <a:srgbClr val="1A1A1A"/>
              </a:solidFill>
              <a:latin typeface="Segoe UI" panose="020B0502040204020203" pitchFamily="34" charset="0"/>
            </a:endParaRPr>
          </a:p>
        </p:txBody>
      </p:sp>
      <p:sp>
        <p:nvSpPr>
          <p:cNvPr id="57" name="Text 026 LI">
            <a:extLst>
              <a:ext uri="{FF2B5EF4-FFF2-40B4-BE49-F238E27FC236}">
                <a16:creationId xmlns:a16="http://schemas.microsoft.com/office/drawing/2014/main" id="{5362AC20-6611-5453-5895-028B0D57EC96}"/>
              </a:ext>
            </a:extLst>
          </p:cNvPr>
          <p:cNvSpPr txBox="1"/>
          <p:nvPr/>
        </p:nvSpPr>
        <p:spPr>
          <a:xfrm>
            <a:off x="7994452" y="4531995"/>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and measure customer outcomes.</a:t>
            </a:r>
            <a:endParaRPr lang="en-US" sz="1440" dirty="0" err="1">
              <a:solidFill>
                <a:srgbClr val="1A1A1A"/>
              </a:solidFill>
              <a:latin typeface="Segoe UI" panose="020B0502040204020203" pitchFamily="34" charset="0"/>
            </a:endParaRPr>
          </a:p>
        </p:txBody>
      </p:sp>
      <p:sp>
        <p:nvSpPr>
          <p:cNvPr id="58" name="Text 027 STRONG">
            <a:extLst>
              <a:ext uri="{FF2B5EF4-FFF2-40B4-BE49-F238E27FC236}">
                <a16:creationId xmlns:a16="http://schemas.microsoft.com/office/drawing/2014/main" id="{F9F8C99B-671F-77D9-694A-24AD926BB62D}"/>
              </a:ext>
            </a:extLst>
          </p:cNvPr>
          <p:cNvSpPr txBox="1"/>
          <p:nvPr/>
        </p:nvSpPr>
        <p:spPr>
          <a:xfrm>
            <a:off x="3174921" y="5840730"/>
            <a:ext cx="65" cy="307777"/>
          </a:xfrm>
          <a:prstGeom prst="rect">
            <a:avLst/>
          </a:prstGeom>
          <a:noFill/>
        </p:spPr>
        <p:txBody>
          <a:bodyPr vert="horz" wrap="none" lIns="0" tIns="0" rIns="0" bIns="0" rtlCol="0" anchor="t">
            <a:noAutofit/>
          </a:bodyPr>
          <a:lstStyle/>
          <a:p>
            <a:r>
              <a:rPr lang="en-US" sz="1560">
                <a:solidFill>
                  <a:srgbClr val="00599F"/>
                </a:solidFill>
                <a:latin typeface="Segoe UI Semibold" panose="020B0702040204020203" pitchFamily="34" charset="0"/>
              </a:rPr>
              <a:t>Deploy. Exercise the reference. Choose the next business process.</a:t>
            </a:r>
            <a:endParaRPr lang="en-US" sz="1560" dirty="0" err="1">
              <a:solidFill>
                <a:srgbClr val="00599F"/>
              </a:solidFill>
              <a:latin typeface="Segoe UI Semibold" panose="020B0702040204020203" pitchFamily="34" charset="0"/>
            </a:endParaRPr>
          </a:p>
        </p:txBody>
      </p:sp>
      <p:sp>
        <p:nvSpPr>
          <p:cNvPr id="59" name="Text 028 FOOTER">
            <a:extLst>
              <a:ext uri="{FF2B5EF4-FFF2-40B4-BE49-F238E27FC236}">
                <a16:creationId xmlns:a16="http://schemas.microsoft.com/office/drawing/2014/main" id="{8518B936-097E-AA87-4B90-AB8248FA4107}"/>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FFFFFF"/>
                </a:solidFill>
                <a:latin typeface="Segoe UI" panose="020B0502040204020203" pitchFamily="34" charset="0"/>
              </a:rPr>
              <a:t>Agentic Business Process Automation on Copilot Studio</a:t>
            </a:r>
            <a:endParaRPr lang="en-US" sz="840" dirty="0" err="1">
              <a:solidFill>
                <a:srgbClr val="FFFFFF"/>
              </a:solidFill>
              <a:latin typeface="Segoe UI" panose="020B0502040204020203" pitchFamily="34" charset="0"/>
            </a:endParaRPr>
          </a:p>
        </p:txBody>
      </p:sp>
      <p:sp>
        <p:nvSpPr>
          <p:cNvPr id="60" name="Text 029 FOOTER">
            <a:extLst>
              <a:ext uri="{FF2B5EF4-FFF2-40B4-BE49-F238E27FC236}">
                <a16:creationId xmlns:a16="http://schemas.microsoft.com/office/drawing/2014/main" id="{E5C6DE39-C66F-6638-B552-34FCFC973CCE}"/>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FFFFFF"/>
                </a:solidFill>
                <a:latin typeface="Segoe UI" panose="020B0502040204020203" pitchFamily="34" charset="0"/>
              </a:rPr>
              <a:t>21 / 23</a:t>
            </a:r>
            <a:endParaRPr lang="en-US" sz="840" dirty="0" err="1">
              <a:solidFill>
                <a:srgbClr val="FFFFFF"/>
              </a:solidFill>
              <a:latin typeface="Segoe UI" panose="020B0502040204020203" pitchFamily="34" charset="0"/>
            </a:endParaRPr>
          </a:p>
        </p:txBody>
      </p:sp>
      <p:sp>
        <p:nvSpPr>
          <p:cNvPr id="61" name="Text 030 LIST_NUMBER">
            <a:extLst>
              <a:ext uri="{FF2B5EF4-FFF2-40B4-BE49-F238E27FC236}">
                <a16:creationId xmlns:a16="http://schemas.microsoft.com/office/drawing/2014/main" id="{03414ED7-7C7F-313D-0857-B9316B1E1F7F}"/>
              </a:ext>
            </a:extLst>
          </p:cNvPr>
          <p:cNvSpPr txBox="1"/>
          <p:nvPr/>
        </p:nvSpPr>
        <p:spPr>
          <a:xfrm>
            <a:off x="7749540" y="2953702"/>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1.</a:t>
            </a:r>
            <a:endParaRPr lang="en-US" sz="1440" dirty="0" err="1">
              <a:solidFill>
                <a:srgbClr val="1A1A1A"/>
              </a:solidFill>
              <a:latin typeface="Segoe UI" panose="020B0502040204020203" pitchFamily="34" charset="0"/>
            </a:endParaRPr>
          </a:p>
        </p:txBody>
      </p:sp>
      <p:sp>
        <p:nvSpPr>
          <p:cNvPr id="62" name="Text 031 LIST_NUMBER">
            <a:extLst>
              <a:ext uri="{FF2B5EF4-FFF2-40B4-BE49-F238E27FC236}">
                <a16:creationId xmlns:a16="http://schemas.microsoft.com/office/drawing/2014/main" id="{83FF187A-787C-6ADE-BBB8-3C65BBE98C39}"/>
              </a:ext>
            </a:extLst>
          </p:cNvPr>
          <p:cNvSpPr txBox="1"/>
          <p:nvPr/>
        </p:nvSpPr>
        <p:spPr>
          <a:xfrm>
            <a:off x="7749540" y="3618547"/>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2.</a:t>
            </a:r>
            <a:endParaRPr lang="en-US" sz="1440" dirty="0" err="1">
              <a:solidFill>
                <a:srgbClr val="1A1A1A"/>
              </a:solidFill>
              <a:latin typeface="Segoe UI" panose="020B0502040204020203" pitchFamily="34" charset="0"/>
            </a:endParaRPr>
          </a:p>
        </p:txBody>
      </p:sp>
      <p:sp>
        <p:nvSpPr>
          <p:cNvPr id="63" name="Text 032 LIST_NUMBER">
            <a:extLst>
              <a:ext uri="{FF2B5EF4-FFF2-40B4-BE49-F238E27FC236}">
                <a16:creationId xmlns:a16="http://schemas.microsoft.com/office/drawing/2014/main" id="{670D8C70-0033-BD4F-5EA0-D690FF8DA3D1}"/>
              </a:ext>
            </a:extLst>
          </p:cNvPr>
          <p:cNvSpPr txBox="1"/>
          <p:nvPr/>
        </p:nvSpPr>
        <p:spPr>
          <a:xfrm>
            <a:off x="7749540" y="4283392"/>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3.</a:t>
            </a:r>
            <a:endParaRPr lang="en-US" sz="1440" dirty="0" err="1">
              <a:solidFill>
                <a:srgbClr val="1A1A1A"/>
              </a:solidFill>
              <a:latin typeface="Segoe UI" panose="020B0502040204020203" pitchFamily="34" charset="0"/>
            </a:endParaRPr>
          </a:p>
        </p:txBody>
      </p:sp>
    </p:spTree>
    <p:extLst>
      <p:ext uri="{BB962C8B-B14F-4D97-AF65-F5344CB8AC3E}">
        <p14:creationId xmlns:p14="http://schemas.microsoft.com/office/powerpoint/2010/main" val="4069391607"/>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Process-22">
    <p:spTree>
      <p:nvGrpSpPr>
        <p:cNvPr id="1" name="">
          <a:extLst>
            <a:ext uri="{FF2B5EF4-FFF2-40B4-BE49-F238E27FC236}">
              <a16:creationId xmlns:a16="http://schemas.microsoft.com/office/drawing/2014/main" id="{45E204F7-B12F-72AC-C9AA-76598E84CC14}"/>
            </a:ext>
          </a:extLst>
        </p:cNvPr>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502EF696-B892-6C9F-5E1E-848CA644FE4C}"/>
              </a:ext>
            </a:extLst>
          </p:cNvPr>
          <p:cNvPicPr>
            <a:picLocks/>
          </p:cNvPicPr>
          <p:nvPr/>
        </p:nvPicPr>
        <p:blipFill>
          <a:blip r:embed="rId3"/>
          <a:stretch>
            <a:fillRect/>
          </a:stretch>
        </p:blipFill>
        <p:spPr>
          <a:xfrm>
            <a:off x="0" y="0"/>
            <a:ext cx="12192000" cy="6858000"/>
          </a:xfrm>
          <a:prstGeom prst="rect">
            <a:avLst/>
          </a:prstGeom>
        </p:spPr>
      </p:pic>
      <p:sp>
        <p:nvSpPr>
          <p:cNvPr id="8" name="Text 001 SPAN">
            <a:extLst>
              <a:ext uri="{FF2B5EF4-FFF2-40B4-BE49-F238E27FC236}">
                <a16:creationId xmlns:a16="http://schemas.microsoft.com/office/drawing/2014/main" id="{4ECEA3E0-5EF5-F939-6D65-BBD19892CF00}"/>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05 / GETTING STARTED</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EFD19405-199D-BC47-2EA3-C37B918E286B}"/>
              </a:ext>
            </a:extLst>
          </p:cNvPr>
          <p:cNvSpPr txBox="1"/>
          <p:nvPr/>
        </p:nvSpPr>
        <p:spPr>
          <a:xfrm>
            <a:off x="579120" y="586740"/>
            <a:ext cx="65" cy="307777"/>
          </a:xfrm>
          <a:prstGeom prst="rect">
            <a:avLst/>
          </a:prstGeom>
          <a:noFill/>
        </p:spPr>
        <p:txBody>
          <a:bodyPr vert="horz" wrap="none" lIns="0" tIns="0" rIns="0" bIns="0" rtlCol="0" anchor="t">
            <a:noAutofit/>
          </a:bodyPr>
          <a:lstStyle/>
          <a:p>
            <a:r>
              <a:rPr lang="en-US" sz="2880" spc="-72">
                <a:solidFill>
                  <a:srgbClr val="1A1A1A"/>
                </a:solidFill>
                <a:latin typeface="Segoe UI Semibold" panose="020B0702040204020203" pitchFamily="34" charset="0"/>
              </a:rPr>
              <a:t>Add a new business process</a:t>
            </a:r>
            <a:endParaRPr lang="en-US" sz="2880" spc="-72" dirty="0" err="1">
              <a:solidFill>
                <a:srgbClr val="1A1A1A"/>
              </a:solidFill>
              <a:latin typeface="Segoe UI Semibold" panose="020B0702040204020203" pitchFamily="34" charset="0"/>
            </a:endParaRPr>
          </a:p>
        </p:txBody>
      </p:sp>
      <p:sp>
        <p:nvSpPr>
          <p:cNvPr id="10" name="Text 003 P">
            <a:extLst>
              <a:ext uri="{FF2B5EF4-FFF2-40B4-BE49-F238E27FC236}">
                <a16:creationId xmlns:a16="http://schemas.microsoft.com/office/drawing/2014/main" id="{F3AB42BC-D25F-9E00-3487-9557B0A9E635}"/>
              </a:ext>
            </a:extLst>
          </p:cNvPr>
          <p:cNvSpPr txBox="1"/>
          <p:nvPr/>
        </p:nvSpPr>
        <p:spPr>
          <a:xfrm>
            <a:off x="579120" y="1173480"/>
            <a:ext cx="65" cy="307777"/>
          </a:xfrm>
          <a:prstGeom prst="rect">
            <a:avLst/>
          </a:prstGeom>
          <a:noFill/>
        </p:spPr>
        <p:txBody>
          <a:bodyPr vert="horz" wrap="none" lIns="0" tIns="0" rIns="0" bIns="0" rtlCol="0" anchor="t">
            <a:noAutofit/>
          </a:bodyPr>
          <a:lstStyle/>
          <a:p>
            <a:r>
              <a:rPr lang="en-US" sz="1500">
                <a:solidFill>
                  <a:srgbClr val="343B48"/>
                </a:solidFill>
                <a:latin typeface="Segoe UI" panose="020B0502040204020203" pitchFamily="34" charset="0"/>
              </a:rPr>
              <a:t>Reuse the Business Process Solution. Specify and build only what makes your process different.</a:t>
            </a:r>
            <a:endParaRPr lang="en-US" sz="1500" dirty="0" err="1">
              <a:solidFill>
                <a:srgbClr val="343B48"/>
              </a:solidFill>
              <a:latin typeface="Segoe UI" panose="020B0502040204020203" pitchFamily="34" charset="0"/>
            </a:endParaRPr>
          </a:p>
        </p:txBody>
      </p:sp>
      <p:sp>
        <p:nvSpPr>
          <p:cNvPr id="11" name="Text 004 H2">
            <a:extLst>
              <a:ext uri="{FF2B5EF4-FFF2-40B4-BE49-F238E27FC236}">
                <a16:creationId xmlns:a16="http://schemas.microsoft.com/office/drawing/2014/main" id="{982E77AD-BCBE-704A-3712-FFD31A58FBB4}"/>
              </a:ext>
            </a:extLst>
          </p:cNvPr>
          <p:cNvSpPr txBox="1"/>
          <p:nvPr/>
        </p:nvSpPr>
        <p:spPr>
          <a:xfrm>
            <a:off x="762000" y="1760220"/>
            <a:ext cx="65" cy="307777"/>
          </a:xfrm>
          <a:prstGeom prst="rect">
            <a:avLst/>
          </a:prstGeom>
          <a:noFill/>
        </p:spPr>
        <p:txBody>
          <a:bodyPr vert="horz" wrap="none" lIns="0" tIns="0" rIns="0" bIns="0" rtlCol="0" anchor="t">
            <a:noAutofit/>
          </a:bodyPr>
          <a:lstStyle/>
          <a:p>
            <a:r>
              <a:rPr lang="en-US" sz="1740" spc="-30">
                <a:solidFill>
                  <a:srgbClr val="00599F"/>
                </a:solidFill>
                <a:latin typeface="Segoe UI Semibold" panose="020B0702040204020203" pitchFamily="34" charset="0"/>
              </a:rPr>
              <a:t>Build on the reference pattern</a:t>
            </a:r>
            <a:endParaRPr lang="en-US" sz="1740" spc="-30" dirty="0" err="1">
              <a:solidFill>
                <a:srgbClr val="00599F"/>
              </a:solidFill>
              <a:latin typeface="Segoe UI Semibold" panose="020B0702040204020203" pitchFamily="34" charset="0"/>
            </a:endParaRPr>
          </a:p>
        </p:txBody>
      </p:sp>
      <p:sp>
        <p:nvSpPr>
          <p:cNvPr id="12" name="Text 005 LI">
            <a:extLst>
              <a:ext uri="{FF2B5EF4-FFF2-40B4-BE49-F238E27FC236}">
                <a16:creationId xmlns:a16="http://schemas.microsoft.com/office/drawing/2014/main" id="{4F3F9EDA-512A-6B58-B3E7-7546FB160EA3}"/>
              </a:ext>
            </a:extLst>
          </p:cNvPr>
          <p:cNvSpPr txBox="1"/>
          <p:nvPr/>
        </p:nvSpPr>
        <p:spPr>
          <a:xfrm>
            <a:off x="1036320" y="2225873"/>
            <a:ext cx="65" cy="307777"/>
          </a:xfrm>
          <a:prstGeom prst="rect">
            <a:avLst/>
          </a:prstGeom>
          <a:noFill/>
        </p:spPr>
        <p:txBody>
          <a:bodyPr vert="horz" wrap="none" lIns="0" tIns="0" rIns="0" bIns="0" rtlCol="0" anchor="t">
            <a:noAutofit/>
          </a:bodyPr>
          <a:lstStyle/>
          <a:p>
            <a:r>
              <a:rPr lang="en-US" sz="1440">
                <a:solidFill>
                  <a:srgbClr val="1A1A1A"/>
                </a:solidFill>
                <a:latin typeface="Segoe UI Semibold" panose="020B0702040204020203" pitchFamily="34" charset="0"/>
              </a:rPr>
              <a:t>Define the process contract</a:t>
            </a:r>
            <a:endParaRPr lang="en-US" sz="1440" dirty="0" err="1">
              <a:solidFill>
                <a:srgbClr val="1A1A1A"/>
              </a:solidFill>
              <a:latin typeface="Segoe UI Semibold" panose="020B0702040204020203" pitchFamily="34" charset="0"/>
            </a:endParaRPr>
          </a:p>
        </p:txBody>
      </p:sp>
      <p:sp>
        <p:nvSpPr>
          <p:cNvPr id="13" name="Text 006 P">
            <a:extLst>
              <a:ext uri="{FF2B5EF4-FFF2-40B4-BE49-F238E27FC236}">
                <a16:creationId xmlns:a16="http://schemas.microsoft.com/office/drawing/2014/main" id="{8F026306-12B5-5D19-265B-7B7828A2D4DA}"/>
              </a:ext>
            </a:extLst>
          </p:cNvPr>
          <p:cNvSpPr txBox="1"/>
          <p:nvPr/>
        </p:nvSpPr>
        <p:spPr>
          <a:xfrm>
            <a:off x="1036320" y="2500194"/>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Trigger, stages, data, business rules, human gates and acceptance</a:t>
            </a:r>
            <a:endParaRPr lang="en-US" sz="1320" dirty="0" err="1">
              <a:solidFill>
                <a:srgbClr val="1A1A1A"/>
              </a:solidFill>
              <a:latin typeface="Segoe UI" panose="020B0502040204020203" pitchFamily="34" charset="0"/>
            </a:endParaRPr>
          </a:p>
        </p:txBody>
      </p:sp>
      <p:sp>
        <p:nvSpPr>
          <p:cNvPr id="14" name="Text 007 P">
            <a:extLst>
              <a:ext uri="{FF2B5EF4-FFF2-40B4-BE49-F238E27FC236}">
                <a16:creationId xmlns:a16="http://schemas.microsoft.com/office/drawing/2014/main" id="{7C8951C3-F867-26F3-8307-40CA4912FECC}"/>
              </a:ext>
            </a:extLst>
          </p:cNvPr>
          <p:cNvSpPr txBox="1"/>
          <p:nvPr/>
        </p:nvSpPr>
        <p:spPr>
          <a:xfrm>
            <a:off x="1036320" y="2718078"/>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criteria.</a:t>
            </a:r>
            <a:endParaRPr lang="en-US" sz="1320" dirty="0" err="1">
              <a:solidFill>
                <a:srgbClr val="1A1A1A"/>
              </a:solidFill>
              <a:latin typeface="Segoe UI" panose="020B0502040204020203" pitchFamily="34" charset="0"/>
            </a:endParaRPr>
          </a:p>
        </p:txBody>
      </p:sp>
      <p:sp>
        <p:nvSpPr>
          <p:cNvPr id="15" name="Text 008 LI">
            <a:extLst>
              <a:ext uri="{FF2B5EF4-FFF2-40B4-BE49-F238E27FC236}">
                <a16:creationId xmlns:a16="http://schemas.microsoft.com/office/drawing/2014/main" id="{25744F87-0CEC-4F14-42FA-49B789D452D9}"/>
              </a:ext>
            </a:extLst>
          </p:cNvPr>
          <p:cNvSpPr txBox="1"/>
          <p:nvPr/>
        </p:nvSpPr>
        <p:spPr>
          <a:xfrm>
            <a:off x="1036320" y="3203972"/>
            <a:ext cx="65" cy="307777"/>
          </a:xfrm>
          <a:prstGeom prst="rect">
            <a:avLst/>
          </a:prstGeom>
          <a:noFill/>
        </p:spPr>
        <p:txBody>
          <a:bodyPr vert="horz" wrap="none" lIns="0" tIns="0" rIns="0" bIns="0" rtlCol="0" anchor="t">
            <a:noAutofit/>
          </a:bodyPr>
          <a:lstStyle/>
          <a:p>
            <a:r>
              <a:rPr lang="en-US" sz="1440">
                <a:solidFill>
                  <a:srgbClr val="1A1A1A"/>
                </a:solidFill>
                <a:latin typeface="Segoe UI Semibold" panose="020B0702040204020203" pitchFamily="34" charset="0"/>
              </a:rPr>
              <a:t>Implement the domain pieces</a:t>
            </a:r>
            <a:endParaRPr lang="en-US" sz="1440" dirty="0" err="1">
              <a:solidFill>
                <a:srgbClr val="1A1A1A"/>
              </a:solidFill>
              <a:latin typeface="Segoe UI Semibold" panose="020B0702040204020203" pitchFamily="34" charset="0"/>
            </a:endParaRPr>
          </a:p>
        </p:txBody>
      </p:sp>
      <p:sp>
        <p:nvSpPr>
          <p:cNvPr id="16" name="Text 009 P">
            <a:extLst>
              <a:ext uri="{FF2B5EF4-FFF2-40B4-BE49-F238E27FC236}">
                <a16:creationId xmlns:a16="http://schemas.microsoft.com/office/drawing/2014/main" id="{0BA73C64-4155-6706-9F95-0C15227830D3}"/>
              </a:ext>
            </a:extLst>
          </p:cNvPr>
          <p:cNvSpPr txBox="1"/>
          <p:nvPr/>
        </p:nvSpPr>
        <p:spPr>
          <a:xfrm>
            <a:off x="1036320" y="3478292"/>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Create a new folder under business-processes, alongside order-</a:t>
            </a:r>
            <a:endParaRPr lang="en-US" sz="1320" dirty="0" err="1">
              <a:solidFill>
                <a:srgbClr val="1A1A1A"/>
              </a:solidFill>
              <a:latin typeface="Segoe UI" panose="020B0502040204020203" pitchFamily="34" charset="0"/>
            </a:endParaRPr>
          </a:p>
        </p:txBody>
      </p:sp>
      <p:sp>
        <p:nvSpPr>
          <p:cNvPr id="17" name="Text 010 P">
            <a:extLst>
              <a:ext uri="{FF2B5EF4-FFF2-40B4-BE49-F238E27FC236}">
                <a16:creationId xmlns:a16="http://schemas.microsoft.com/office/drawing/2014/main" id="{6D155586-10A0-4024-0027-66A0322C40F3}"/>
              </a:ext>
            </a:extLst>
          </p:cNvPr>
          <p:cNvSpPr txBox="1"/>
          <p:nvPr/>
        </p:nvSpPr>
        <p:spPr>
          <a:xfrm>
            <a:off x="1036320" y="3696176"/>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processing. Add stage workflows, agents + skills, review widgets,</a:t>
            </a:r>
            <a:endParaRPr lang="en-US" sz="1320" dirty="0" err="1">
              <a:solidFill>
                <a:srgbClr val="1A1A1A"/>
              </a:solidFill>
              <a:latin typeface="Segoe UI" panose="020B0502040204020203" pitchFamily="34" charset="0"/>
            </a:endParaRPr>
          </a:p>
        </p:txBody>
      </p:sp>
      <p:sp>
        <p:nvSpPr>
          <p:cNvPr id="18" name="Text 011 P">
            <a:extLst>
              <a:ext uri="{FF2B5EF4-FFF2-40B4-BE49-F238E27FC236}">
                <a16:creationId xmlns:a16="http://schemas.microsoft.com/office/drawing/2014/main" id="{7B2974DF-6DB3-E427-591B-4C0874C0F688}"/>
              </a:ext>
            </a:extLst>
          </p:cNvPr>
          <p:cNvSpPr txBox="1"/>
          <p:nvPr/>
        </p:nvSpPr>
        <p:spPr>
          <a:xfrm>
            <a:off x="1036320" y="3914061"/>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roles and configuration.</a:t>
            </a:r>
            <a:endParaRPr lang="en-US" sz="1320" dirty="0" err="1">
              <a:solidFill>
                <a:srgbClr val="1A1A1A"/>
              </a:solidFill>
              <a:latin typeface="Segoe UI" panose="020B0502040204020203" pitchFamily="34" charset="0"/>
            </a:endParaRPr>
          </a:p>
        </p:txBody>
      </p:sp>
      <p:sp>
        <p:nvSpPr>
          <p:cNvPr id="19" name="Text 012 LI">
            <a:extLst>
              <a:ext uri="{FF2B5EF4-FFF2-40B4-BE49-F238E27FC236}">
                <a16:creationId xmlns:a16="http://schemas.microsoft.com/office/drawing/2014/main" id="{37FA6065-B95D-21C4-FF3C-3B2B37D0FDE4}"/>
              </a:ext>
            </a:extLst>
          </p:cNvPr>
          <p:cNvSpPr txBox="1"/>
          <p:nvPr/>
        </p:nvSpPr>
        <p:spPr>
          <a:xfrm>
            <a:off x="1036320" y="4399955"/>
            <a:ext cx="65" cy="307777"/>
          </a:xfrm>
          <a:prstGeom prst="rect">
            <a:avLst/>
          </a:prstGeom>
          <a:noFill/>
        </p:spPr>
        <p:txBody>
          <a:bodyPr vert="horz" wrap="none" lIns="0" tIns="0" rIns="0" bIns="0" rtlCol="0" anchor="t">
            <a:noAutofit/>
          </a:bodyPr>
          <a:lstStyle/>
          <a:p>
            <a:r>
              <a:rPr lang="en-US" sz="1440">
                <a:solidFill>
                  <a:srgbClr val="1A1A1A"/>
                </a:solidFill>
                <a:latin typeface="Segoe UI Semibold" panose="020B0702040204020203" pitchFamily="34" charset="0"/>
              </a:rPr>
              <a:t>Connect to the shared runtime</a:t>
            </a:r>
            <a:endParaRPr lang="en-US" sz="1440" dirty="0" err="1">
              <a:solidFill>
                <a:srgbClr val="1A1A1A"/>
              </a:solidFill>
              <a:latin typeface="Segoe UI Semibold" panose="020B0702040204020203" pitchFamily="34" charset="0"/>
            </a:endParaRPr>
          </a:p>
        </p:txBody>
      </p:sp>
      <p:sp>
        <p:nvSpPr>
          <p:cNvPr id="20" name="Text 013 P">
            <a:extLst>
              <a:ext uri="{FF2B5EF4-FFF2-40B4-BE49-F238E27FC236}">
                <a16:creationId xmlns:a16="http://schemas.microsoft.com/office/drawing/2014/main" id="{66A79737-14D3-C1D0-D1A3-F4078F9AECF2}"/>
              </a:ext>
            </a:extLst>
          </p:cNvPr>
          <p:cNvSpPr txBox="1"/>
          <p:nvPr/>
        </p:nvSpPr>
        <p:spPr>
          <a:xfrm>
            <a:off x="1036320" y="4674275"/>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Persist typed outputs; advance through Dataverse step events; use</a:t>
            </a:r>
            <a:endParaRPr lang="en-US" sz="1320" dirty="0" err="1">
              <a:solidFill>
                <a:srgbClr val="1A1A1A"/>
              </a:solidFill>
              <a:latin typeface="Segoe UI" panose="020B0502040204020203" pitchFamily="34" charset="0"/>
            </a:endParaRPr>
          </a:p>
        </p:txBody>
      </p:sp>
      <p:sp>
        <p:nvSpPr>
          <p:cNvPr id="21" name="Text 014 P">
            <a:extLst>
              <a:ext uri="{FF2B5EF4-FFF2-40B4-BE49-F238E27FC236}">
                <a16:creationId xmlns:a16="http://schemas.microsoft.com/office/drawing/2014/main" id="{46EFADF2-149A-5ADF-8705-C7F3BDC77301}"/>
              </a:ext>
            </a:extLst>
          </p:cNvPr>
          <p:cNvSpPr txBox="1"/>
          <p:nvPr/>
        </p:nvSpPr>
        <p:spPr>
          <a:xfrm>
            <a:off x="1036320" y="4892159"/>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the Core task APIs.</a:t>
            </a:r>
            <a:endParaRPr lang="en-US" sz="1320" dirty="0" err="1">
              <a:solidFill>
                <a:srgbClr val="1A1A1A"/>
              </a:solidFill>
              <a:latin typeface="Segoe UI" panose="020B0502040204020203" pitchFamily="34" charset="0"/>
            </a:endParaRPr>
          </a:p>
        </p:txBody>
      </p:sp>
      <p:sp>
        <p:nvSpPr>
          <p:cNvPr id="22" name="Text 015 LI">
            <a:extLst>
              <a:ext uri="{FF2B5EF4-FFF2-40B4-BE49-F238E27FC236}">
                <a16:creationId xmlns:a16="http://schemas.microsoft.com/office/drawing/2014/main" id="{CED532EC-9AF3-230F-8D1F-B00EB3CAB7FC}"/>
              </a:ext>
            </a:extLst>
          </p:cNvPr>
          <p:cNvSpPr txBox="1"/>
          <p:nvPr/>
        </p:nvSpPr>
        <p:spPr>
          <a:xfrm>
            <a:off x="1036320" y="5378053"/>
            <a:ext cx="65" cy="307777"/>
          </a:xfrm>
          <a:prstGeom prst="rect">
            <a:avLst/>
          </a:prstGeom>
          <a:noFill/>
        </p:spPr>
        <p:txBody>
          <a:bodyPr vert="horz" wrap="none" lIns="0" tIns="0" rIns="0" bIns="0" rtlCol="0" anchor="t">
            <a:noAutofit/>
          </a:bodyPr>
          <a:lstStyle/>
          <a:p>
            <a:r>
              <a:rPr lang="en-US" sz="1440">
                <a:solidFill>
                  <a:srgbClr val="1A1A1A"/>
                </a:solidFill>
                <a:latin typeface="Segoe UI Semibold" panose="020B0702040204020203" pitchFamily="34" charset="0"/>
              </a:rPr>
              <a:t>Validate and deploy</a:t>
            </a:r>
            <a:endParaRPr lang="en-US" sz="1440" dirty="0" err="1">
              <a:solidFill>
                <a:srgbClr val="1A1A1A"/>
              </a:solidFill>
              <a:latin typeface="Segoe UI Semibold" panose="020B0702040204020203" pitchFamily="34" charset="0"/>
            </a:endParaRPr>
          </a:p>
        </p:txBody>
      </p:sp>
      <p:sp>
        <p:nvSpPr>
          <p:cNvPr id="23" name="Text 016 P">
            <a:extLst>
              <a:ext uri="{FF2B5EF4-FFF2-40B4-BE49-F238E27FC236}">
                <a16:creationId xmlns:a16="http://schemas.microsoft.com/office/drawing/2014/main" id="{7B2E3472-F927-83AC-053D-EA82616760C0}"/>
              </a:ext>
            </a:extLst>
          </p:cNvPr>
          <p:cNvSpPr txBox="1"/>
          <p:nvPr/>
        </p:nvSpPr>
        <p:spPr>
          <a:xfrm>
            <a:off x="1036320" y="5652373"/>
            <a:ext cx="65" cy="307777"/>
          </a:xfrm>
          <a:prstGeom prst="rect">
            <a:avLst/>
          </a:prstGeom>
          <a:noFill/>
        </p:spPr>
        <p:txBody>
          <a:bodyPr vert="horz" wrap="none" lIns="0" tIns="0" rIns="0" bIns="0" rtlCol="0" anchor="t">
            <a:noAutofit/>
          </a:bodyPr>
          <a:lstStyle/>
          <a:p>
            <a:r>
              <a:rPr lang="en-US" sz="1320" spc="-2">
                <a:solidFill>
                  <a:srgbClr val="1A1A1A"/>
                </a:solidFill>
                <a:latin typeface="Segoe UI" panose="020B0502040204020203" pitchFamily="34" charset="0"/>
              </a:rPr>
              <a:t>Test rules, permissions, human decisions, recovery and integrations.</a:t>
            </a:r>
            <a:endParaRPr lang="en-US" sz="1320" spc="-2" dirty="0" err="1">
              <a:solidFill>
                <a:srgbClr val="1A1A1A"/>
              </a:solidFill>
              <a:latin typeface="Segoe UI" panose="020B0502040204020203" pitchFamily="34" charset="0"/>
            </a:endParaRPr>
          </a:p>
        </p:txBody>
      </p:sp>
      <p:sp>
        <p:nvSpPr>
          <p:cNvPr id="24" name="Text 017 P">
            <a:extLst>
              <a:ext uri="{FF2B5EF4-FFF2-40B4-BE49-F238E27FC236}">
                <a16:creationId xmlns:a16="http://schemas.microsoft.com/office/drawing/2014/main" id="{D2675C5F-776D-9B19-E364-4B89A6F1A725}"/>
              </a:ext>
            </a:extLst>
          </p:cNvPr>
          <p:cNvSpPr txBox="1"/>
          <p:nvPr/>
        </p:nvSpPr>
        <p:spPr>
          <a:xfrm>
            <a:off x="1036320" y="5870258"/>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Package as a separate process solution.</a:t>
            </a:r>
            <a:endParaRPr lang="en-US" sz="1320" dirty="0" err="1">
              <a:solidFill>
                <a:srgbClr val="1A1A1A"/>
              </a:solidFill>
              <a:latin typeface="Segoe UI" panose="020B0502040204020203" pitchFamily="34" charset="0"/>
            </a:endParaRPr>
          </a:p>
        </p:txBody>
      </p:sp>
      <p:sp>
        <p:nvSpPr>
          <p:cNvPr id="25" name="Text 018 H2">
            <a:extLst>
              <a:ext uri="{FF2B5EF4-FFF2-40B4-BE49-F238E27FC236}">
                <a16:creationId xmlns:a16="http://schemas.microsoft.com/office/drawing/2014/main" id="{5908A0EC-9AAC-4A58-9088-80D95E374822}"/>
              </a:ext>
            </a:extLst>
          </p:cNvPr>
          <p:cNvSpPr txBox="1"/>
          <p:nvPr/>
        </p:nvSpPr>
        <p:spPr>
          <a:xfrm>
            <a:off x="6601182" y="1767840"/>
            <a:ext cx="65" cy="307777"/>
          </a:xfrm>
          <a:prstGeom prst="rect">
            <a:avLst/>
          </a:prstGeom>
          <a:noFill/>
        </p:spPr>
        <p:txBody>
          <a:bodyPr vert="horz" wrap="none" lIns="0" tIns="0" rIns="0" bIns="0" rtlCol="0" anchor="t">
            <a:noAutofit/>
          </a:bodyPr>
          <a:lstStyle/>
          <a:p>
            <a:r>
              <a:rPr lang="en-US" sz="1740" spc="-30">
                <a:solidFill>
                  <a:srgbClr val="00599F"/>
                </a:solidFill>
                <a:latin typeface="Segoe UI Semibold" panose="020B0702040204020203" pitchFamily="34" charset="0"/>
              </a:rPr>
              <a:t>Accelerate with Agent Forge</a:t>
            </a:r>
            <a:endParaRPr lang="en-US" sz="1740" spc="-30" dirty="0" err="1">
              <a:solidFill>
                <a:srgbClr val="00599F"/>
              </a:solidFill>
              <a:latin typeface="Segoe UI Semibold" panose="020B0702040204020203" pitchFamily="34" charset="0"/>
            </a:endParaRPr>
          </a:p>
        </p:txBody>
      </p:sp>
      <p:sp>
        <p:nvSpPr>
          <p:cNvPr id="26" name="Text 019 SPAN">
            <a:extLst>
              <a:ext uri="{FF2B5EF4-FFF2-40B4-BE49-F238E27FC236}">
                <a16:creationId xmlns:a16="http://schemas.microsoft.com/office/drawing/2014/main" id="{338E1530-EEB8-C263-B7C4-F4DE86892A67}"/>
              </a:ext>
            </a:extLst>
          </p:cNvPr>
          <p:cNvSpPr txBox="1"/>
          <p:nvPr/>
        </p:nvSpPr>
        <p:spPr>
          <a:xfrm>
            <a:off x="9527262" y="1832967"/>
            <a:ext cx="65" cy="307777"/>
          </a:xfrm>
          <a:prstGeom prst="rect">
            <a:avLst/>
          </a:prstGeom>
          <a:noFill/>
        </p:spPr>
        <p:txBody>
          <a:bodyPr vert="horz" wrap="none" lIns="0" tIns="0" rIns="0" bIns="0" rtlCol="0" anchor="t">
            <a:noAutofit/>
          </a:bodyPr>
          <a:lstStyle/>
          <a:p>
            <a:r>
              <a:rPr lang="en-US" sz="1020" spc="20">
                <a:solidFill>
                  <a:srgbClr val="694100"/>
                </a:solidFill>
                <a:latin typeface="Segoe UI Semibold" panose="020B0702040204020203" pitchFamily="34" charset="0"/>
              </a:rPr>
              <a:t>WORK IN PROGRESS</a:t>
            </a:r>
            <a:endParaRPr lang="en-US" sz="1020" spc="20" dirty="0" err="1">
              <a:solidFill>
                <a:srgbClr val="694100"/>
              </a:solidFill>
              <a:latin typeface="Segoe UI Semibold" panose="020B0702040204020203" pitchFamily="34" charset="0"/>
            </a:endParaRPr>
          </a:p>
        </p:txBody>
      </p:sp>
      <p:sp>
        <p:nvSpPr>
          <p:cNvPr id="27" name="Text 020 P">
            <a:extLst>
              <a:ext uri="{FF2B5EF4-FFF2-40B4-BE49-F238E27FC236}">
                <a16:creationId xmlns:a16="http://schemas.microsoft.com/office/drawing/2014/main" id="{EF9F20F9-75D6-1BB3-4A81-AB855FE2A963}"/>
              </a:ext>
            </a:extLst>
          </p:cNvPr>
          <p:cNvSpPr txBox="1"/>
          <p:nvPr/>
        </p:nvSpPr>
        <p:spPr>
          <a:xfrm>
            <a:off x="6601182" y="2149673"/>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Proposed spec-driven, agentic development path</a:t>
            </a:r>
            <a:endParaRPr lang="en-US" sz="1260" dirty="0" err="1">
              <a:solidFill>
                <a:srgbClr val="1A1A1A"/>
              </a:solidFill>
              <a:latin typeface="Segoe UI" panose="020B0502040204020203" pitchFamily="34" charset="0"/>
            </a:endParaRPr>
          </a:p>
        </p:txBody>
      </p:sp>
      <p:sp>
        <p:nvSpPr>
          <p:cNvPr id="28" name="Text 021 LI">
            <a:extLst>
              <a:ext uri="{FF2B5EF4-FFF2-40B4-BE49-F238E27FC236}">
                <a16:creationId xmlns:a16="http://schemas.microsoft.com/office/drawing/2014/main" id="{D06666A6-DB58-2981-8566-33C438A0B7D0}"/>
              </a:ext>
            </a:extLst>
          </p:cNvPr>
          <p:cNvSpPr txBox="1"/>
          <p:nvPr/>
        </p:nvSpPr>
        <p:spPr>
          <a:xfrm>
            <a:off x="6738342" y="2807494"/>
            <a:ext cx="65" cy="307777"/>
          </a:xfrm>
          <a:prstGeom prst="rect">
            <a:avLst/>
          </a:prstGeom>
          <a:noFill/>
        </p:spPr>
        <p:txBody>
          <a:bodyPr vert="horz" wrap="none" lIns="0" tIns="0" rIns="0" bIns="0" rtlCol="0" anchor="t">
            <a:noAutofit/>
          </a:bodyPr>
          <a:lstStyle/>
          <a:p>
            <a:r>
              <a:rPr lang="en-US" sz="1440">
                <a:solidFill>
                  <a:srgbClr val="00599F"/>
                </a:solidFill>
                <a:latin typeface="Segoe UI Semibold" panose="020B0702040204020203" pitchFamily="34" charset="0"/>
              </a:rPr>
              <a:t>Analyst Agent</a:t>
            </a:r>
            <a:endParaRPr lang="en-US" sz="1440" dirty="0" err="1">
              <a:solidFill>
                <a:srgbClr val="00599F"/>
              </a:solidFill>
              <a:latin typeface="Segoe UI Semibold" panose="020B0702040204020203" pitchFamily="34" charset="0"/>
            </a:endParaRPr>
          </a:p>
        </p:txBody>
      </p:sp>
      <p:sp>
        <p:nvSpPr>
          <p:cNvPr id="29" name="Text 022 LI">
            <a:extLst>
              <a:ext uri="{FF2B5EF4-FFF2-40B4-BE49-F238E27FC236}">
                <a16:creationId xmlns:a16="http://schemas.microsoft.com/office/drawing/2014/main" id="{B7460801-F535-B610-E74E-1AFF672879B6}"/>
              </a:ext>
            </a:extLst>
          </p:cNvPr>
          <p:cNvSpPr txBox="1"/>
          <p:nvPr/>
        </p:nvSpPr>
        <p:spPr>
          <a:xfrm>
            <a:off x="6738342" y="3071336"/>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Clarify requirements, process rules and exceptions.</a:t>
            </a:r>
            <a:endParaRPr lang="en-US" sz="1260" dirty="0" err="1">
              <a:solidFill>
                <a:srgbClr val="1A1A1A"/>
              </a:solidFill>
              <a:latin typeface="Segoe UI" panose="020B0502040204020203" pitchFamily="34" charset="0"/>
            </a:endParaRPr>
          </a:p>
        </p:txBody>
      </p:sp>
      <p:sp>
        <p:nvSpPr>
          <p:cNvPr id="40" name="Text 023 LI">
            <a:extLst>
              <a:ext uri="{FF2B5EF4-FFF2-40B4-BE49-F238E27FC236}">
                <a16:creationId xmlns:a16="http://schemas.microsoft.com/office/drawing/2014/main" id="{80989BFC-F1C4-64DA-4858-E4E70B654103}"/>
              </a:ext>
            </a:extLst>
          </p:cNvPr>
          <p:cNvSpPr txBox="1"/>
          <p:nvPr/>
        </p:nvSpPr>
        <p:spPr>
          <a:xfrm>
            <a:off x="6738342" y="3968115"/>
            <a:ext cx="65" cy="307777"/>
          </a:xfrm>
          <a:prstGeom prst="rect">
            <a:avLst/>
          </a:prstGeom>
          <a:noFill/>
        </p:spPr>
        <p:txBody>
          <a:bodyPr vert="horz" wrap="none" lIns="0" tIns="0" rIns="0" bIns="0" rtlCol="0" anchor="t">
            <a:noAutofit/>
          </a:bodyPr>
          <a:lstStyle/>
          <a:p>
            <a:r>
              <a:rPr lang="en-US" sz="1440">
                <a:solidFill>
                  <a:srgbClr val="00599F"/>
                </a:solidFill>
                <a:latin typeface="Segoe UI Semibold" panose="020B0702040204020203" pitchFamily="34" charset="0"/>
              </a:rPr>
              <a:t>Product Owner Agent</a:t>
            </a:r>
            <a:endParaRPr lang="en-US" sz="1440" dirty="0" err="1">
              <a:solidFill>
                <a:srgbClr val="00599F"/>
              </a:solidFill>
              <a:latin typeface="Segoe UI Semibold" panose="020B0702040204020203" pitchFamily="34" charset="0"/>
            </a:endParaRPr>
          </a:p>
        </p:txBody>
      </p:sp>
      <p:sp>
        <p:nvSpPr>
          <p:cNvPr id="47" name="Text 024 LI">
            <a:extLst>
              <a:ext uri="{FF2B5EF4-FFF2-40B4-BE49-F238E27FC236}">
                <a16:creationId xmlns:a16="http://schemas.microsoft.com/office/drawing/2014/main" id="{8318D7E1-8820-34EF-9E0E-C1D2D138A65C}"/>
              </a:ext>
            </a:extLst>
          </p:cNvPr>
          <p:cNvSpPr txBox="1"/>
          <p:nvPr/>
        </p:nvSpPr>
        <p:spPr>
          <a:xfrm>
            <a:off x="6738342" y="4231958"/>
            <a:ext cx="65" cy="307777"/>
          </a:xfrm>
          <a:prstGeom prst="rect">
            <a:avLst/>
          </a:prstGeom>
          <a:noFill/>
        </p:spPr>
        <p:txBody>
          <a:bodyPr vert="horz" wrap="none" lIns="0" tIns="0" rIns="0" bIns="0" rtlCol="0" anchor="t">
            <a:noAutofit/>
          </a:bodyPr>
          <a:lstStyle/>
          <a:p>
            <a:r>
              <a:rPr lang="en-US" sz="1260" spc="3">
                <a:solidFill>
                  <a:srgbClr val="1A1A1A"/>
                </a:solidFill>
                <a:latin typeface="Segoe UI" panose="020B0502040204020203" pitchFamily="34" charset="0"/>
              </a:rPr>
              <a:t>Turn the agreed specification into a prioritized backlog and</a:t>
            </a:r>
            <a:endParaRPr lang="en-US" sz="1260" spc="3" dirty="0" err="1">
              <a:solidFill>
                <a:srgbClr val="1A1A1A"/>
              </a:solidFill>
              <a:latin typeface="Segoe UI" panose="020B0502040204020203" pitchFamily="34" charset="0"/>
            </a:endParaRPr>
          </a:p>
        </p:txBody>
      </p:sp>
      <p:sp>
        <p:nvSpPr>
          <p:cNvPr id="48" name="Text 025 LI">
            <a:extLst>
              <a:ext uri="{FF2B5EF4-FFF2-40B4-BE49-F238E27FC236}">
                <a16:creationId xmlns:a16="http://schemas.microsoft.com/office/drawing/2014/main" id="{32AEC0B3-4FE7-F55D-E2EB-839799BA9796}"/>
              </a:ext>
            </a:extLst>
          </p:cNvPr>
          <p:cNvSpPr txBox="1"/>
          <p:nvPr/>
        </p:nvSpPr>
        <p:spPr>
          <a:xfrm>
            <a:off x="6738342" y="4431983"/>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acceptance criteria.</a:t>
            </a:r>
            <a:endParaRPr lang="en-US" sz="1260" dirty="0" err="1">
              <a:solidFill>
                <a:srgbClr val="1A1A1A"/>
              </a:solidFill>
              <a:latin typeface="Segoe UI" panose="020B0502040204020203" pitchFamily="34" charset="0"/>
            </a:endParaRPr>
          </a:p>
        </p:txBody>
      </p:sp>
      <p:sp>
        <p:nvSpPr>
          <p:cNvPr id="49" name="Text 026 LI">
            <a:extLst>
              <a:ext uri="{FF2B5EF4-FFF2-40B4-BE49-F238E27FC236}">
                <a16:creationId xmlns:a16="http://schemas.microsoft.com/office/drawing/2014/main" id="{74DC0516-74E2-6F95-B46A-1D42A05D373F}"/>
              </a:ext>
            </a:extLst>
          </p:cNvPr>
          <p:cNvSpPr txBox="1"/>
          <p:nvPr/>
        </p:nvSpPr>
        <p:spPr>
          <a:xfrm>
            <a:off x="6738342" y="5228868"/>
            <a:ext cx="65" cy="307777"/>
          </a:xfrm>
          <a:prstGeom prst="rect">
            <a:avLst/>
          </a:prstGeom>
          <a:noFill/>
        </p:spPr>
        <p:txBody>
          <a:bodyPr vert="horz" wrap="none" lIns="0" tIns="0" rIns="0" bIns="0" rtlCol="0" anchor="t">
            <a:noAutofit/>
          </a:bodyPr>
          <a:lstStyle/>
          <a:p>
            <a:r>
              <a:rPr lang="en-US" sz="1440">
                <a:solidFill>
                  <a:srgbClr val="00599F"/>
                </a:solidFill>
                <a:latin typeface="Segoe UI Semibold" panose="020B0702040204020203" pitchFamily="34" charset="0"/>
              </a:rPr>
              <a:t>GitHub Copilot</a:t>
            </a:r>
            <a:endParaRPr lang="en-US" sz="1440" dirty="0" err="1">
              <a:solidFill>
                <a:srgbClr val="00599F"/>
              </a:solidFill>
              <a:latin typeface="Segoe UI Semibold" panose="020B0702040204020203" pitchFamily="34" charset="0"/>
            </a:endParaRPr>
          </a:p>
        </p:txBody>
      </p:sp>
      <p:sp>
        <p:nvSpPr>
          <p:cNvPr id="50" name="Text 027 LI">
            <a:extLst>
              <a:ext uri="{FF2B5EF4-FFF2-40B4-BE49-F238E27FC236}">
                <a16:creationId xmlns:a16="http://schemas.microsoft.com/office/drawing/2014/main" id="{38EACFF8-B3E5-32C9-FC46-7A1DFF5A4ED6}"/>
              </a:ext>
            </a:extLst>
          </p:cNvPr>
          <p:cNvSpPr txBox="1"/>
          <p:nvPr/>
        </p:nvSpPr>
        <p:spPr>
          <a:xfrm>
            <a:off x="6738342" y="5492710"/>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Implement and test scoped work against the specification and</a:t>
            </a:r>
            <a:endParaRPr lang="en-US" sz="1260" dirty="0" err="1">
              <a:solidFill>
                <a:srgbClr val="1A1A1A"/>
              </a:solidFill>
              <a:latin typeface="Segoe UI" panose="020B0502040204020203" pitchFamily="34" charset="0"/>
            </a:endParaRPr>
          </a:p>
        </p:txBody>
      </p:sp>
      <p:sp>
        <p:nvSpPr>
          <p:cNvPr id="51" name="Text 028 LI">
            <a:extLst>
              <a:ext uri="{FF2B5EF4-FFF2-40B4-BE49-F238E27FC236}">
                <a16:creationId xmlns:a16="http://schemas.microsoft.com/office/drawing/2014/main" id="{E3E55D5F-902D-6FF5-2A14-8527048981FB}"/>
              </a:ext>
            </a:extLst>
          </p:cNvPr>
          <p:cNvSpPr txBox="1"/>
          <p:nvPr/>
        </p:nvSpPr>
        <p:spPr>
          <a:xfrm>
            <a:off x="6738342" y="5692735"/>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reference patterns.</a:t>
            </a:r>
            <a:endParaRPr lang="en-US" sz="1260" dirty="0" err="1">
              <a:solidFill>
                <a:srgbClr val="1A1A1A"/>
              </a:solidFill>
              <a:latin typeface="Segoe UI" panose="020B0502040204020203" pitchFamily="34" charset="0"/>
            </a:endParaRPr>
          </a:p>
        </p:txBody>
      </p:sp>
      <p:sp>
        <p:nvSpPr>
          <p:cNvPr id="52" name="Text 029 FOOTER">
            <a:extLst>
              <a:ext uri="{FF2B5EF4-FFF2-40B4-BE49-F238E27FC236}">
                <a16:creationId xmlns:a16="http://schemas.microsoft.com/office/drawing/2014/main" id="{E6CE8093-F180-8FD2-EDC4-439914EE9ABF}"/>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Agentic Business Process Automation on Copilot Studio</a:t>
            </a:r>
            <a:endParaRPr lang="en-US" sz="840" dirty="0" err="1">
              <a:solidFill>
                <a:srgbClr val="425466"/>
              </a:solidFill>
              <a:latin typeface="Segoe UI" panose="020B0502040204020203" pitchFamily="34" charset="0"/>
            </a:endParaRPr>
          </a:p>
        </p:txBody>
      </p:sp>
      <p:sp>
        <p:nvSpPr>
          <p:cNvPr id="53" name="Text 030 FOOTER">
            <a:extLst>
              <a:ext uri="{FF2B5EF4-FFF2-40B4-BE49-F238E27FC236}">
                <a16:creationId xmlns:a16="http://schemas.microsoft.com/office/drawing/2014/main" id="{19E52AC9-F41E-CC96-50C7-6058B791D95C}"/>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22 / 23</a:t>
            </a:r>
            <a:endParaRPr lang="en-US" sz="840" dirty="0" err="1">
              <a:solidFill>
                <a:srgbClr val="425466"/>
              </a:solidFill>
              <a:latin typeface="Segoe UI" panose="020B0502040204020203" pitchFamily="34" charset="0"/>
            </a:endParaRPr>
          </a:p>
        </p:txBody>
      </p:sp>
      <p:sp>
        <p:nvSpPr>
          <p:cNvPr id="54" name="Text 031 LIST_NUMBER">
            <a:extLst>
              <a:ext uri="{FF2B5EF4-FFF2-40B4-BE49-F238E27FC236}">
                <a16:creationId xmlns:a16="http://schemas.microsoft.com/office/drawing/2014/main" id="{2CA6E6D3-2610-25B0-F030-65E151A0F68A}"/>
              </a:ext>
            </a:extLst>
          </p:cNvPr>
          <p:cNvSpPr txBox="1"/>
          <p:nvPr/>
        </p:nvSpPr>
        <p:spPr>
          <a:xfrm>
            <a:off x="807006" y="2225873"/>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1.</a:t>
            </a:r>
            <a:endParaRPr lang="en-US" sz="1500" dirty="0" err="1">
              <a:solidFill>
                <a:srgbClr val="00599F"/>
              </a:solidFill>
              <a:latin typeface="Segoe UI Semibold" panose="020B0702040204020203" pitchFamily="34" charset="0"/>
            </a:endParaRPr>
          </a:p>
        </p:txBody>
      </p:sp>
      <p:sp>
        <p:nvSpPr>
          <p:cNvPr id="55" name="Text 032 LIST_NUMBER">
            <a:extLst>
              <a:ext uri="{FF2B5EF4-FFF2-40B4-BE49-F238E27FC236}">
                <a16:creationId xmlns:a16="http://schemas.microsoft.com/office/drawing/2014/main" id="{AC1080A0-0C1E-41A3-CFBE-9A2CB33964C6}"/>
              </a:ext>
            </a:extLst>
          </p:cNvPr>
          <p:cNvSpPr txBox="1"/>
          <p:nvPr/>
        </p:nvSpPr>
        <p:spPr>
          <a:xfrm>
            <a:off x="777835" y="3203972"/>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2.</a:t>
            </a:r>
            <a:endParaRPr lang="en-US" sz="1500" dirty="0" err="1">
              <a:solidFill>
                <a:srgbClr val="00599F"/>
              </a:solidFill>
              <a:latin typeface="Segoe UI Semibold" panose="020B0702040204020203" pitchFamily="34" charset="0"/>
            </a:endParaRPr>
          </a:p>
        </p:txBody>
      </p:sp>
      <p:sp>
        <p:nvSpPr>
          <p:cNvPr id="56" name="Text 033 LIST_NUMBER">
            <a:extLst>
              <a:ext uri="{FF2B5EF4-FFF2-40B4-BE49-F238E27FC236}">
                <a16:creationId xmlns:a16="http://schemas.microsoft.com/office/drawing/2014/main" id="{BC8D742A-8A63-7397-B096-38FA8904D00D}"/>
              </a:ext>
            </a:extLst>
          </p:cNvPr>
          <p:cNvSpPr txBox="1"/>
          <p:nvPr/>
        </p:nvSpPr>
        <p:spPr>
          <a:xfrm>
            <a:off x="777835" y="4399955"/>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3.</a:t>
            </a:r>
            <a:endParaRPr lang="en-US" sz="1500" dirty="0" err="1">
              <a:solidFill>
                <a:srgbClr val="00599F"/>
              </a:solidFill>
              <a:latin typeface="Segoe UI Semibold" panose="020B0702040204020203" pitchFamily="34" charset="0"/>
            </a:endParaRPr>
          </a:p>
        </p:txBody>
      </p:sp>
      <p:sp>
        <p:nvSpPr>
          <p:cNvPr id="57" name="Text 034 LIST_NUMBER">
            <a:extLst>
              <a:ext uri="{FF2B5EF4-FFF2-40B4-BE49-F238E27FC236}">
                <a16:creationId xmlns:a16="http://schemas.microsoft.com/office/drawing/2014/main" id="{F02E403A-997B-3171-E69F-662ACB2D54F4}"/>
              </a:ext>
            </a:extLst>
          </p:cNvPr>
          <p:cNvSpPr txBox="1"/>
          <p:nvPr/>
        </p:nvSpPr>
        <p:spPr>
          <a:xfrm>
            <a:off x="773906" y="5378053"/>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4.</a:t>
            </a:r>
            <a:endParaRPr lang="en-US" sz="1500" dirty="0" err="1">
              <a:solidFill>
                <a:srgbClr val="00599F"/>
              </a:solidFill>
              <a:latin typeface="Segoe UI Semibold" panose="020B0702040204020203" pitchFamily="34" charset="0"/>
            </a:endParaRPr>
          </a:p>
        </p:txBody>
      </p:sp>
    </p:spTree>
    <p:extLst>
      <p:ext uri="{BB962C8B-B14F-4D97-AF65-F5344CB8AC3E}">
        <p14:creationId xmlns:p14="http://schemas.microsoft.com/office/powerpoint/2010/main" val="2123466872"/>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Process-23">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2214764"/>
      </p:ext>
    </p:extLst>
  </p:cSld>
  <p:clrMapOvr>
    <a:masterClrMapping/>
  </p:clrMapOvr>
</p:sld>
</file>

<file path=ppt/theme/theme1.xml><?xml version="1.0" encoding="utf-8"?>
<a:theme xmlns:a="http://schemas.openxmlformats.org/drawingml/2006/main" name="4_Microsoft 365 Deployment Accelerator DE">
  <a:themeElements>
    <a:clrScheme name="Custom 11">
      <a:dk1>
        <a:srgbClr val="1A1A1A"/>
      </a:dk1>
      <a:lt1>
        <a:srgbClr val="FFFFFF"/>
      </a:lt1>
      <a:dk2>
        <a:srgbClr val="00599F"/>
      </a:dk2>
      <a:lt2>
        <a:srgbClr val="E6E6E6"/>
      </a:lt2>
      <a:accent1>
        <a:srgbClr val="0078D4"/>
      </a:accent1>
      <a:accent2>
        <a:srgbClr val="00599F"/>
      </a:accent2>
      <a:accent3>
        <a:srgbClr val="5647E5"/>
      </a:accent3>
      <a:accent4>
        <a:srgbClr val="00B294"/>
      </a:accent4>
      <a:accent5>
        <a:srgbClr val="00FFFF"/>
      </a:accent5>
      <a:accent6>
        <a:srgbClr val="737373"/>
      </a:accent6>
      <a:hlink>
        <a:srgbClr val="0076D3"/>
      </a:hlink>
      <a:folHlink>
        <a:srgbClr val="4CB1FE"/>
      </a:folHlink>
    </a:clrScheme>
    <a:fontScheme name="Microsoft Brand 2026">
      <a:majorFont>
        <a:latin typeface="Segoe Sans Display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mn-ea"/>
            <a:cs typeface="+mn-cs"/>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09-01) Partner GTM with MCAPS art - TEMPLATE (v4.0).potx" id="{C888374C-3B91-4445-BD4C-5680CE874B08}" vid="{D8E3A162-C035-450E-BC61-F0E722D7FDA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B22DDE2-917B-41EE-9023-E8E47AA77919}">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61C81E5A082C6429A3923FE44A8C301" ma:contentTypeVersion="23" ma:contentTypeDescription="Create a new document." ma:contentTypeScope="" ma:versionID="1b3e50c996b527defab15f79853fb92e">
  <xsd:schema xmlns:xsd="http://www.w3.org/2001/XMLSchema" xmlns:xs="http://www.w3.org/2001/XMLSchema" xmlns:p="http://schemas.microsoft.com/office/2006/metadata/properties" xmlns:ns1="http://schemas.microsoft.com/sharepoint/v3" xmlns:ns2="1f95ac01-a369-402c-86b2-a8e8229069fc" xmlns:ns3="f9e659c3-47f4-427f-8b59-fced071ec3b9" xmlns:ns4="230e9df3-be65-4c73-a93b-d1236ebd677e" targetNamespace="http://schemas.microsoft.com/office/2006/metadata/properties" ma:root="true" ma:fieldsID="18a70d251d9d32aacef38bc17cf545e6" ns1:_="" ns2:_="" ns3:_="" ns4:_="">
    <xsd:import namespace="http://schemas.microsoft.com/sharepoint/v3"/>
    <xsd:import namespace="1f95ac01-a369-402c-86b2-a8e8229069fc"/>
    <xsd:import namespace="f9e659c3-47f4-427f-8b59-fced071ec3b9"/>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1:_ip_UnifiedCompliancePolicyProperties" minOccurs="0"/>
                <xsd:element ref="ns1:_ip_UnifiedCompliancePolicyUIAction" minOccurs="0"/>
                <xsd:element ref="ns2:MediaLengthInSeconds" minOccurs="0"/>
                <xsd:element ref="ns2:MediaServiceSearchProperties" minOccurs="0"/>
                <xsd:element ref="ns2:MediaServiceDocTags" minOccurs="0"/>
                <xsd:element ref="ns2:MediaServiceObjectDetectorVersions" minOccurs="0"/>
                <xsd:element ref="ns2:lcf76f155ced4ddcb4097134ff3c332f" minOccurs="0"/>
                <xsd:element ref="ns4:TaxCatchAll" minOccurs="0"/>
                <xsd:element ref="ns2:MediaServiceBillingMetadata" minOccurs="0"/>
                <xsd:element ref="ns2:MediaServiceLocation"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f95ac01-a369-402c-86b2-a8e8229069f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DocTags" ma:index="22" nillable="true" ma:displayName="MediaServiceDocTags" ma:hidden="true" ma:internalName="MediaServiceDocTag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BillingMetadata" ma:index="27" nillable="true" ma:displayName="MediaServiceBillingMetadata" ma:hidden="true" ma:internalName="MediaServiceBillingMetadata" ma:readOnly="true">
      <xsd:simpleType>
        <xsd:restriction base="dms:Text"/>
      </xsd:simpleType>
    </xsd:element>
    <xsd:element name="MediaServiceLocation" ma:index="28" nillable="true" ma:displayName="Location" ma:indexed="true" ma:internalName="MediaServiceLocation" ma:readOnly="true">
      <xsd:simpleType>
        <xsd:restriction base="dms:Text"/>
      </xsd:simpleType>
    </xsd:element>
    <xsd:element name="HasDigitalSignature" ma:index="29" nillable="true" ma:displayName="Signed electronically" ma:internalName="HasDigitalSignature" ma:readOnly="true">
      <xsd:simpleType>
        <xsd:restriction base="dms:Boolean"/>
      </xsd:simpleType>
    </xsd:element>
    <xsd:element name="DigitalSignatureProvider" ma:index="30"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9e659c3-47f4-427f-8b59-fced071ec3b9"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6" nillable="true" ma:displayName="Taxonomy Catch All Column" ma:hidden="true" ma:list="{5b8b4400-c2a9-41b0-86cf-78ee66f12a71}" ma:internalName="TaxCatchAll" ma:showField="CatchAllData" ma:web="f9e659c3-47f4-427f-8b59-fced071ec3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230e9df3-be65-4c73-a93b-d1236ebd677e" xsi:nil="true"/>
    <_ip_UnifiedCompliancePolicyUIAction xmlns="http://schemas.microsoft.com/sharepoint/v3" xsi:nil="true"/>
    <_ip_UnifiedCompliancePolicyProperties xmlns="http://schemas.microsoft.com/sharepoint/v3" xsi:nil="true"/>
    <lcf76f155ced4ddcb4097134ff3c332f xmlns="1f95ac01-a369-402c-86b2-a8e8229069f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2BFD4AA2-CA40-49E3-9998-48789D3A26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f95ac01-a369-402c-86b2-a8e8229069fc"/>
    <ds:schemaRef ds:uri="f9e659c3-47f4-427f-8b59-fced071ec3b9"/>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990F116-B58F-4255-B05B-DA3808E0E5C6}">
  <ds:schemaRefs>
    <ds:schemaRef ds:uri="f9e659c3-47f4-427f-8b59-fced071ec3b9"/>
    <ds:schemaRef ds:uri="http://schemas.microsoft.com/office/2006/documentManagement/types"/>
    <ds:schemaRef ds:uri="http://purl.org/dc/dcmitype/"/>
    <ds:schemaRef ds:uri="http://schemas.openxmlformats.org/package/2006/metadata/core-properties"/>
    <ds:schemaRef ds:uri="http://purl.org/dc/elements/1.1/"/>
    <ds:schemaRef ds:uri="http://schemas.microsoft.com/office/2006/metadata/properties"/>
    <ds:schemaRef ds:uri="http://schemas.microsoft.com/sharepoint/v3"/>
    <ds:schemaRef ds:uri="http://www.w3.org/XML/1998/namespace"/>
    <ds:schemaRef ds:uri="1f95ac01-a369-402c-86b2-a8e8229069fc"/>
    <ds:schemaRef ds:uri="http://schemas.microsoft.com/office/infopath/2007/PartnerControls"/>
    <ds:schemaRef ds:uri="230e9df3-be65-4c73-a93b-d1236ebd677e"/>
    <ds:schemaRef ds:uri="http://purl.org/dc/terms/"/>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5552</Words>
  <Application>Microsoft Office PowerPoint</Application>
  <PresentationFormat>Widescreen</PresentationFormat>
  <Paragraphs>517</Paragraphs>
  <Slides>23</Slides>
  <Notes>23</Notes>
  <HiddenSlides>0</HiddenSlides>
  <MMClips>0</MMClips>
  <ScaleCrop>false</ScaleCrop>
  <HeadingPairs>
    <vt:vector size="6" baseType="variant">
      <vt:variant>
        <vt:lpstr>Caratteri utilizzati</vt:lpstr>
      </vt:variant>
      <vt:variant>
        <vt:i4>8</vt:i4>
      </vt:variant>
      <vt:variant>
        <vt:lpstr>Tema</vt:lpstr>
      </vt:variant>
      <vt:variant>
        <vt:i4>1</vt:i4>
      </vt:variant>
      <vt:variant>
        <vt:lpstr>Titoli diapositive</vt:lpstr>
      </vt:variant>
      <vt:variant>
        <vt:i4>23</vt:i4>
      </vt:variant>
    </vt:vector>
  </HeadingPairs>
  <TitlesOfParts>
    <vt:vector size="32" baseType="lpstr">
      <vt:lpstr>Arial</vt:lpstr>
      <vt:lpstr>Calibri</vt:lpstr>
      <vt:lpstr>Consolas</vt:lpstr>
      <vt:lpstr>Segoe Sans Display Semibold</vt:lpstr>
      <vt:lpstr>Segoe Sans Text</vt:lpstr>
      <vt:lpstr>Segoe UI</vt:lpstr>
      <vt:lpstr>Segoe UI Semibold</vt:lpstr>
      <vt:lpstr>Wingdings</vt:lpstr>
      <vt:lpstr>4_Microsoft 365 Deployment Accelerator DE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AI agents to accountable agentic business processes</dc:title>
  <dc:subject>Business Process Core and Order Processing reference implementation</dc:subject>
  <dc:creator>Presentation author</dc:creator>
  <cp:keywords>
  </cp:keywords>
  <dc:description>Approved FY27 presentation. Official repository URL remains a placeholder.</dc:description>
  <cp:lastModifiedBy>Davide Antelmo</cp:lastModifiedBy>
  <cp:revision>47</cp:revision>
  <dcterms:created xsi:type="dcterms:W3CDTF">2026-06-12T18:26:06Z</dcterms:created>
  <dcterms:modified xsi:type="dcterms:W3CDTF">2026-10-05T09:02:32Z</dcterms:modified>
  <cp:category>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0x010100161C81E5A082C6429A3923FE44A8C301</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MediaServiceImageTags">
    <vt:lpwstr/>
  </property>
</Properties>
</file>